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75" r:id="rId3"/>
    <p:sldId id="274" r:id="rId4"/>
    <p:sldId id="257" r:id="rId5"/>
    <p:sldId id="259" r:id="rId6"/>
    <p:sldId id="261" r:id="rId7"/>
    <p:sldId id="258" r:id="rId8"/>
    <p:sldId id="276" r:id="rId9"/>
    <p:sldId id="277" r:id="rId10"/>
    <p:sldId id="278" r:id="rId11"/>
    <p:sldId id="262" r:id="rId12"/>
    <p:sldId id="269" r:id="rId13"/>
    <p:sldId id="270" r:id="rId14"/>
    <p:sldId id="271" r:id="rId15"/>
    <p:sldId id="272" r:id="rId16"/>
    <p:sldId id="273" r:id="rId17"/>
    <p:sldId id="266" r:id="rId18"/>
    <p:sldId id="267" r:id="rId19"/>
    <p:sldId id="268" r:id="rId20"/>
  </p:sldIdLst>
  <p:sldSz cx="18288000" cy="10287000"/>
  <p:notesSz cx="6858000" cy="9144000"/>
  <p:embeddedFontLst>
    <p:embeddedFont>
      <p:font typeface="Garet" panose="020B0604020202020204" charset="0"/>
      <p:regular r:id="rId22"/>
    </p:embeddedFont>
    <p:embeddedFont>
      <p:font typeface="Garet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82484" autoAdjust="0"/>
  </p:normalViewPr>
  <p:slideViewPr>
    <p:cSldViewPr>
      <p:cViewPr varScale="1">
        <p:scale>
          <a:sx n="45" d="100"/>
          <a:sy n="45" d="100"/>
        </p:scale>
        <p:origin x="1373"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vi-VN" sz="1200" b="1" i="0" kern="1200">
                <a:solidFill>
                  <a:schemeClr val="tx1"/>
                </a:solidFill>
                <a:effectLst/>
                <a:latin typeface="+mn-lt"/>
                <a:ea typeface="+mn-ea"/>
                <a:cs typeface="+mn-cs"/>
              </a:rPr>
              <a:t>Dữ liệu giao dịch lớn:</a:t>
            </a:r>
            <a:r>
              <a:rPr lang="vi-VN" sz="1200" b="0" i="0" kern="1200">
                <a:solidFill>
                  <a:schemeClr val="tx1"/>
                </a:solidFill>
                <a:effectLst/>
                <a:latin typeface="+mn-lt"/>
                <a:ea typeface="+mn-ea"/>
                <a:cs typeface="+mn-cs"/>
              </a:rPr>
              <a:t> Doanh nghiệp bán lẻ tạo ra khối lượng giao dịch khổng lồ mỗi ngày.</a:t>
            </a:r>
          </a:p>
          <a:p>
            <a:r>
              <a:rPr lang="vi-VN" sz="1200" b="1" i="0" kern="1200">
                <a:solidFill>
                  <a:schemeClr val="tx1"/>
                </a:solidFill>
                <a:effectLst/>
                <a:latin typeface="+mn-lt"/>
                <a:ea typeface="+mn-ea"/>
                <a:cs typeface="+mn-cs"/>
              </a:rPr>
              <a:t>Dữ liệu phân tán:</a:t>
            </a:r>
            <a:r>
              <a:rPr lang="vi-VN" sz="1200" b="0" i="0" kern="1200">
                <a:solidFill>
                  <a:schemeClr val="tx1"/>
                </a:solidFill>
                <a:effectLst/>
                <a:latin typeface="+mn-lt"/>
                <a:ea typeface="+mn-ea"/>
                <a:cs typeface="+mn-cs"/>
              </a:rPr>
              <a:t> Dữ liệu từ cửa hàng, website, ứng dụng thường không đồng nhất.</a:t>
            </a:r>
          </a:p>
          <a:p>
            <a:r>
              <a:rPr lang="vi-VN" sz="1200" b="1" i="0" kern="1200">
                <a:solidFill>
                  <a:schemeClr val="tx1"/>
                </a:solidFill>
                <a:effectLst/>
                <a:latin typeface="+mn-lt"/>
                <a:ea typeface="+mn-ea"/>
                <a:cs typeface="+mn-cs"/>
              </a:rPr>
              <a:t>Xử lý khó khăn:</a:t>
            </a:r>
            <a:r>
              <a:rPr lang="vi-VN" sz="1200" b="0" i="0" kern="1200">
                <a:solidFill>
                  <a:schemeClr val="tx1"/>
                </a:solidFill>
                <a:effectLst/>
                <a:latin typeface="+mn-lt"/>
                <a:ea typeface="+mn-ea"/>
                <a:cs typeface="+mn-cs"/>
              </a:rPr>
              <a:t> Hệ thống truyền thống khó đáp ứng nhu cầu xử lý dữ liệu lớn và phức tạp.</a:t>
            </a:r>
          </a:p>
          <a:p>
            <a:r>
              <a:rPr lang="vi-VN" sz="1200" b="1" i="0" kern="1200">
                <a:solidFill>
                  <a:schemeClr val="tx1"/>
                </a:solidFill>
                <a:effectLst/>
                <a:latin typeface="+mn-lt"/>
                <a:ea typeface="+mn-ea"/>
                <a:cs typeface="+mn-cs"/>
              </a:rPr>
              <a:t>Hành vi khách hàng:</a:t>
            </a:r>
            <a:r>
              <a:rPr lang="vi-VN" sz="1200" b="0" i="0" kern="1200">
                <a:solidFill>
                  <a:schemeClr val="tx1"/>
                </a:solidFill>
                <a:effectLst/>
                <a:latin typeface="+mn-lt"/>
                <a:ea typeface="+mn-ea"/>
                <a:cs typeface="+mn-cs"/>
              </a:rPr>
              <a:t> Cần phân tích thói quen, xu hướng để tối ưu chiến lược.</a:t>
            </a:r>
          </a:p>
        </p:txBody>
      </p:sp>
      <p:sp>
        <p:nvSpPr>
          <p:cNvPr id="4" name="Slide Number Placeholder 3"/>
          <p:cNvSpPr>
            <a:spLocks noGrp="1"/>
          </p:cNvSpPr>
          <p:nvPr>
            <p:ph type="sldNum" sz="quarter" idx="5"/>
          </p:nvPr>
        </p:nvSpPr>
        <p:spPr/>
        <p:txBody>
          <a:bodyPr/>
          <a:lstStyle/>
          <a:p>
            <a:fld id="{871B2431-D351-4C6E-A3CF-9DFAC0E3E050}" type="slidenum">
              <a:rPr lang="cs-CZ" smtClean="0"/>
              <a:t>2</a:t>
            </a:fld>
            <a:endParaRPr lang="cs-CZ"/>
          </a:p>
        </p:txBody>
      </p:sp>
    </p:spTree>
    <p:extLst>
      <p:ext uri="{BB962C8B-B14F-4D97-AF65-F5344CB8AC3E}">
        <p14:creationId xmlns:p14="http://schemas.microsoft.com/office/powerpoint/2010/main" val="212722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E227A-0821-DE5B-CEC8-A34D94436F0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B99161-64A8-1CAC-7DF3-1B16BA8158B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8FD7B2A-A033-7727-4D40-E22B4675080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6BC7460-5A8B-595F-7960-299891D7B26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DDA0764-E16F-E9D8-FC69-140807DF377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Phân tích dữ liệu bán lẻ giúp doanh nghiệp hiểu rõ hành vi của khách hàng thông qua việc theo dõi thói quen mua sắm, tần suất giao dịch và mức chi tiêu, </a:t>
            </a:r>
            <a:endParaRPr lang="en-US"/>
          </a:p>
          <a:p>
            <a:endParaRPr lang="en-US"/>
          </a:p>
          <a:p>
            <a:r>
              <a:rPr lang="vi-VN"/>
              <a:t>từ đó nhận diện được nhu cầu và sự thay đổi trong hành vi tiêu dùng. </a:t>
            </a:r>
            <a:endParaRPr lang="en-US"/>
          </a:p>
          <a:p>
            <a:endParaRPr lang="en-US"/>
          </a:p>
          <a:p>
            <a:r>
              <a:rPr lang="vi-VN"/>
              <a:t>Trên cơ sở đó, doanh nghiệp có thể tối ưu hóa doanh thu và lợi nhuận bằng cách tập trung vào các nhóm khách hàng và sản phẩm mang lại giá trị cao. </a:t>
            </a:r>
            <a:endParaRPr lang="en-US"/>
          </a:p>
          <a:p>
            <a:endParaRPr lang="en-US"/>
          </a:p>
          <a:p>
            <a:r>
              <a:rPr lang="vi-VN"/>
              <a:t>Dữ liệu cũng đóng vai trò quan trọng trong việc hỗ trợ đưa ra các quyết định kinh doanh chính xác và có cơ sở, như xây dựng chiến lược giá, khuyến mãi hay phân bổ nguồn lực. </a:t>
            </a:r>
            <a:endParaRPr lang="en-US"/>
          </a:p>
          <a:p>
            <a:endParaRPr lang="en-US"/>
          </a:p>
          <a:p>
            <a:r>
              <a:rPr lang="vi-VN"/>
              <a:t>Bên cạnh đó, việc phân tích dữ liệu theo thời gian cho phép dự đoán xu hướng thị trường và nhu cầu trong tương lai, giúp doanh nghiệp chủ động trong kế hoạch kinh doanh. </a:t>
            </a:r>
            <a:endParaRPr lang="en-US"/>
          </a:p>
          <a:p>
            <a:endParaRPr lang="en-US"/>
          </a:p>
          <a:p>
            <a:r>
              <a:rPr lang="vi-VN"/>
              <a:t>Cuối cùng, những hiểu biết thu được từ dữ liệu góp phần nâng cao trải nghiệm khách hàng thông qua việc cá nhân hóa dịch vụ và cung cấp các sản phẩm phù hợp hơn với từng đối tượng.</a:t>
            </a:r>
          </a:p>
        </p:txBody>
      </p:sp>
      <p:sp>
        <p:nvSpPr>
          <p:cNvPr id="6" name="Footer Placeholder 5">
            <a:extLst>
              <a:ext uri="{FF2B5EF4-FFF2-40B4-BE49-F238E27FC236}">
                <a16:creationId xmlns:a16="http://schemas.microsoft.com/office/drawing/2014/main" id="{E5333EE1-8B35-5E0F-1675-88A13C69080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0DDC650-5ED9-1E57-ADC6-FC0A4164908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97021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Mục tiêu cốt lõi của pipeline xử lý dữ liệu bán lẻ trong bối cảnh dữ liệu lớn là khả năng xử lý hiệu quả khối lượng dữ liệu rất lớn và phát sinh liên tục theo thời gian.</a:t>
            </a:r>
            <a:endParaRPr lang="en-US"/>
          </a:p>
          <a:p>
            <a:endParaRPr lang="en-US"/>
          </a:p>
          <a:p>
            <a:r>
              <a:rPr lang="vi-VN"/>
              <a:t> Để đạt được điều này, hệ thống cần tận dụng sức mạnh của xử lý song song và phân tán, </a:t>
            </a:r>
            <a:endParaRPr lang="en-US"/>
          </a:p>
          <a:p>
            <a:r>
              <a:rPr lang="vi-VN"/>
              <a:t>cho phép chia nhỏ dữ liệu và thực thi đồng thời trên nhiều node nhằm rút ngắn thời gian xử lý.</a:t>
            </a:r>
            <a:endParaRPr lang="en-US"/>
          </a:p>
          <a:p>
            <a:endParaRPr lang="en-US"/>
          </a:p>
          <a:p>
            <a:r>
              <a:rPr lang="vi-VN"/>
              <a:t> Bên cạnh hiệu năng, pipeline phải có khả năng chịu lỗi để đảm bảo dữ liệu và quá trình xử lý không bị gián đoạn khi một thành phần trong hệ thống gặp sự cố. </a:t>
            </a:r>
            <a:endParaRPr lang="en-US"/>
          </a:p>
          <a:p>
            <a:endParaRPr lang="en-US"/>
          </a:p>
          <a:p>
            <a:r>
              <a:rPr lang="vi-VN"/>
              <a:t>Đồng thời, kiến trúc được thiết kế theo hướng mở rộng linh hoạt, cho phép bổ sung tài nguyên trong tương lai khi quy mô dữ liệu tăng lên mà không cần thay đổi cấu trúc tổng thể. </a:t>
            </a:r>
            <a:endParaRPr lang="en-US"/>
          </a:p>
          <a:p>
            <a:endParaRPr lang="en-US"/>
          </a:p>
          <a:p>
            <a:r>
              <a:rPr lang="vi-VN"/>
              <a:t>Cuối cùng, toàn bộ quy trình cần được tự động hóa nhằm đảm bảo tính ổn định, lặp lại và giảm thiểu sự can thiệp thủ công trong quá trình vận hành.</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vi-VN"/>
              <a:t>Dữ liệu được lấy trên Kaggle, là bộ dữ liệu giao dịch bán lẻ trực tuyến của một doanh nghiệp trong vòng hai năm. </a:t>
            </a:r>
            <a:endParaRPr lang="en-US"/>
          </a:p>
          <a:p>
            <a:endParaRPr lang="en-US"/>
          </a:p>
          <a:p>
            <a:r>
              <a:rPr lang="vi-VN"/>
              <a:t>Dữ liệu bao gồm thông tin chi tiết về hóa đơn, sản phẩm, khách hàng và doanh thu, phản ánh hành vi mua sắm thực tế của người tiêu dùng. </a:t>
            </a:r>
            <a:endParaRPr lang="en-US"/>
          </a:p>
          <a:p>
            <a:endParaRPr lang="en-US"/>
          </a:p>
          <a:p>
            <a:r>
              <a:rPr lang="vi-VN"/>
              <a:t>Bộ dữ liệu này </a:t>
            </a:r>
            <a:r>
              <a:rPr lang="en-US"/>
              <a:t>có khoảng 1 triệu bản ghi, phù hợp </a:t>
            </a:r>
            <a:r>
              <a:rPr lang="vi-VN"/>
              <a:t>cho pipeline xử lý dữ liệu lớn nhằm phân tích kinh doanh và khai thác tri thức từ dữ liệu bán lẻ.</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sz="1200" b="0" i="0" kern="1200">
                <a:solidFill>
                  <a:schemeClr val="tx1"/>
                </a:solidFill>
                <a:effectLst/>
                <a:latin typeface="+mn-lt"/>
                <a:ea typeface="+mn-ea"/>
                <a:cs typeface="+mn-cs"/>
              </a:rPr>
              <a:t>Ngành bán lẻ tạo ra dữ liệu khổng lồ hàng ngày với hàng trăm nghìn giao dịch từ các nguồn khác nhau</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Dữ liệu trong ngành bán lẻ đa dạng về nguồn gốc và định dạng,</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Nếu ở các siêu thị thì mỗi tiếng có tới hàng trăm giao dị</a:t>
            </a:r>
          </a:p>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vi-VN"/>
              <a:t>Hệ thống được thiết kế theo kiến trúc xử lý dữ liệu lớn phân tán, </a:t>
            </a:r>
            <a:endParaRPr lang="en-US"/>
          </a:p>
          <a:p>
            <a:endParaRPr lang="en-US"/>
          </a:p>
          <a:p>
            <a:r>
              <a:rPr lang="vi-VN"/>
              <a:t>bao gồm các thành phần chính: </a:t>
            </a:r>
            <a:endParaRPr lang="en-US"/>
          </a:p>
          <a:p>
            <a:r>
              <a:rPr lang="vi-VN"/>
              <a:t>HDFS dùng để lưu trữ dữ liệu thô và dữ liệu trung gian, </a:t>
            </a:r>
            <a:endParaRPr lang="en-US"/>
          </a:p>
          <a:p>
            <a:r>
              <a:rPr lang="vi-VN"/>
              <a:t>Apache Spark đảm nhiệm xử lý song song, </a:t>
            </a:r>
            <a:endParaRPr lang="en-US"/>
          </a:p>
          <a:p>
            <a:r>
              <a:rPr lang="vi-VN"/>
              <a:t>và MongoDB dùng để lưu trữ dữ liệu đã xử lý phục vụ phân tích và trực quan hóa.</a:t>
            </a:r>
            <a:endParaRPr lang="en-US"/>
          </a:p>
          <a:p>
            <a:endParaRPr lang="en-US"/>
          </a:p>
          <a:p>
            <a:r>
              <a:rPr lang="en-US"/>
              <a:t>-------------</a:t>
            </a:r>
          </a:p>
          <a:p>
            <a:r>
              <a:rPr lang="vi-VN"/>
              <a:t>Cụm HDFS gồm một NameNode quản lý metadata và hai DataNode lưu trữ các block dữ liệu. </a:t>
            </a:r>
            <a:endParaRPr lang="en-US"/>
          </a:p>
          <a:p>
            <a:r>
              <a:rPr lang="vi-VN"/>
              <a:t>Cơ chế phân tán của HDFS cho phép dữ liệu được chia nhỏ và lưu trữ trên nhiều DataNode</a:t>
            </a:r>
            <a:endParaRPr lang="en-US"/>
          </a:p>
          <a:p>
            <a:endParaRPr lang="en-US"/>
          </a:p>
          <a:p>
            <a:endParaRPr lang="en-US"/>
          </a:p>
          <a:p>
            <a:r>
              <a:rPr lang="en-US"/>
              <a:t>Cụm Spark gồm </a:t>
            </a:r>
            <a:r>
              <a:rPr lang="vi-VN"/>
              <a:t>một Spark Master và hai Spark Worker. Spark Master chịu trách nhiệm điều phối tài nguyên và phân phối công việc, </a:t>
            </a:r>
            <a:endParaRPr lang="en-US"/>
          </a:p>
          <a:p>
            <a:r>
              <a:rPr lang="vi-VN"/>
              <a:t>trong khi các Worker thực thi các task xử lý dữ liệu song song trên các </a:t>
            </a:r>
            <a:r>
              <a:rPr lang="en-US"/>
              <a:t>phân vùng</a:t>
            </a:r>
            <a:r>
              <a:rPr lang="vi-VN"/>
              <a:t> được đọc từ HDFS.</a:t>
            </a:r>
            <a:endParaRPr lang="en-US"/>
          </a:p>
          <a:p>
            <a:endParaRPr lang="en-US"/>
          </a:p>
          <a:p>
            <a:r>
              <a:rPr lang="vi-VN"/>
              <a:t>Spark tận dụng nguyên lý </a:t>
            </a:r>
            <a:r>
              <a:rPr lang="vi-VN" i="1"/>
              <a:t>bring computation to data</a:t>
            </a:r>
            <a:r>
              <a:rPr lang="vi-VN"/>
              <a:t>, tức là ưu tiên đưa tác vụ xử lý đến nơi dữ liệu đang được lưu trữ trên các DataNode, </a:t>
            </a:r>
            <a:endParaRPr lang="en-US"/>
          </a:p>
          <a:p>
            <a:r>
              <a:rPr lang="vi-VN"/>
              <a:t>thay vì di chuyển toàn bộ dữ liệu qua mạng. Cơ chế này giúp giảm chi phí truyền dữ liệu và tăng hiệu năng xử lý.</a:t>
            </a:r>
            <a:endParaRPr lang="en-US"/>
          </a:p>
          <a:p>
            <a:endParaRPr lang="en-US"/>
          </a:p>
          <a:p>
            <a:endParaRPr lang="en-US"/>
          </a:p>
          <a:p>
            <a:endParaRPr lang="en-US"/>
          </a:p>
          <a:p>
            <a:r>
              <a:rPr lang="vi-VN"/>
              <a:t>Sau khi xử lý và tổng hợp, dữ liệu kết quả được các Spark executor ghi trực tiếp vào MongoDB theo cách phân tán. </a:t>
            </a:r>
            <a:endParaRPr lang="en-US"/>
          </a:p>
          <a:p>
            <a:r>
              <a:rPr lang="vi-VN"/>
              <a:t>MongoDB đóng vai trò là hệ cơ sở dữ liệu NoSQL, phù hợp cho việc lưu trữ dữ liệu phân tích và phục vụ truy vấn nhanh cho tầng ứng dụng</a:t>
            </a:r>
            <a:endParaRPr lang="en-US"/>
          </a:p>
          <a:p>
            <a:endParaRPr lang="en-US"/>
          </a:p>
          <a:p>
            <a:endParaRPr lang="en-US"/>
          </a:p>
        </p:txBody>
      </p:sp>
      <p:sp>
        <p:nvSpPr>
          <p:cNvPr id="4" name="Slide Number Placeholder 3"/>
          <p:cNvSpPr>
            <a:spLocks noGrp="1"/>
          </p:cNvSpPr>
          <p:nvPr>
            <p:ph type="sldNum" sz="quarter" idx="5"/>
          </p:nvPr>
        </p:nvSpPr>
        <p:spPr/>
        <p:txBody>
          <a:bodyPr/>
          <a:lstStyle/>
          <a:p>
            <a:fld id="{871B2431-D351-4C6E-A3CF-9DFAC0E3E050}" type="slidenum">
              <a:rPr lang="cs-CZ" smtClean="0"/>
              <a:t>7</a:t>
            </a:fld>
            <a:endParaRPr lang="cs-CZ"/>
          </a:p>
        </p:txBody>
      </p:sp>
    </p:spTree>
    <p:extLst>
      <p:ext uri="{BB962C8B-B14F-4D97-AF65-F5344CB8AC3E}">
        <p14:creationId xmlns:p14="http://schemas.microsoft.com/office/powerpoint/2010/main" val="1454437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89BDA-542A-54EA-F699-A9CE34054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DC7B9-CE60-E177-7D4E-F7A15E2C88D3}"/>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4FFB0997-4C29-1560-B9B4-0F41642099DD}"/>
              </a:ext>
            </a:extLst>
          </p:cNvPr>
          <p:cNvSpPr>
            <a:spLocks noGrp="1"/>
          </p:cNvSpPr>
          <p:nvPr>
            <p:ph type="body" idx="1"/>
          </p:nvPr>
        </p:nvSpPr>
        <p:spPr/>
        <p:txBody>
          <a:bodyPr/>
          <a:lstStyle/>
          <a:p>
            <a:r>
              <a:rPr lang="vi-VN"/>
              <a:t>Hệ thống được thiết kế theo kiến trúc xử lý dữ liệu lớn phân tán, </a:t>
            </a:r>
            <a:endParaRPr lang="en-US"/>
          </a:p>
          <a:p>
            <a:endParaRPr lang="en-US"/>
          </a:p>
          <a:p>
            <a:r>
              <a:rPr lang="vi-VN"/>
              <a:t>bao gồm các thành phần chính: </a:t>
            </a:r>
            <a:endParaRPr lang="en-US"/>
          </a:p>
          <a:p>
            <a:r>
              <a:rPr lang="vi-VN"/>
              <a:t>HDFS dùng để lưu trữ dữ liệu thô và dữ liệu trung gian, </a:t>
            </a:r>
            <a:endParaRPr lang="en-US"/>
          </a:p>
          <a:p>
            <a:r>
              <a:rPr lang="vi-VN"/>
              <a:t>Apache Spark đảm nhiệm xử lý song song, </a:t>
            </a:r>
            <a:endParaRPr lang="en-US"/>
          </a:p>
          <a:p>
            <a:r>
              <a:rPr lang="vi-VN"/>
              <a:t>và MongoDB dùng để lưu trữ dữ liệu đã xử lý phục vụ phân tích và trực quan hóa.</a:t>
            </a:r>
            <a:endParaRPr lang="en-US"/>
          </a:p>
          <a:p>
            <a:endParaRPr lang="en-US"/>
          </a:p>
          <a:p>
            <a:r>
              <a:rPr lang="en-US"/>
              <a:t>-------------</a:t>
            </a:r>
          </a:p>
          <a:p>
            <a:r>
              <a:rPr lang="vi-VN"/>
              <a:t>Cụm HDFS gồm một NameNode quản lý metadata và hai DataNode lưu trữ các block dữ liệu. </a:t>
            </a:r>
            <a:endParaRPr lang="en-US"/>
          </a:p>
          <a:p>
            <a:r>
              <a:rPr lang="vi-VN"/>
              <a:t>Cơ chế phân tán của HDFS cho phép dữ liệu được chia nhỏ và lưu trữ trên nhiều DataNode</a:t>
            </a:r>
            <a:endParaRPr lang="en-US"/>
          </a:p>
          <a:p>
            <a:endParaRPr lang="en-US"/>
          </a:p>
          <a:p>
            <a:endParaRPr lang="en-US"/>
          </a:p>
          <a:p>
            <a:r>
              <a:rPr lang="en-US"/>
              <a:t>Cụm Spark gồm </a:t>
            </a:r>
            <a:r>
              <a:rPr lang="vi-VN"/>
              <a:t>một Spark Master và hai Spark Worker. Spark Master chịu trách nhiệm điều phối tài nguyên và phân phối công việc, </a:t>
            </a:r>
            <a:endParaRPr lang="en-US"/>
          </a:p>
          <a:p>
            <a:r>
              <a:rPr lang="vi-VN"/>
              <a:t>trong khi các Worker thực thi các task xử lý dữ liệu song song trên các </a:t>
            </a:r>
            <a:r>
              <a:rPr lang="en-US"/>
              <a:t>phân vùng</a:t>
            </a:r>
            <a:r>
              <a:rPr lang="vi-VN"/>
              <a:t> được đọc từ HDFS.</a:t>
            </a:r>
            <a:endParaRPr lang="en-US"/>
          </a:p>
          <a:p>
            <a:endParaRPr lang="en-US"/>
          </a:p>
          <a:p>
            <a:r>
              <a:rPr lang="vi-VN"/>
              <a:t>Spark tận dụng nguyên lý </a:t>
            </a:r>
            <a:r>
              <a:rPr lang="vi-VN" i="1"/>
              <a:t>bring computation to data</a:t>
            </a:r>
            <a:r>
              <a:rPr lang="vi-VN"/>
              <a:t>, tức là ưu tiên đưa tác vụ xử lý đến nơi dữ liệu đang được lưu trữ trên các DataNode, </a:t>
            </a:r>
            <a:endParaRPr lang="en-US"/>
          </a:p>
          <a:p>
            <a:r>
              <a:rPr lang="vi-VN"/>
              <a:t>thay vì di chuyển toàn bộ dữ liệu qua mạng. Cơ chế này giúp giảm chi phí truyền dữ liệu và tăng hiệu năng xử lý.</a:t>
            </a:r>
            <a:endParaRPr lang="en-US"/>
          </a:p>
          <a:p>
            <a:endParaRPr lang="en-US"/>
          </a:p>
          <a:p>
            <a:endParaRPr lang="en-US"/>
          </a:p>
          <a:p>
            <a:endParaRPr lang="en-US"/>
          </a:p>
          <a:p>
            <a:r>
              <a:rPr lang="vi-VN"/>
              <a:t>Sau khi xử lý và tổng hợp, dữ liệu kết quả được các Spark executor ghi trực tiếp vào MongoDB theo cách phân tán. </a:t>
            </a:r>
            <a:endParaRPr lang="en-US"/>
          </a:p>
          <a:p>
            <a:r>
              <a:rPr lang="vi-VN"/>
              <a:t>MongoDB đóng vai trò là hệ cơ sở dữ liệu NoSQL, phù hợp cho việc lưu trữ dữ liệu phân tích và phục vụ truy vấn nhanh cho tầng ứng dụng</a:t>
            </a:r>
            <a:endParaRPr lang="en-US"/>
          </a:p>
          <a:p>
            <a:endParaRPr lang="en-US"/>
          </a:p>
          <a:p>
            <a:endParaRPr lang="en-US"/>
          </a:p>
        </p:txBody>
      </p:sp>
      <p:sp>
        <p:nvSpPr>
          <p:cNvPr id="4" name="Slide Number Placeholder 3">
            <a:extLst>
              <a:ext uri="{FF2B5EF4-FFF2-40B4-BE49-F238E27FC236}">
                <a16:creationId xmlns:a16="http://schemas.microsoft.com/office/drawing/2014/main" id="{948FED2D-EA48-3A09-BCB2-68C6D27BC4A3}"/>
              </a:ext>
            </a:extLst>
          </p:cNvPr>
          <p:cNvSpPr>
            <a:spLocks noGrp="1"/>
          </p:cNvSpPr>
          <p:nvPr>
            <p:ph type="sldNum" sz="quarter" idx="5"/>
          </p:nvPr>
        </p:nvSpPr>
        <p:spPr/>
        <p:txBody>
          <a:bodyPr/>
          <a:lstStyle/>
          <a:p>
            <a:fld id="{871B2431-D351-4C6E-A3CF-9DFAC0E3E050}" type="slidenum">
              <a:rPr lang="cs-CZ" smtClean="0"/>
              <a:t>8</a:t>
            </a:fld>
            <a:endParaRPr lang="cs-CZ"/>
          </a:p>
        </p:txBody>
      </p:sp>
    </p:spTree>
    <p:extLst>
      <p:ext uri="{BB962C8B-B14F-4D97-AF65-F5344CB8AC3E}">
        <p14:creationId xmlns:p14="http://schemas.microsoft.com/office/powerpoint/2010/main" val="3879853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7385E-63D7-01D9-B9C5-EDA9077095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E6B06-AF0B-5C53-4215-8BF1E68F0E6C}"/>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2C5083CB-F3BF-A3C9-4BD3-04B0EEE87FB2}"/>
              </a:ext>
            </a:extLst>
          </p:cNvPr>
          <p:cNvSpPr>
            <a:spLocks noGrp="1"/>
          </p:cNvSpPr>
          <p:nvPr>
            <p:ph type="body" idx="1"/>
          </p:nvPr>
        </p:nvSpPr>
        <p:spPr/>
        <p:txBody>
          <a:bodyPr/>
          <a:lstStyle/>
          <a:p>
            <a:r>
              <a:rPr lang="vi-VN"/>
              <a:t>Hệ thống được thiết kế theo kiến trúc xử lý dữ liệu lớn phân tán, </a:t>
            </a:r>
            <a:endParaRPr lang="en-US"/>
          </a:p>
          <a:p>
            <a:endParaRPr lang="en-US"/>
          </a:p>
          <a:p>
            <a:r>
              <a:rPr lang="vi-VN"/>
              <a:t>bao gồm các thành phần chính: </a:t>
            </a:r>
            <a:endParaRPr lang="en-US"/>
          </a:p>
          <a:p>
            <a:r>
              <a:rPr lang="vi-VN"/>
              <a:t>HDFS dùng để lưu trữ dữ liệu thô và dữ liệu trung gian, </a:t>
            </a:r>
            <a:endParaRPr lang="en-US"/>
          </a:p>
          <a:p>
            <a:r>
              <a:rPr lang="vi-VN"/>
              <a:t>Apache Spark đảm nhiệm xử lý song song, </a:t>
            </a:r>
            <a:endParaRPr lang="en-US"/>
          </a:p>
          <a:p>
            <a:r>
              <a:rPr lang="vi-VN"/>
              <a:t>và MongoDB dùng để lưu trữ dữ liệu đã xử lý phục vụ phân tích và trực quan hóa.</a:t>
            </a:r>
            <a:endParaRPr lang="en-US"/>
          </a:p>
          <a:p>
            <a:endParaRPr lang="en-US"/>
          </a:p>
          <a:p>
            <a:r>
              <a:rPr lang="en-US"/>
              <a:t>-------------</a:t>
            </a:r>
          </a:p>
          <a:p>
            <a:r>
              <a:rPr lang="vi-VN"/>
              <a:t>Cụm HDFS gồm một NameNode quản lý metadata và hai DataNode lưu trữ các block dữ liệu. </a:t>
            </a:r>
            <a:endParaRPr lang="en-US"/>
          </a:p>
          <a:p>
            <a:r>
              <a:rPr lang="vi-VN"/>
              <a:t>Cơ chế phân tán của HDFS cho phép dữ liệu được chia nhỏ và lưu trữ trên nhiều DataNode</a:t>
            </a:r>
            <a:endParaRPr lang="en-US"/>
          </a:p>
          <a:p>
            <a:endParaRPr lang="en-US"/>
          </a:p>
          <a:p>
            <a:endParaRPr lang="en-US"/>
          </a:p>
          <a:p>
            <a:r>
              <a:rPr lang="en-US"/>
              <a:t>Cụm Spark gồm </a:t>
            </a:r>
            <a:r>
              <a:rPr lang="vi-VN"/>
              <a:t>một Spark Master và hai Spark Worker. Spark Master chịu trách nhiệm điều phối tài nguyên và phân phối công việc, </a:t>
            </a:r>
            <a:endParaRPr lang="en-US"/>
          </a:p>
          <a:p>
            <a:r>
              <a:rPr lang="vi-VN"/>
              <a:t>trong khi các Worker thực thi các task xử lý dữ liệu song song trên các </a:t>
            </a:r>
            <a:r>
              <a:rPr lang="en-US"/>
              <a:t>phân vùng</a:t>
            </a:r>
            <a:r>
              <a:rPr lang="vi-VN"/>
              <a:t> được đọc từ HDFS.</a:t>
            </a:r>
            <a:endParaRPr lang="en-US"/>
          </a:p>
          <a:p>
            <a:endParaRPr lang="en-US"/>
          </a:p>
          <a:p>
            <a:r>
              <a:rPr lang="vi-VN"/>
              <a:t>Spark tận dụng nguyên lý </a:t>
            </a:r>
            <a:r>
              <a:rPr lang="vi-VN" i="1"/>
              <a:t>bring computation to data</a:t>
            </a:r>
            <a:r>
              <a:rPr lang="vi-VN"/>
              <a:t>, tức là ưu tiên đưa tác vụ xử lý đến nơi dữ liệu đang được lưu trữ trên các DataNode, </a:t>
            </a:r>
            <a:endParaRPr lang="en-US"/>
          </a:p>
          <a:p>
            <a:r>
              <a:rPr lang="vi-VN"/>
              <a:t>thay vì di chuyển toàn bộ dữ liệu qua mạng. Cơ chế này giúp giảm chi phí truyền dữ liệu và tăng hiệu năng xử lý.</a:t>
            </a:r>
            <a:endParaRPr lang="en-US"/>
          </a:p>
          <a:p>
            <a:endParaRPr lang="en-US"/>
          </a:p>
          <a:p>
            <a:endParaRPr lang="en-US"/>
          </a:p>
          <a:p>
            <a:endParaRPr lang="en-US"/>
          </a:p>
          <a:p>
            <a:r>
              <a:rPr lang="vi-VN"/>
              <a:t>Sau khi xử lý và tổng hợp, dữ liệu kết quả được các Spark executor ghi trực tiếp vào MongoDB theo cách phân tán. </a:t>
            </a:r>
            <a:endParaRPr lang="en-US"/>
          </a:p>
          <a:p>
            <a:r>
              <a:rPr lang="vi-VN"/>
              <a:t>MongoDB đóng vai trò là hệ cơ sở dữ liệu NoSQL, phù hợp cho việc lưu trữ dữ liệu phân tích và phục vụ truy vấn nhanh cho tầng ứng dụng</a:t>
            </a:r>
            <a:endParaRPr lang="en-US"/>
          </a:p>
          <a:p>
            <a:endParaRPr lang="en-US"/>
          </a:p>
          <a:p>
            <a:endParaRPr lang="en-US"/>
          </a:p>
        </p:txBody>
      </p:sp>
      <p:sp>
        <p:nvSpPr>
          <p:cNvPr id="4" name="Slide Number Placeholder 3">
            <a:extLst>
              <a:ext uri="{FF2B5EF4-FFF2-40B4-BE49-F238E27FC236}">
                <a16:creationId xmlns:a16="http://schemas.microsoft.com/office/drawing/2014/main" id="{0E473915-FA50-6828-B423-60FC23F8032C}"/>
              </a:ext>
            </a:extLst>
          </p:cNvPr>
          <p:cNvSpPr>
            <a:spLocks noGrp="1"/>
          </p:cNvSpPr>
          <p:nvPr>
            <p:ph type="sldNum" sz="quarter" idx="5"/>
          </p:nvPr>
        </p:nvSpPr>
        <p:spPr/>
        <p:txBody>
          <a:bodyPr/>
          <a:lstStyle/>
          <a:p>
            <a:fld id="{871B2431-D351-4C6E-A3CF-9DFAC0E3E050}" type="slidenum">
              <a:rPr lang="cs-CZ" smtClean="0"/>
              <a:t>9</a:t>
            </a:fld>
            <a:endParaRPr lang="cs-CZ"/>
          </a:p>
        </p:txBody>
      </p:sp>
    </p:spTree>
    <p:extLst>
      <p:ext uri="{BB962C8B-B14F-4D97-AF65-F5344CB8AC3E}">
        <p14:creationId xmlns:p14="http://schemas.microsoft.com/office/powerpoint/2010/main" val="18056069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BF55-3F19-17F5-603C-1C448A277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B1DBC-7C2D-B66F-16C9-41E479433D78}"/>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067E8C18-7F0F-6AFD-45FA-1BAAF7C85B16}"/>
              </a:ext>
            </a:extLst>
          </p:cNvPr>
          <p:cNvSpPr>
            <a:spLocks noGrp="1"/>
          </p:cNvSpPr>
          <p:nvPr>
            <p:ph type="body" idx="1"/>
          </p:nvPr>
        </p:nvSpPr>
        <p:spPr/>
        <p:txBody>
          <a:bodyPr/>
          <a:lstStyle/>
          <a:p>
            <a:r>
              <a:rPr lang="vi-VN"/>
              <a:t>Hệ thống được thiết kế theo kiến trúc xử lý dữ liệu lớn phân tán, </a:t>
            </a:r>
            <a:endParaRPr lang="en-US"/>
          </a:p>
          <a:p>
            <a:endParaRPr lang="en-US"/>
          </a:p>
          <a:p>
            <a:r>
              <a:rPr lang="vi-VN"/>
              <a:t>bao gồm các thành phần chính: </a:t>
            </a:r>
            <a:endParaRPr lang="en-US"/>
          </a:p>
          <a:p>
            <a:r>
              <a:rPr lang="vi-VN"/>
              <a:t>HDFS dùng để lưu trữ dữ liệu thô và dữ liệu trung gian, </a:t>
            </a:r>
            <a:endParaRPr lang="en-US"/>
          </a:p>
          <a:p>
            <a:r>
              <a:rPr lang="vi-VN"/>
              <a:t>Apache Spark đảm nhiệm xử lý song song, </a:t>
            </a:r>
            <a:endParaRPr lang="en-US"/>
          </a:p>
          <a:p>
            <a:r>
              <a:rPr lang="vi-VN"/>
              <a:t>và MongoDB dùng để lưu trữ dữ liệu đã xử lý phục vụ phân tích và trực quan hóa.</a:t>
            </a:r>
            <a:endParaRPr lang="en-US"/>
          </a:p>
          <a:p>
            <a:endParaRPr lang="en-US"/>
          </a:p>
          <a:p>
            <a:r>
              <a:rPr lang="en-US"/>
              <a:t>-------------</a:t>
            </a:r>
          </a:p>
          <a:p>
            <a:r>
              <a:rPr lang="vi-VN"/>
              <a:t>Cụm HDFS gồm một NameNode quản lý metadata và hai DataNode lưu trữ các block dữ liệu. </a:t>
            </a:r>
            <a:endParaRPr lang="en-US"/>
          </a:p>
          <a:p>
            <a:r>
              <a:rPr lang="vi-VN"/>
              <a:t>Cơ chế phân tán của HDFS cho phép dữ liệu được chia nhỏ và lưu trữ trên nhiều DataNode</a:t>
            </a:r>
            <a:endParaRPr lang="en-US"/>
          </a:p>
          <a:p>
            <a:endParaRPr lang="en-US"/>
          </a:p>
          <a:p>
            <a:endParaRPr lang="en-US"/>
          </a:p>
          <a:p>
            <a:r>
              <a:rPr lang="en-US"/>
              <a:t>Cụm Spark gồm </a:t>
            </a:r>
            <a:r>
              <a:rPr lang="vi-VN"/>
              <a:t>một Spark Master và hai Spark Worker. Spark Master chịu trách nhiệm điều phối tài nguyên và phân phối công việc, </a:t>
            </a:r>
            <a:endParaRPr lang="en-US"/>
          </a:p>
          <a:p>
            <a:r>
              <a:rPr lang="vi-VN"/>
              <a:t>trong khi các Worker thực thi các task xử lý dữ liệu song song trên các </a:t>
            </a:r>
            <a:r>
              <a:rPr lang="en-US"/>
              <a:t>phân vùng</a:t>
            </a:r>
            <a:r>
              <a:rPr lang="vi-VN"/>
              <a:t> được đọc từ HDFS.</a:t>
            </a:r>
            <a:endParaRPr lang="en-US"/>
          </a:p>
          <a:p>
            <a:endParaRPr lang="en-US"/>
          </a:p>
          <a:p>
            <a:r>
              <a:rPr lang="vi-VN"/>
              <a:t>Spark tận dụng nguyên lý </a:t>
            </a:r>
            <a:r>
              <a:rPr lang="vi-VN" i="1"/>
              <a:t>bring computation to data</a:t>
            </a:r>
            <a:r>
              <a:rPr lang="vi-VN"/>
              <a:t>, tức là ưu tiên đưa tác vụ xử lý đến nơi dữ liệu đang được lưu trữ trên các DataNode, </a:t>
            </a:r>
            <a:endParaRPr lang="en-US"/>
          </a:p>
          <a:p>
            <a:r>
              <a:rPr lang="vi-VN"/>
              <a:t>thay vì di chuyển toàn bộ dữ liệu qua mạng. Cơ chế này giúp giảm chi phí truyền dữ liệu và tăng hiệu năng xử lý.</a:t>
            </a:r>
            <a:endParaRPr lang="en-US"/>
          </a:p>
          <a:p>
            <a:endParaRPr lang="en-US"/>
          </a:p>
          <a:p>
            <a:endParaRPr lang="en-US"/>
          </a:p>
          <a:p>
            <a:endParaRPr lang="en-US"/>
          </a:p>
          <a:p>
            <a:r>
              <a:rPr lang="vi-VN"/>
              <a:t>Sau khi xử lý và tổng hợp, dữ liệu kết quả được các Spark executor ghi trực tiếp vào MongoDB theo cách phân tán. </a:t>
            </a:r>
            <a:endParaRPr lang="en-US"/>
          </a:p>
          <a:p>
            <a:r>
              <a:rPr lang="vi-VN"/>
              <a:t>MongoDB đóng vai trò là hệ cơ sở dữ liệu NoSQL, phù hợp cho việc lưu trữ dữ liệu phân tích và phục vụ truy vấn nhanh cho tầng ứng dụng</a:t>
            </a:r>
            <a:endParaRPr lang="en-US"/>
          </a:p>
          <a:p>
            <a:endParaRPr lang="en-US"/>
          </a:p>
          <a:p>
            <a:endParaRPr lang="en-US"/>
          </a:p>
        </p:txBody>
      </p:sp>
      <p:sp>
        <p:nvSpPr>
          <p:cNvPr id="4" name="Slide Number Placeholder 3">
            <a:extLst>
              <a:ext uri="{FF2B5EF4-FFF2-40B4-BE49-F238E27FC236}">
                <a16:creationId xmlns:a16="http://schemas.microsoft.com/office/drawing/2014/main" id="{F5D46F1C-DF54-6F67-DB4A-C3EA09087456}"/>
              </a:ext>
            </a:extLst>
          </p:cNvPr>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2504562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Chuẩn hóa ký tự, unicode, bỏ ký tự thừa</a:t>
            </a:r>
          </a:p>
          <a:p>
            <a:r>
              <a:rPr lang="en-US"/>
              <a:t>Loại bỏ stopword, xử lý emoji/url...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657F2-643E-5E1B-E636-80603F04218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B1608C-516F-43AC-6708-1280EE0B829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49D8AD-1F96-3335-F18B-1DAA266B1D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36CC52B-BD19-41AE-C851-D1E2B5624F7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A83AAB8-7B0A-9951-F99F-1B3095BC237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518160" lvl="1" indent="-259080" algn="l">
              <a:lnSpc>
                <a:spcPct val="1500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Kéo dài ký thể thể hiện rằng cảm xúc của câu đó mạnh hơn so với bình thường</a:t>
            </a:r>
          </a:p>
        </p:txBody>
      </p:sp>
      <p:sp>
        <p:nvSpPr>
          <p:cNvPr id="6" name="Footer Placeholder 5">
            <a:extLst>
              <a:ext uri="{FF2B5EF4-FFF2-40B4-BE49-F238E27FC236}">
                <a16:creationId xmlns:a16="http://schemas.microsoft.com/office/drawing/2014/main" id="{A4466ABC-BBC0-EE1F-01D1-45DFD82699A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7FFE6B4-9A52-D15D-77EA-920A8EDBC55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707854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E8D80-050F-5234-C361-F408D641069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D38027-32C0-A0FA-2C37-85BB57303E6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344DA4F-6D13-46E0-3041-EAB057C53FF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0F2C29B-081B-C698-C431-D17D611E149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D44E441-30D3-DD38-6B85-5B136EF6998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99F7B947-0A4A-4A6B-8084-3A5ED778C70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0012E45-BC68-3072-9662-6FE5FA2444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0420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97E6-5499-1EA5-2D15-CADCF8BF322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E8E8BD-F86C-3FE7-F0ED-574C8019810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E35066A-4133-5CF0-AF48-B5BBF348A6E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F0E2A12-CC9D-438D-BC39-CBFC2C90102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185BEBB-4D8B-0D6E-45B4-B4A2DC713E0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Chuẩn hóa ký tự, unicode, bỏ ký tự thừa</a:t>
            </a:r>
          </a:p>
          <a:p>
            <a:r>
              <a:rPr lang="en-US"/>
              <a:t>Loại bỏ stopword, xử lý emoji/url...</a:t>
            </a:r>
          </a:p>
        </p:txBody>
      </p:sp>
      <p:sp>
        <p:nvSpPr>
          <p:cNvPr id="6" name="Footer Placeholder 5">
            <a:extLst>
              <a:ext uri="{FF2B5EF4-FFF2-40B4-BE49-F238E27FC236}">
                <a16:creationId xmlns:a16="http://schemas.microsoft.com/office/drawing/2014/main" id="{F29DB9CA-FD39-C773-5F28-B3F24AC247E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6DE5FF0-AC48-1F04-7F80-3740EFFAE7A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50198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E774-7684-77FD-60F1-ACFFCC2AF2B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3FFD75-7005-E0D7-82BF-10AB043BCE4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0A1880A-B6BE-935A-A5B5-88B6739487D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8155C3F-E8F6-CB08-50A5-7EC0D382618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F62EE9-D1FF-9D8E-1F8A-1B350E1252C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Chuẩn hóa ký tự, unicode, bỏ ký tự thừa</a:t>
            </a:r>
          </a:p>
          <a:p>
            <a:r>
              <a:rPr lang="en-US"/>
              <a:t>Loại bỏ stopword, xử lý emoji/url...</a:t>
            </a:r>
          </a:p>
        </p:txBody>
      </p:sp>
      <p:sp>
        <p:nvSpPr>
          <p:cNvPr id="6" name="Footer Placeholder 5">
            <a:extLst>
              <a:ext uri="{FF2B5EF4-FFF2-40B4-BE49-F238E27FC236}">
                <a16:creationId xmlns:a16="http://schemas.microsoft.com/office/drawing/2014/main" id="{62DB1B07-DBC7-47E6-E787-D96FB33D2A8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6715171-99A8-AB68-A820-13C950F176A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505884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3B941-7693-1DC8-5CF0-1A22BC959E5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028019-BB29-F725-ED39-84F441A715E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E706FF8-84C0-4167-C455-7CF99A0EFC6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16258CD-7E0B-E0F9-8FC4-3A1D80BBAA5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4A4B85A-BAE1-13F6-2D22-4BE2AD84B86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Chuẩn hóa ký tự, unicode, bỏ ký tự thừa</a:t>
            </a:r>
          </a:p>
          <a:p>
            <a:r>
              <a:rPr lang="en-US"/>
              <a:t>Loại bỏ stopword, xử lý emoji/url...</a:t>
            </a:r>
          </a:p>
        </p:txBody>
      </p:sp>
      <p:sp>
        <p:nvSpPr>
          <p:cNvPr id="6" name="Footer Placeholder 5">
            <a:extLst>
              <a:ext uri="{FF2B5EF4-FFF2-40B4-BE49-F238E27FC236}">
                <a16:creationId xmlns:a16="http://schemas.microsoft.com/office/drawing/2014/main" id="{DF62B954-2B24-4542-6CB2-8E9301FC690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90926CB-B8A4-1D9F-382F-09D6F3D8E969}"/>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4389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Demo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nhóm đã Xây dựng thành công hệ thống phân loại cảm xúc bình luận tiếng Việt trên mạng xã hội</a:t>
            </a:r>
          </a:p>
          <a:p>
            <a:endParaRPr lang="en-US"/>
          </a:p>
          <a:p>
            <a:r>
              <a:rPr lang="en-US"/>
              <a:t>đã áp dụng các bước tiền xử lý kỹ lưỡng, giúp giảm kích thước của từ điển xuống rõ rệt, đồng thời nâng cao độ chính xác</a:t>
            </a:r>
          </a:p>
          <a:p>
            <a:endParaRPr lang="en-US"/>
          </a:p>
          <a:p>
            <a:endParaRPr lang="en-US"/>
          </a:p>
          <a:p>
            <a:r>
              <a:rPr lang="en-US"/>
              <a:t>----------------------------------------</a:t>
            </a:r>
          </a:p>
          <a:p>
            <a:endParaRPr lang="en-US"/>
          </a:p>
          <a:p>
            <a:r>
              <a:rPr lang="en-US"/>
              <a:t>hướng phát triển:</a:t>
            </a:r>
          </a:p>
          <a:p>
            <a:endParaRPr lang="en-US"/>
          </a:p>
          <a:p>
            <a:r>
              <a:rPr lang="en-US"/>
              <a:t>- mở rộng dữ liệu hơn, sử dụng từ nhiều nguồn như facebook, tiktok, các diễn đàn</a:t>
            </a:r>
          </a:p>
          <a:p>
            <a:endParaRPr lang="en-US"/>
          </a:p>
          <a:p>
            <a:r>
              <a:rPr lang="en-US"/>
              <a:t>- sử dụng các mô hình hiện đại hơn như transformers, giúp tăng độ chính xác trong các trường hợp cấu trúc câu phức tạp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2681342" y="9113698"/>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20285"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3011870"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p:cNvGrpSpPr/>
          <p:nvPr/>
        </p:nvGrpSpPr>
        <p:grpSpPr>
          <a:xfrm>
            <a:off x="2350813"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16783752" y="1028700"/>
            <a:ext cx="475548" cy="545104"/>
            <a:chOff x="0" y="0"/>
            <a:chExt cx="1236250" cy="1417069"/>
          </a:xfrm>
        </p:grpSpPr>
        <p:sp>
          <p:nvSpPr>
            <p:cNvPr id="23" name="Freeform 23"/>
            <p:cNvSpPr/>
            <p:nvPr/>
          </p:nvSpPr>
          <p:spPr>
            <a:xfrm>
              <a:off x="0" y="0"/>
              <a:ext cx="1236250" cy="1417069"/>
            </a:xfrm>
            <a:custGeom>
              <a:avLst/>
              <a:gdLst/>
              <a:ahLst/>
              <a:cxnLst/>
              <a:rect l="l" t="t" r="r" b="b"/>
              <a:pathLst>
                <a:path w="1236250" h="1417069">
                  <a:moveTo>
                    <a:pt x="618125" y="0"/>
                  </a:moveTo>
                  <a:cubicBezTo>
                    <a:pt x="276744" y="0"/>
                    <a:pt x="0" y="317222"/>
                    <a:pt x="0" y="708535"/>
                  </a:cubicBezTo>
                  <a:cubicBezTo>
                    <a:pt x="0" y="1099848"/>
                    <a:pt x="276744" y="1417069"/>
                    <a:pt x="618125" y="1417069"/>
                  </a:cubicBezTo>
                  <a:cubicBezTo>
                    <a:pt x="959506" y="1417069"/>
                    <a:pt x="1236250" y="1099848"/>
                    <a:pt x="1236250" y="708535"/>
                  </a:cubicBezTo>
                  <a:cubicBezTo>
                    <a:pt x="1236250" y="317222"/>
                    <a:pt x="959506" y="0"/>
                    <a:pt x="618125"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p:cNvSpPr txBox="1"/>
            <p:nvPr/>
          </p:nvSpPr>
          <p:spPr>
            <a:xfrm>
              <a:off x="115898" y="104275"/>
              <a:ext cx="1004453" cy="11799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1</a:t>
              </a:r>
            </a:p>
          </p:txBody>
        </p:sp>
      </p:grpSp>
      <p:sp>
        <p:nvSpPr>
          <p:cNvPr id="25" name="TextBox 25"/>
          <p:cNvSpPr txBox="1"/>
          <p:nvPr/>
        </p:nvSpPr>
        <p:spPr>
          <a:xfrm>
            <a:off x="1028700" y="1219200"/>
            <a:ext cx="9816444" cy="3847207"/>
          </a:xfrm>
          <a:prstGeom prst="rect">
            <a:avLst/>
          </a:prstGeom>
        </p:spPr>
        <p:txBody>
          <a:bodyPr wrap="square" lIns="0" tIns="0" rIns="0" bIns="0" rtlCol="0" anchor="t">
            <a:spAutoFit/>
          </a:bodyPr>
          <a:lstStyle/>
          <a:p>
            <a:pPr algn="l">
              <a:lnSpc>
                <a:spcPts val="9999"/>
              </a:lnSpc>
            </a:pPr>
            <a:r>
              <a:rPr lang="en-US" sz="9000" b="1" spc="-199">
                <a:solidFill>
                  <a:srgbClr val="000000"/>
                </a:solidFill>
                <a:latin typeface="Times New Roman" panose="02020603050405020304" pitchFamily="18" charset="0"/>
                <a:ea typeface="Garet Bold"/>
                <a:cs typeface="Times New Roman" panose="02020603050405020304" pitchFamily="18" charset="0"/>
                <a:sym typeface="Garet Bold"/>
              </a:rPr>
              <a:t>Xây dựng pipepline xử lý dữ liệu của doanh nghiệp bán lẻ</a:t>
            </a:r>
          </a:p>
        </p:txBody>
      </p:sp>
      <p:sp>
        <p:nvSpPr>
          <p:cNvPr id="26" name="TextBox 26"/>
          <p:cNvSpPr txBox="1"/>
          <p:nvPr/>
        </p:nvSpPr>
        <p:spPr>
          <a:xfrm>
            <a:off x="1098714" y="5746869"/>
            <a:ext cx="7304301" cy="2644955"/>
          </a:xfrm>
          <a:prstGeom prst="rect">
            <a:avLst/>
          </a:prstGeom>
        </p:spPr>
        <p:txBody>
          <a:bodyPr lIns="0" tIns="0" rIns="0" bIns="0" rtlCol="0" anchor="t">
            <a:spAutoFit/>
          </a:bodyPr>
          <a:lstStyle/>
          <a:p>
            <a:pPr algn="l">
              <a:lnSpc>
                <a:spcPts val="5279"/>
              </a:lnSpc>
            </a:pPr>
            <a:r>
              <a:rPr lang="en-US" sz="3800" b="1" spc="-31">
                <a:solidFill>
                  <a:srgbClr val="A6A6A6"/>
                </a:solidFill>
                <a:latin typeface="Times New Roman" panose="02020603050405020304" pitchFamily="18" charset="0"/>
                <a:ea typeface="Garet Bold"/>
                <a:cs typeface="Times New Roman" panose="02020603050405020304" pitchFamily="18" charset="0"/>
                <a:sym typeface="Garet Bold"/>
              </a:rPr>
              <a:t>Thành viên nhóm</a:t>
            </a:r>
          </a:p>
          <a:p>
            <a:pPr algn="l">
              <a:lnSpc>
                <a:spcPts val="5279"/>
              </a:lnSpc>
            </a:pPr>
            <a:r>
              <a:rPr lang="en-US" sz="3800" spc="-31">
                <a:solidFill>
                  <a:srgbClr val="A6A6A6"/>
                </a:solidFill>
                <a:latin typeface="Times New Roman" panose="02020603050405020304" pitchFamily="18" charset="0"/>
                <a:ea typeface="Garet"/>
                <a:cs typeface="Times New Roman" panose="02020603050405020304" pitchFamily="18" charset="0"/>
                <a:sym typeface="Garet"/>
              </a:rPr>
              <a:t>Chương Công Trương - 2221050390</a:t>
            </a:r>
          </a:p>
          <a:p>
            <a:pPr algn="l">
              <a:lnSpc>
                <a:spcPts val="5279"/>
              </a:lnSpc>
            </a:pPr>
            <a:r>
              <a:rPr lang="en-US" sz="3800" spc="-31">
                <a:solidFill>
                  <a:srgbClr val="A6A6A6"/>
                </a:solidFill>
                <a:latin typeface="Times New Roman" panose="02020603050405020304" pitchFamily="18" charset="0"/>
                <a:ea typeface="Garet"/>
                <a:cs typeface="Times New Roman" panose="02020603050405020304" pitchFamily="18" charset="0"/>
                <a:sym typeface="Garet"/>
              </a:rPr>
              <a:t>Nguyễn Tùng Khánh - 2221050723</a:t>
            </a:r>
          </a:p>
          <a:p>
            <a:pPr marL="0" lvl="0" indent="0" algn="l">
              <a:lnSpc>
                <a:spcPts val="5279"/>
              </a:lnSpc>
            </a:pPr>
            <a:r>
              <a:rPr lang="en-US" sz="3800" spc="-31">
                <a:solidFill>
                  <a:srgbClr val="A6A6A6"/>
                </a:solidFill>
                <a:latin typeface="Times New Roman" panose="02020603050405020304" pitchFamily="18" charset="0"/>
                <a:ea typeface="Garet"/>
                <a:cs typeface="Times New Roman" panose="02020603050405020304" pitchFamily="18" charset="0"/>
                <a:sym typeface="Garet"/>
              </a:rPr>
              <a:t>Vũ Văn Tỉnh - 2221050517</a:t>
            </a:r>
          </a:p>
        </p:txBody>
      </p:sp>
      <p:grpSp>
        <p:nvGrpSpPr>
          <p:cNvPr id="27" name="Group 27"/>
          <p:cNvGrpSpPr/>
          <p:nvPr/>
        </p:nvGrpSpPr>
        <p:grpSpPr>
          <a:xfrm>
            <a:off x="4333983" y="9118272"/>
            <a:ext cx="140028" cy="140028"/>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p:cNvGrpSpPr/>
          <p:nvPr/>
        </p:nvGrpSpPr>
        <p:grpSpPr>
          <a:xfrm>
            <a:off x="4664512" y="9122846"/>
            <a:ext cx="140028" cy="140028"/>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p:cNvGrpSpPr/>
          <p:nvPr/>
        </p:nvGrpSpPr>
        <p:grpSpPr>
          <a:xfrm>
            <a:off x="4995040" y="9127420"/>
            <a:ext cx="140028" cy="140028"/>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FA41D-F56C-D183-5C07-707F8E86B3F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2A01E5-4770-F916-E8A4-B631B82616EF}"/>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04DA4244-8F50-1ECD-CBD7-BD81D357893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CA3A7E35-23B3-C9D2-646C-D469ABC219CC}"/>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C9A52FCA-60CD-084F-8F8F-A83DCC17FD6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B6582BED-465C-EBDC-6538-05CA75B84860}"/>
              </a:ext>
            </a:extLst>
          </p:cNvPr>
          <p:cNvGrpSpPr/>
          <p:nvPr/>
        </p:nvGrpSpPr>
        <p:grpSpPr>
          <a:xfrm>
            <a:off x="2681342" y="9113698"/>
            <a:ext cx="140028" cy="140028"/>
            <a:chOff x="0" y="0"/>
            <a:chExt cx="6350000" cy="6350000"/>
          </a:xfrm>
        </p:grpSpPr>
        <p:sp>
          <p:nvSpPr>
            <p:cNvPr id="7" name="Freeform 7">
              <a:extLst>
                <a:ext uri="{FF2B5EF4-FFF2-40B4-BE49-F238E27FC236}">
                  <a16:creationId xmlns:a16="http://schemas.microsoft.com/office/drawing/2014/main" id="{45CFF12C-6B55-408B-CFF1-1B220AEAC29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276BCE47-460B-3C1F-3637-99806430EB75}"/>
              </a:ext>
            </a:extLst>
          </p:cNvPr>
          <p:cNvGrpSpPr/>
          <p:nvPr/>
        </p:nvGrpSpPr>
        <p:grpSpPr>
          <a:xfrm>
            <a:off x="2020285" y="9113698"/>
            <a:ext cx="140028" cy="140028"/>
            <a:chOff x="0" y="0"/>
            <a:chExt cx="6350000" cy="6350000"/>
          </a:xfrm>
        </p:grpSpPr>
        <p:sp>
          <p:nvSpPr>
            <p:cNvPr id="9" name="Freeform 9">
              <a:extLst>
                <a:ext uri="{FF2B5EF4-FFF2-40B4-BE49-F238E27FC236}">
                  <a16:creationId xmlns:a16="http://schemas.microsoft.com/office/drawing/2014/main" id="{9F70EC22-FC02-29DD-C32C-4B42D6AD73D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B36BC94A-BB51-328F-47DF-B758AE3D72FB}"/>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5A794EF4-7F84-1648-A480-689920682F0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C5F192C8-4C2D-8166-DF1F-5B81EFB9149C}"/>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9BF39E68-1788-1192-AEAC-660297B921A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F2B697FE-C63E-A885-D0D2-0E4A1FBC79C5}"/>
              </a:ext>
            </a:extLst>
          </p:cNvPr>
          <p:cNvGrpSpPr/>
          <p:nvPr/>
        </p:nvGrpSpPr>
        <p:grpSpPr>
          <a:xfrm>
            <a:off x="3011870" y="9113698"/>
            <a:ext cx="140028" cy="140028"/>
            <a:chOff x="0" y="0"/>
            <a:chExt cx="6350000" cy="6350000"/>
          </a:xfrm>
        </p:grpSpPr>
        <p:sp>
          <p:nvSpPr>
            <p:cNvPr id="15" name="Freeform 15">
              <a:extLst>
                <a:ext uri="{FF2B5EF4-FFF2-40B4-BE49-F238E27FC236}">
                  <a16:creationId xmlns:a16="http://schemas.microsoft.com/office/drawing/2014/main" id="{D553DCD9-FA89-CC94-9E70-9E96777AA97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F1920CB1-D2F8-AA2C-6226-A3D4E4020646}"/>
              </a:ext>
            </a:extLst>
          </p:cNvPr>
          <p:cNvGrpSpPr/>
          <p:nvPr/>
        </p:nvGrpSpPr>
        <p:grpSpPr>
          <a:xfrm>
            <a:off x="2350813" y="9113698"/>
            <a:ext cx="140028" cy="140028"/>
            <a:chOff x="0" y="0"/>
            <a:chExt cx="6350000" cy="6350000"/>
          </a:xfrm>
        </p:grpSpPr>
        <p:sp>
          <p:nvSpPr>
            <p:cNvPr id="17" name="Freeform 17">
              <a:extLst>
                <a:ext uri="{FF2B5EF4-FFF2-40B4-BE49-F238E27FC236}">
                  <a16:creationId xmlns:a16="http://schemas.microsoft.com/office/drawing/2014/main" id="{15B7D43C-33CB-C0A1-F924-C0ABD80F299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5BBAB1B2-8B4E-F3D8-6D37-6DFBDA51A087}"/>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BF2E206C-2ECD-A088-D685-8FF46CE6E4D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5162CF4A-6316-500C-759A-B66F7492CCE1}"/>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636B6D9D-4842-21A0-2587-94A686714D2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BCEDE92D-CBA9-CADE-E34C-71CAFAB21233}"/>
              </a:ext>
            </a:extLst>
          </p:cNvPr>
          <p:cNvGrpSpPr/>
          <p:nvPr/>
        </p:nvGrpSpPr>
        <p:grpSpPr>
          <a:xfrm>
            <a:off x="16783752" y="1028700"/>
            <a:ext cx="475548" cy="545104"/>
            <a:chOff x="0" y="0"/>
            <a:chExt cx="1236250" cy="1417069"/>
          </a:xfrm>
        </p:grpSpPr>
        <p:sp>
          <p:nvSpPr>
            <p:cNvPr id="23" name="Freeform 23">
              <a:extLst>
                <a:ext uri="{FF2B5EF4-FFF2-40B4-BE49-F238E27FC236}">
                  <a16:creationId xmlns:a16="http://schemas.microsoft.com/office/drawing/2014/main" id="{36C25B4F-74F3-B5F4-DEE5-2F17CE226A49}"/>
                </a:ext>
              </a:extLst>
            </p:cNvPr>
            <p:cNvSpPr/>
            <p:nvPr/>
          </p:nvSpPr>
          <p:spPr>
            <a:xfrm>
              <a:off x="0" y="0"/>
              <a:ext cx="1236250" cy="1417069"/>
            </a:xfrm>
            <a:custGeom>
              <a:avLst/>
              <a:gdLst/>
              <a:ahLst/>
              <a:cxnLst/>
              <a:rect l="l" t="t" r="r" b="b"/>
              <a:pathLst>
                <a:path w="1236250" h="1417069">
                  <a:moveTo>
                    <a:pt x="618125" y="0"/>
                  </a:moveTo>
                  <a:cubicBezTo>
                    <a:pt x="276744" y="0"/>
                    <a:pt x="0" y="317222"/>
                    <a:pt x="0" y="708535"/>
                  </a:cubicBezTo>
                  <a:cubicBezTo>
                    <a:pt x="0" y="1099848"/>
                    <a:pt x="276744" y="1417069"/>
                    <a:pt x="618125" y="1417069"/>
                  </a:cubicBezTo>
                  <a:cubicBezTo>
                    <a:pt x="959506" y="1417069"/>
                    <a:pt x="1236250" y="1099848"/>
                    <a:pt x="1236250" y="708535"/>
                  </a:cubicBezTo>
                  <a:cubicBezTo>
                    <a:pt x="1236250" y="317222"/>
                    <a:pt x="959506" y="0"/>
                    <a:pt x="618125"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9E856FAB-2544-9440-F618-FFBA242579FF}"/>
                </a:ext>
              </a:extLst>
            </p:cNvPr>
            <p:cNvSpPr txBox="1"/>
            <p:nvPr/>
          </p:nvSpPr>
          <p:spPr>
            <a:xfrm>
              <a:off x="115898" y="104275"/>
              <a:ext cx="1004453" cy="11799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1</a:t>
              </a:r>
            </a:p>
          </p:txBody>
        </p:sp>
      </p:grpSp>
      <p:sp>
        <p:nvSpPr>
          <p:cNvPr id="25" name="TextBox 25">
            <a:extLst>
              <a:ext uri="{FF2B5EF4-FFF2-40B4-BE49-F238E27FC236}">
                <a16:creationId xmlns:a16="http://schemas.microsoft.com/office/drawing/2014/main" id="{9D6EAB73-81D1-1498-B1BD-6AE8CBB438FA}"/>
              </a:ext>
            </a:extLst>
          </p:cNvPr>
          <p:cNvSpPr txBox="1"/>
          <p:nvPr/>
        </p:nvSpPr>
        <p:spPr>
          <a:xfrm>
            <a:off x="1028700" y="1219200"/>
            <a:ext cx="9816444" cy="1282402"/>
          </a:xfrm>
          <a:prstGeom prst="rect">
            <a:avLst/>
          </a:prstGeom>
        </p:spPr>
        <p:txBody>
          <a:bodyPr wrap="square" lIns="0" tIns="0" rIns="0" bIns="0" rtlCol="0" anchor="t">
            <a:spAutoFit/>
          </a:bodyPr>
          <a:lstStyle/>
          <a:p>
            <a:pPr algn="l">
              <a:lnSpc>
                <a:spcPts val="9999"/>
              </a:lnSpc>
            </a:pPr>
            <a:r>
              <a:rPr lang="en-US" sz="9000" b="1" spc="-199">
                <a:solidFill>
                  <a:srgbClr val="000000"/>
                </a:solidFill>
                <a:latin typeface="Times New Roman" panose="02020603050405020304" pitchFamily="18" charset="0"/>
                <a:ea typeface="Garet Bold"/>
                <a:cs typeface="Times New Roman" panose="02020603050405020304" pitchFamily="18" charset="0"/>
                <a:sym typeface="Garet Bold"/>
              </a:rPr>
              <a:t>Bối cảnh</a:t>
            </a:r>
          </a:p>
        </p:txBody>
      </p:sp>
      <p:sp>
        <p:nvSpPr>
          <p:cNvPr id="26" name="TextBox 26">
            <a:extLst>
              <a:ext uri="{FF2B5EF4-FFF2-40B4-BE49-F238E27FC236}">
                <a16:creationId xmlns:a16="http://schemas.microsoft.com/office/drawing/2014/main" id="{04C6C38D-D7CC-4EEB-0DD4-7A44B5C85AB4}"/>
              </a:ext>
            </a:extLst>
          </p:cNvPr>
          <p:cNvSpPr txBox="1"/>
          <p:nvPr/>
        </p:nvSpPr>
        <p:spPr>
          <a:xfrm>
            <a:off x="1028700" y="2966974"/>
            <a:ext cx="9639300" cy="4761175"/>
          </a:xfrm>
          <a:prstGeom prst="rect">
            <a:avLst/>
          </a:prstGeom>
        </p:spPr>
        <p:txBody>
          <a:bodyPr wrap="square" lIns="0" tIns="0" rIns="0" bIns="0" rtlCol="0" anchor="t">
            <a:spAutoFit/>
          </a:bodyPr>
          <a:lstStyle/>
          <a:p>
            <a:pPr>
              <a:lnSpc>
                <a:spcPct val="150000"/>
              </a:lnSpc>
            </a:pPr>
            <a:r>
              <a:rPr lang="vi-VN" sz="3500" b="1">
                <a:latin typeface="Times New Roman" panose="02020603050405020304" pitchFamily="18" charset="0"/>
                <a:cs typeface="Times New Roman" panose="02020603050405020304" pitchFamily="18" charset="0"/>
              </a:rPr>
              <a:t>Dữ liệu lớn:</a:t>
            </a:r>
            <a:r>
              <a:rPr lang="vi-VN" sz="3500">
                <a:latin typeface="Times New Roman" panose="02020603050405020304" pitchFamily="18" charset="0"/>
                <a:cs typeface="Times New Roman" panose="02020603050405020304" pitchFamily="18" charset="0"/>
              </a:rPr>
              <a:t> giao dịch khổng lồ </a:t>
            </a:r>
            <a:endParaRPr lang="en-US" sz="3500">
              <a:latin typeface="Times New Roman" panose="02020603050405020304" pitchFamily="18" charset="0"/>
              <a:cs typeface="Times New Roman" panose="02020603050405020304" pitchFamily="18" charset="0"/>
            </a:endParaRPr>
          </a:p>
          <a:p>
            <a:pPr>
              <a:lnSpc>
                <a:spcPct val="150000"/>
              </a:lnSpc>
            </a:pPr>
            <a:r>
              <a:rPr lang="vi-VN" sz="3500" b="1">
                <a:latin typeface="Times New Roman" panose="02020603050405020304" pitchFamily="18" charset="0"/>
                <a:cs typeface="Times New Roman" panose="02020603050405020304" pitchFamily="18" charset="0"/>
              </a:rPr>
              <a:t>Dữ liệu phân tán: </a:t>
            </a:r>
            <a:r>
              <a:rPr lang="en-US" sz="3500">
                <a:latin typeface="Times New Roman" panose="02020603050405020304" pitchFamily="18" charset="0"/>
                <a:cs typeface="Times New Roman" panose="02020603050405020304" pitchFamily="18" charset="0"/>
              </a:rPr>
              <a:t>dữ liệu </a:t>
            </a:r>
            <a:r>
              <a:rPr lang="vi-VN" sz="3500">
                <a:latin typeface="Times New Roman" panose="02020603050405020304" pitchFamily="18" charset="0"/>
                <a:cs typeface="Times New Roman" panose="02020603050405020304" pitchFamily="18" charset="0"/>
              </a:rPr>
              <a:t>không đồng nhất.</a:t>
            </a:r>
          </a:p>
          <a:p>
            <a:pPr>
              <a:lnSpc>
                <a:spcPct val="150000"/>
              </a:lnSpc>
            </a:pPr>
            <a:r>
              <a:rPr lang="vi-VN" sz="3500" b="1">
                <a:latin typeface="Times New Roman" panose="02020603050405020304" pitchFamily="18" charset="0"/>
                <a:cs typeface="Times New Roman" panose="02020603050405020304" pitchFamily="18" charset="0"/>
              </a:rPr>
              <a:t>Xử lý khó khăn: </a:t>
            </a:r>
            <a:r>
              <a:rPr lang="vi-VN" sz="3500">
                <a:latin typeface="Times New Roman" panose="02020603050405020304" pitchFamily="18" charset="0"/>
                <a:cs typeface="Times New Roman" panose="02020603050405020304" pitchFamily="18" charset="0"/>
              </a:rPr>
              <a:t>Hệ thống truyền thống khó </a:t>
            </a:r>
            <a:r>
              <a:rPr lang="en-US" sz="3500">
                <a:latin typeface="Times New Roman" panose="02020603050405020304" pitchFamily="18" charset="0"/>
                <a:cs typeface="Times New Roman" panose="02020603050405020304" pitchFamily="18" charset="0"/>
              </a:rPr>
              <a:t>đáp ứng</a:t>
            </a:r>
          </a:p>
          <a:p>
            <a:pPr>
              <a:lnSpc>
                <a:spcPct val="150000"/>
              </a:lnSpc>
            </a:pPr>
            <a:r>
              <a:rPr lang="vi-VN" sz="3500" b="1">
                <a:latin typeface="Times New Roman" panose="02020603050405020304" pitchFamily="18" charset="0"/>
                <a:cs typeface="Times New Roman" panose="02020603050405020304" pitchFamily="18" charset="0"/>
              </a:rPr>
              <a:t>Hành vi khách hàng: </a:t>
            </a:r>
            <a:r>
              <a:rPr lang="en-US" sz="3500">
                <a:latin typeface="Times New Roman" panose="02020603050405020304" pitchFamily="18" charset="0"/>
                <a:cs typeface="Times New Roman" panose="02020603050405020304" pitchFamily="18" charset="0"/>
              </a:rPr>
              <a:t>cần tối ưu chiến lược</a:t>
            </a:r>
          </a:p>
          <a:p>
            <a:pPr>
              <a:lnSpc>
                <a:spcPct val="150000"/>
              </a:lnSpc>
            </a:pPr>
            <a:r>
              <a:rPr lang="en-US" sz="3500" b="1">
                <a:latin typeface="Times New Roman" panose="02020603050405020304" pitchFamily="18" charset="0"/>
                <a:cs typeface="Times New Roman" panose="02020603050405020304" pitchFamily="18" charset="0"/>
              </a:rPr>
              <a:t>Hiệu quả kinh doanh: </a:t>
            </a:r>
            <a:r>
              <a:rPr lang="en-US" sz="3500">
                <a:latin typeface="Times New Roman" panose="02020603050405020304" pitchFamily="18" charset="0"/>
                <a:cs typeface="Times New Roman" panose="02020603050405020304" pitchFamily="18" charset="0"/>
              </a:rPr>
              <a:t>tối ưu doanh thu</a:t>
            </a:r>
          </a:p>
          <a:p>
            <a:pPr>
              <a:lnSpc>
                <a:spcPct val="150000"/>
              </a:lnSpc>
            </a:pPr>
            <a:r>
              <a:rPr lang="en-US" sz="3500" b="1">
                <a:latin typeface="Times New Roman" panose="02020603050405020304" pitchFamily="18" charset="0"/>
                <a:cs typeface="Times New Roman" panose="02020603050405020304" pitchFamily="18" charset="0"/>
              </a:rPr>
              <a:t>Giải pháp: </a:t>
            </a:r>
            <a:r>
              <a:rPr lang="en-US" sz="3500">
                <a:latin typeface="Times New Roman" panose="02020603050405020304" pitchFamily="18" charset="0"/>
                <a:cs typeface="Times New Roman" panose="02020603050405020304" pitchFamily="18" charset="0"/>
              </a:rPr>
              <a:t>sử dụng các công nghệ xử lý dữ liệu lớn</a:t>
            </a:r>
            <a:endParaRPr lang="vi-VN" sz="3500">
              <a:latin typeface="Times New Roman" panose="02020603050405020304" pitchFamily="18" charset="0"/>
              <a:cs typeface="Times New Roman" panose="02020603050405020304" pitchFamily="18" charset="0"/>
            </a:endParaRPr>
          </a:p>
        </p:txBody>
      </p:sp>
      <p:grpSp>
        <p:nvGrpSpPr>
          <p:cNvPr id="27" name="Group 27">
            <a:extLst>
              <a:ext uri="{FF2B5EF4-FFF2-40B4-BE49-F238E27FC236}">
                <a16:creationId xmlns:a16="http://schemas.microsoft.com/office/drawing/2014/main" id="{BD758ED8-7DE6-38F7-AA15-A52E8B72DD41}"/>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41CF6179-C081-4DAB-6A38-E0938ABAED5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0CB69DDD-3721-9EA4-E6DE-CC7AB1D8AC38}"/>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271BDC37-EA8E-0978-86C2-1F18F27EB71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a:extLst>
              <a:ext uri="{FF2B5EF4-FFF2-40B4-BE49-F238E27FC236}">
                <a16:creationId xmlns:a16="http://schemas.microsoft.com/office/drawing/2014/main" id="{D2D568F1-6DBD-81E4-33D2-C9ADD8D837C8}"/>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4609B788-6BAA-608B-C88F-317C8697E67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pic>
        <p:nvPicPr>
          <p:cNvPr id="1026" name="Picture 2">
            <a:extLst>
              <a:ext uri="{FF2B5EF4-FFF2-40B4-BE49-F238E27FC236}">
                <a16:creationId xmlns:a16="http://schemas.microsoft.com/office/drawing/2014/main" id="{C09524BD-4D25-3532-DC13-690240B37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9011" y="2837510"/>
            <a:ext cx="6568839" cy="4825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4984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78DEC-8B78-87EE-90CE-9B62B3AE57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F5508C9-8908-8FE0-D7F8-6092B72A9DD1}"/>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8A6522A2-9B74-6DD4-D9A3-A504CF4754B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F4A462B9-799E-CEC3-229B-8DC57B1C466B}"/>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3DE142B1-AF31-8306-56D9-8C2B806C75F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08673A69-A057-6BEC-5167-FBF9776EFD77}"/>
              </a:ext>
            </a:extLst>
          </p:cNvPr>
          <p:cNvGrpSpPr/>
          <p:nvPr/>
        </p:nvGrpSpPr>
        <p:grpSpPr>
          <a:xfrm>
            <a:off x="2681342" y="9113698"/>
            <a:ext cx="140028" cy="140028"/>
            <a:chOff x="0" y="0"/>
            <a:chExt cx="6350000" cy="6350000"/>
          </a:xfrm>
        </p:grpSpPr>
        <p:sp>
          <p:nvSpPr>
            <p:cNvPr id="7" name="Freeform 7">
              <a:extLst>
                <a:ext uri="{FF2B5EF4-FFF2-40B4-BE49-F238E27FC236}">
                  <a16:creationId xmlns:a16="http://schemas.microsoft.com/office/drawing/2014/main" id="{6FA514F7-DD43-137E-8F1D-AEB07E7175B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9D6483CA-C59B-81C6-3EEE-75D29F12E7C7}"/>
              </a:ext>
            </a:extLst>
          </p:cNvPr>
          <p:cNvGrpSpPr/>
          <p:nvPr/>
        </p:nvGrpSpPr>
        <p:grpSpPr>
          <a:xfrm>
            <a:off x="2020285" y="9113698"/>
            <a:ext cx="140028" cy="140028"/>
            <a:chOff x="0" y="0"/>
            <a:chExt cx="6350000" cy="6350000"/>
          </a:xfrm>
        </p:grpSpPr>
        <p:sp>
          <p:nvSpPr>
            <p:cNvPr id="9" name="Freeform 9">
              <a:extLst>
                <a:ext uri="{FF2B5EF4-FFF2-40B4-BE49-F238E27FC236}">
                  <a16:creationId xmlns:a16="http://schemas.microsoft.com/office/drawing/2014/main" id="{6B3E7249-3D2C-AF2D-DE06-3DB0CE12EAB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FAE93CAE-21BE-8D9B-26A8-4333E1B8A590}"/>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653FA58A-E835-5FF6-ACA9-808C132D6EA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C992E915-04CE-F82F-64BD-C4E1B5D6DF31}"/>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6C501C07-9D37-20C3-A056-67C43ADBE13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12CC345D-3BAF-CAEA-ADEA-F2FDA33E999B}"/>
              </a:ext>
            </a:extLst>
          </p:cNvPr>
          <p:cNvGrpSpPr/>
          <p:nvPr/>
        </p:nvGrpSpPr>
        <p:grpSpPr>
          <a:xfrm>
            <a:off x="3011870" y="9113698"/>
            <a:ext cx="140028" cy="140028"/>
            <a:chOff x="0" y="0"/>
            <a:chExt cx="6350000" cy="6350000"/>
          </a:xfrm>
        </p:grpSpPr>
        <p:sp>
          <p:nvSpPr>
            <p:cNvPr id="15" name="Freeform 15">
              <a:extLst>
                <a:ext uri="{FF2B5EF4-FFF2-40B4-BE49-F238E27FC236}">
                  <a16:creationId xmlns:a16="http://schemas.microsoft.com/office/drawing/2014/main" id="{2B69A33A-B3D5-7AB6-83C6-A3C5E08DBA6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5A3048A2-7773-FECD-A6E3-E312665B3FA7}"/>
              </a:ext>
            </a:extLst>
          </p:cNvPr>
          <p:cNvGrpSpPr/>
          <p:nvPr/>
        </p:nvGrpSpPr>
        <p:grpSpPr>
          <a:xfrm>
            <a:off x="2350813" y="9113698"/>
            <a:ext cx="140028" cy="140028"/>
            <a:chOff x="0" y="0"/>
            <a:chExt cx="6350000" cy="6350000"/>
          </a:xfrm>
        </p:grpSpPr>
        <p:sp>
          <p:nvSpPr>
            <p:cNvPr id="17" name="Freeform 17">
              <a:extLst>
                <a:ext uri="{FF2B5EF4-FFF2-40B4-BE49-F238E27FC236}">
                  <a16:creationId xmlns:a16="http://schemas.microsoft.com/office/drawing/2014/main" id="{A5A6EC95-4443-D6BC-35CB-269B1061252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36F8DF4D-02C7-032E-0BE7-240813B2A7FE}"/>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653A5D28-620D-C428-05DC-169349C9E15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F6DF883A-C001-89DD-C583-C73E6C227699}"/>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83752E45-554A-3653-3B83-F255B89BA30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28C02413-B97F-7989-BA8D-83C87A74A27B}"/>
              </a:ext>
            </a:extLst>
          </p:cNvPr>
          <p:cNvGrpSpPr/>
          <p:nvPr/>
        </p:nvGrpSpPr>
        <p:grpSpPr>
          <a:xfrm>
            <a:off x="17435536" y="250632"/>
            <a:ext cx="472496" cy="541606"/>
            <a:chOff x="0" y="0"/>
            <a:chExt cx="1078838" cy="1236634"/>
          </a:xfrm>
        </p:grpSpPr>
        <p:sp>
          <p:nvSpPr>
            <p:cNvPr id="23" name="Freeform 23">
              <a:extLst>
                <a:ext uri="{FF2B5EF4-FFF2-40B4-BE49-F238E27FC236}">
                  <a16:creationId xmlns:a16="http://schemas.microsoft.com/office/drawing/2014/main" id="{20AE7B58-E10A-BA8D-08B4-6196B8F30EE9}"/>
                </a:ext>
              </a:extLst>
            </p:cNvPr>
            <p:cNvSpPr/>
            <p:nvPr/>
          </p:nvSpPr>
          <p:spPr>
            <a:xfrm>
              <a:off x="0" y="0"/>
              <a:ext cx="1078838" cy="1236634"/>
            </a:xfrm>
            <a:custGeom>
              <a:avLst/>
              <a:gdLst/>
              <a:ahLst/>
              <a:cxnLst/>
              <a:rect l="l" t="t" r="r" b="b"/>
              <a:pathLst>
                <a:path w="1078838" h="1236634">
                  <a:moveTo>
                    <a:pt x="539419" y="0"/>
                  </a:moveTo>
                  <a:cubicBezTo>
                    <a:pt x="241506" y="0"/>
                    <a:pt x="0" y="276830"/>
                    <a:pt x="0" y="618317"/>
                  </a:cubicBezTo>
                  <a:cubicBezTo>
                    <a:pt x="0" y="959804"/>
                    <a:pt x="241506" y="1236634"/>
                    <a:pt x="539419" y="1236634"/>
                  </a:cubicBezTo>
                  <a:cubicBezTo>
                    <a:pt x="837332" y="1236634"/>
                    <a:pt x="1078838" y="959804"/>
                    <a:pt x="1078838" y="618317"/>
                  </a:cubicBezTo>
                  <a:cubicBezTo>
                    <a:pt x="1078838" y="276830"/>
                    <a:pt x="837332" y="0"/>
                    <a:pt x="539419"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311B17FB-E32B-F0C2-16E3-C1FD62E6A153}"/>
                </a:ext>
              </a:extLst>
            </p:cNvPr>
            <p:cNvSpPr txBox="1"/>
            <p:nvPr/>
          </p:nvSpPr>
          <p:spPr>
            <a:xfrm>
              <a:off x="101141" y="87359"/>
              <a:ext cx="876556" cy="1033340"/>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2</a:t>
              </a:r>
            </a:p>
          </p:txBody>
        </p:sp>
      </p:grpSp>
      <p:sp>
        <p:nvSpPr>
          <p:cNvPr id="25" name="TextBox 25">
            <a:extLst>
              <a:ext uri="{FF2B5EF4-FFF2-40B4-BE49-F238E27FC236}">
                <a16:creationId xmlns:a16="http://schemas.microsoft.com/office/drawing/2014/main" id="{2BEE719D-D04E-F188-6721-41F2CFF23569}"/>
              </a:ext>
            </a:extLst>
          </p:cNvPr>
          <p:cNvSpPr txBox="1"/>
          <p:nvPr/>
        </p:nvSpPr>
        <p:spPr>
          <a:xfrm>
            <a:off x="1028700" y="1028700"/>
            <a:ext cx="10172700" cy="2205732"/>
          </a:xfrm>
          <a:prstGeom prst="rect">
            <a:avLst/>
          </a:prstGeom>
        </p:spPr>
        <p:txBody>
          <a:bodyPr wrap="square" lIns="0" tIns="0" rIns="0" bIns="0" rtlCol="0" anchor="t">
            <a:spAutoFit/>
          </a:bodyPr>
          <a:lstStyle/>
          <a:p>
            <a:pPr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Vai trò của phân tích dữ liệu bán lẻ</a:t>
            </a:r>
          </a:p>
        </p:txBody>
      </p:sp>
      <p:sp>
        <p:nvSpPr>
          <p:cNvPr id="26" name="TextBox 26">
            <a:extLst>
              <a:ext uri="{FF2B5EF4-FFF2-40B4-BE49-F238E27FC236}">
                <a16:creationId xmlns:a16="http://schemas.microsoft.com/office/drawing/2014/main" id="{0C7890BA-6CC4-A4CB-86B7-81ECB1A5C99E}"/>
              </a:ext>
            </a:extLst>
          </p:cNvPr>
          <p:cNvSpPr txBox="1"/>
          <p:nvPr/>
        </p:nvSpPr>
        <p:spPr>
          <a:xfrm>
            <a:off x="900549" y="4269767"/>
            <a:ext cx="7710051" cy="3333670"/>
          </a:xfrm>
          <a:prstGeom prst="rect">
            <a:avLst/>
          </a:prstGeom>
        </p:spPr>
        <p:txBody>
          <a:bodyPr wrap="square" lIns="0" tIns="0" rIns="0" bIns="0" rtlCol="0" anchor="t">
            <a:spAutoFit/>
          </a:bodyPr>
          <a:lstStyle/>
          <a:p>
            <a:pPr marL="575190" lvl="1" indent="-287595" algn="l">
              <a:lnSpc>
                <a:spcPts val="5328"/>
              </a:lnSpc>
              <a:buFont typeface="Arial"/>
              <a:buChar char="•"/>
            </a:pPr>
            <a:r>
              <a:rPr lang="en-US" sz="3500">
                <a:solidFill>
                  <a:srgbClr val="A6A6A6"/>
                </a:solidFill>
                <a:latin typeface="Times New Roman" panose="02020603050405020304" pitchFamily="18" charset="0"/>
                <a:ea typeface="Garet"/>
                <a:cs typeface="Times New Roman" panose="02020603050405020304" pitchFamily="18" charset="0"/>
                <a:sym typeface="Garet"/>
              </a:rPr>
              <a:t>Hiểu hành vi của khách hàng</a:t>
            </a:r>
          </a:p>
          <a:p>
            <a:pPr marL="575190" lvl="1" indent="-287595" algn="l">
              <a:lnSpc>
                <a:spcPts val="5328"/>
              </a:lnSpc>
              <a:buFont typeface="Arial"/>
              <a:buChar char="•"/>
            </a:pPr>
            <a:r>
              <a:rPr lang="en-US" sz="3500">
                <a:solidFill>
                  <a:srgbClr val="A6A6A6"/>
                </a:solidFill>
                <a:latin typeface="Times New Roman" panose="02020603050405020304" pitchFamily="18" charset="0"/>
                <a:ea typeface="Garet"/>
                <a:cs typeface="Times New Roman" panose="02020603050405020304" pitchFamily="18" charset="0"/>
                <a:sym typeface="Garet"/>
              </a:rPr>
              <a:t>Tối ưu hóa doanh thu &amp; lợi nhuận</a:t>
            </a:r>
          </a:p>
          <a:p>
            <a:pPr marL="575190" lvl="1" indent="-287595" algn="l">
              <a:lnSpc>
                <a:spcPts val="5328"/>
              </a:lnSpc>
              <a:buFont typeface="Arial"/>
              <a:buChar char="•"/>
            </a:pPr>
            <a:r>
              <a:rPr lang="en-US" sz="3500">
                <a:solidFill>
                  <a:srgbClr val="A6A6A6"/>
                </a:solidFill>
                <a:latin typeface="Times New Roman" panose="02020603050405020304" pitchFamily="18" charset="0"/>
                <a:ea typeface="Garet"/>
                <a:cs typeface="Times New Roman" panose="02020603050405020304" pitchFamily="18" charset="0"/>
                <a:sym typeface="Garet"/>
              </a:rPr>
              <a:t>Hỗ trợ đưa ra quyết định kinh doanh</a:t>
            </a:r>
          </a:p>
          <a:p>
            <a:pPr marL="575190" lvl="1" indent="-287595" algn="l">
              <a:lnSpc>
                <a:spcPts val="5328"/>
              </a:lnSpc>
              <a:buFont typeface="Arial"/>
              <a:buChar char="•"/>
            </a:pPr>
            <a:r>
              <a:rPr lang="en-US" sz="3500">
                <a:solidFill>
                  <a:srgbClr val="A6A6A6"/>
                </a:solidFill>
                <a:latin typeface="Times New Roman" panose="02020603050405020304" pitchFamily="18" charset="0"/>
                <a:ea typeface="Garet"/>
                <a:cs typeface="Times New Roman" panose="02020603050405020304" pitchFamily="18" charset="0"/>
                <a:sym typeface="Garet"/>
              </a:rPr>
              <a:t>Dự đoán xu hướng của thị trường</a:t>
            </a:r>
          </a:p>
          <a:p>
            <a:pPr marL="575190" lvl="1" indent="-287595" algn="l">
              <a:lnSpc>
                <a:spcPts val="5328"/>
              </a:lnSpc>
              <a:buFont typeface="Arial"/>
              <a:buChar char="•"/>
            </a:pPr>
            <a:r>
              <a:rPr lang="en-US" sz="3500">
                <a:solidFill>
                  <a:srgbClr val="A6A6A6"/>
                </a:solidFill>
                <a:latin typeface="Times New Roman" panose="02020603050405020304" pitchFamily="18" charset="0"/>
                <a:ea typeface="Garet"/>
                <a:cs typeface="Times New Roman" panose="02020603050405020304" pitchFamily="18" charset="0"/>
                <a:sym typeface="Garet"/>
              </a:rPr>
              <a:t>Nâng cao trải nghiệm khách hàng</a:t>
            </a:r>
          </a:p>
        </p:txBody>
      </p:sp>
      <p:grpSp>
        <p:nvGrpSpPr>
          <p:cNvPr id="39" name="Group 39">
            <a:extLst>
              <a:ext uri="{FF2B5EF4-FFF2-40B4-BE49-F238E27FC236}">
                <a16:creationId xmlns:a16="http://schemas.microsoft.com/office/drawing/2014/main" id="{4D348871-BB04-7BB3-5029-10661FDD52B6}"/>
              </a:ext>
            </a:extLst>
          </p:cNvPr>
          <p:cNvGrpSpPr/>
          <p:nvPr/>
        </p:nvGrpSpPr>
        <p:grpSpPr>
          <a:xfrm>
            <a:off x="4333983" y="9118272"/>
            <a:ext cx="140028" cy="140028"/>
            <a:chOff x="0" y="0"/>
            <a:chExt cx="6350000" cy="6350000"/>
          </a:xfrm>
        </p:grpSpPr>
        <p:sp>
          <p:nvSpPr>
            <p:cNvPr id="40" name="Freeform 40">
              <a:extLst>
                <a:ext uri="{FF2B5EF4-FFF2-40B4-BE49-F238E27FC236}">
                  <a16:creationId xmlns:a16="http://schemas.microsoft.com/office/drawing/2014/main" id="{0576F0F7-B4C4-792B-97BC-005C8BABF4C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1" name="Group 41">
            <a:extLst>
              <a:ext uri="{FF2B5EF4-FFF2-40B4-BE49-F238E27FC236}">
                <a16:creationId xmlns:a16="http://schemas.microsoft.com/office/drawing/2014/main" id="{5D9B382E-9DDF-3C46-DA92-355FD43FFEF0}"/>
              </a:ext>
            </a:extLst>
          </p:cNvPr>
          <p:cNvGrpSpPr/>
          <p:nvPr/>
        </p:nvGrpSpPr>
        <p:grpSpPr>
          <a:xfrm>
            <a:off x="4664512" y="9122846"/>
            <a:ext cx="140028" cy="140028"/>
            <a:chOff x="0" y="0"/>
            <a:chExt cx="6350000" cy="6350000"/>
          </a:xfrm>
        </p:grpSpPr>
        <p:sp>
          <p:nvSpPr>
            <p:cNvPr id="42" name="Freeform 42">
              <a:extLst>
                <a:ext uri="{FF2B5EF4-FFF2-40B4-BE49-F238E27FC236}">
                  <a16:creationId xmlns:a16="http://schemas.microsoft.com/office/drawing/2014/main" id="{288C91D6-2F7A-56C1-732C-36F9A8A1EFB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3" name="Group 43">
            <a:extLst>
              <a:ext uri="{FF2B5EF4-FFF2-40B4-BE49-F238E27FC236}">
                <a16:creationId xmlns:a16="http://schemas.microsoft.com/office/drawing/2014/main" id="{EFEF27D0-9B71-E52D-DB10-8FF3DD1AC4DE}"/>
              </a:ext>
            </a:extLst>
          </p:cNvPr>
          <p:cNvGrpSpPr/>
          <p:nvPr/>
        </p:nvGrpSpPr>
        <p:grpSpPr>
          <a:xfrm>
            <a:off x="4995040" y="9127420"/>
            <a:ext cx="140028" cy="140028"/>
            <a:chOff x="0" y="0"/>
            <a:chExt cx="6350000" cy="6350000"/>
          </a:xfrm>
        </p:grpSpPr>
        <p:sp>
          <p:nvSpPr>
            <p:cNvPr id="44" name="Freeform 44">
              <a:extLst>
                <a:ext uri="{FF2B5EF4-FFF2-40B4-BE49-F238E27FC236}">
                  <a16:creationId xmlns:a16="http://schemas.microsoft.com/office/drawing/2014/main" id="{D599C85E-CE66-1C8E-E225-E49351E5856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pic>
        <p:nvPicPr>
          <p:cNvPr id="1026" name="Picture 2" descr="Retail Marketing: Key Components and Types">
            <a:extLst>
              <a:ext uri="{FF2B5EF4-FFF2-40B4-BE49-F238E27FC236}">
                <a16:creationId xmlns:a16="http://schemas.microsoft.com/office/drawing/2014/main" id="{CDDA287E-CAB9-B17C-1BA3-04E19C151A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215" t="12013" r="7504" b="21307"/>
          <a:stretch>
            <a:fillRect/>
          </a:stretch>
        </p:blipFill>
        <p:spPr bwMode="auto">
          <a:xfrm>
            <a:off x="8913982" y="3234432"/>
            <a:ext cx="8757801" cy="5442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687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2681342" y="9113698"/>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20285"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3011870"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p:cNvGrpSpPr/>
          <p:nvPr/>
        </p:nvGrpSpPr>
        <p:grpSpPr>
          <a:xfrm>
            <a:off x="2350813"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17435536" y="250632"/>
            <a:ext cx="472496" cy="541606"/>
            <a:chOff x="0" y="0"/>
            <a:chExt cx="1078838" cy="1236634"/>
          </a:xfrm>
        </p:grpSpPr>
        <p:sp>
          <p:nvSpPr>
            <p:cNvPr id="23" name="Freeform 23"/>
            <p:cNvSpPr/>
            <p:nvPr/>
          </p:nvSpPr>
          <p:spPr>
            <a:xfrm>
              <a:off x="0" y="0"/>
              <a:ext cx="1078838" cy="1236634"/>
            </a:xfrm>
            <a:custGeom>
              <a:avLst/>
              <a:gdLst/>
              <a:ahLst/>
              <a:cxnLst/>
              <a:rect l="l" t="t" r="r" b="b"/>
              <a:pathLst>
                <a:path w="1078838" h="1236634">
                  <a:moveTo>
                    <a:pt x="539419" y="0"/>
                  </a:moveTo>
                  <a:cubicBezTo>
                    <a:pt x="241506" y="0"/>
                    <a:pt x="0" y="276830"/>
                    <a:pt x="0" y="618317"/>
                  </a:cubicBezTo>
                  <a:cubicBezTo>
                    <a:pt x="0" y="959804"/>
                    <a:pt x="241506" y="1236634"/>
                    <a:pt x="539419" y="1236634"/>
                  </a:cubicBezTo>
                  <a:cubicBezTo>
                    <a:pt x="837332" y="1236634"/>
                    <a:pt x="1078838" y="959804"/>
                    <a:pt x="1078838" y="618317"/>
                  </a:cubicBezTo>
                  <a:cubicBezTo>
                    <a:pt x="1078838" y="276830"/>
                    <a:pt x="837332" y="0"/>
                    <a:pt x="539419"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p:cNvSpPr txBox="1"/>
            <p:nvPr/>
          </p:nvSpPr>
          <p:spPr>
            <a:xfrm>
              <a:off x="101141" y="87359"/>
              <a:ext cx="876556" cy="1033340"/>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2</a:t>
              </a:r>
            </a:p>
          </p:txBody>
        </p:sp>
      </p:grpSp>
      <p:sp>
        <p:nvSpPr>
          <p:cNvPr id="25" name="TextBox 25"/>
          <p:cNvSpPr txBox="1"/>
          <p:nvPr/>
        </p:nvSpPr>
        <p:spPr>
          <a:xfrm>
            <a:off x="1028700" y="1028700"/>
            <a:ext cx="7505700" cy="1102866"/>
          </a:xfrm>
          <a:prstGeom prst="rect">
            <a:avLst/>
          </a:prstGeom>
        </p:spPr>
        <p:txBody>
          <a:bodyPr wrap="square" lIns="0" tIns="0" rIns="0" bIns="0" rtlCol="0" anchor="t">
            <a:spAutoFit/>
          </a:bodyPr>
          <a:lstStyle/>
          <a:p>
            <a:pPr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Mục tiêu đề tài</a:t>
            </a:r>
          </a:p>
        </p:txBody>
      </p:sp>
      <p:sp>
        <p:nvSpPr>
          <p:cNvPr id="27" name="TextBox 27"/>
          <p:cNvSpPr txBox="1"/>
          <p:nvPr/>
        </p:nvSpPr>
        <p:spPr>
          <a:xfrm>
            <a:off x="1028700" y="3003105"/>
            <a:ext cx="11088623" cy="4280787"/>
          </a:xfrm>
          <a:prstGeom prst="rect">
            <a:avLst/>
          </a:prstGeom>
        </p:spPr>
        <p:txBody>
          <a:bodyPr wrap="square" lIns="0" tIns="0" rIns="0" bIns="0" rtlCol="0" anchor="t">
            <a:spAutoFit/>
          </a:bodyPr>
          <a:lstStyle/>
          <a:p>
            <a:pPr marL="575190" lvl="1" indent="-287595" algn="l">
              <a:lnSpc>
                <a:spcPct val="150000"/>
              </a:lnSpc>
              <a:buFont typeface="Arial"/>
              <a:buChar char="•"/>
            </a:pPr>
            <a:r>
              <a:rPr lang="en-US" sz="3800">
                <a:solidFill>
                  <a:srgbClr val="A6A6A6"/>
                </a:solidFill>
                <a:latin typeface="Times New Roman" panose="02020603050405020304" pitchFamily="18" charset="0"/>
                <a:ea typeface="Garet"/>
                <a:cs typeface="Times New Roman" panose="02020603050405020304" pitchFamily="18" charset="0"/>
                <a:sym typeface="Garet"/>
              </a:rPr>
              <a:t>Có khả năng xử lý khối lượng dữ liệu lớn và liên tục</a:t>
            </a:r>
          </a:p>
          <a:p>
            <a:pPr marL="575190" lvl="1" indent="-287595">
              <a:lnSpc>
                <a:spcPct val="150000"/>
              </a:lnSpc>
              <a:buFont typeface="Arial"/>
              <a:buChar char="•"/>
            </a:pPr>
            <a:r>
              <a:rPr lang="en-US" sz="3800">
                <a:solidFill>
                  <a:srgbClr val="A6A6A6"/>
                </a:solidFill>
                <a:latin typeface="Times New Roman" panose="02020603050405020304" pitchFamily="18" charset="0"/>
                <a:ea typeface="Garet"/>
                <a:cs typeface="Times New Roman" panose="02020603050405020304" pitchFamily="18" charset="0"/>
                <a:sym typeface="Garet"/>
              </a:rPr>
              <a:t>Tận dụng sức mạnh của xử lý song song và phân tán</a:t>
            </a:r>
          </a:p>
          <a:p>
            <a:pPr marL="575190" lvl="1" indent="-287595" algn="l">
              <a:lnSpc>
                <a:spcPct val="150000"/>
              </a:lnSpc>
              <a:buFont typeface="Arial"/>
              <a:buChar char="•"/>
            </a:pPr>
            <a:r>
              <a:rPr lang="en-US" sz="3800">
                <a:solidFill>
                  <a:srgbClr val="A6A6A6"/>
                </a:solidFill>
                <a:latin typeface="Times New Roman" panose="02020603050405020304" pitchFamily="18" charset="0"/>
                <a:ea typeface="Garet"/>
                <a:cs typeface="Times New Roman" panose="02020603050405020304" pitchFamily="18" charset="0"/>
                <a:sym typeface="Garet"/>
              </a:rPr>
              <a:t>Có khả năng chịu lỗi</a:t>
            </a:r>
          </a:p>
          <a:p>
            <a:pPr marL="575190" lvl="1" indent="-287595" algn="l">
              <a:lnSpc>
                <a:spcPct val="150000"/>
              </a:lnSpc>
              <a:buFont typeface="Arial"/>
              <a:buChar char="•"/>
            </a:pPr>
            <a:r>
              <a:rPr lang="en-US" sz="3800">
                <a:solidFill>
                  <a:srgbClr val="A6A6A6"/>
                </a:solidFill>
                <a:latin typeface="Times New Roman" panose="02020603050405020304" pitchFamily="18" charset="0"/>
                <a:ea typeface="Garet"/>
                <a:cs typeface="Times New Roman" panose="02020603050405020304" pitchFamily="18" charset="0"/>
                <a:sym typeface="Garet"/>
              </a:rPr>
              <a:t>Có khả năng mở rộng cho tương lai</a:t>
            </a:r>
          </a:p>
          <a:p>
            <a:pPr marL="575190" lvl="1" indent="-287595" algn="l">
              <a:lnSpc>
                <a:spcPct val="150000"/>
              </a:lnSpc>
              <a:buFont typeface="Arial"/>
              <a:buChar char="•"/>
            </a:pPr>
            <a:r>
              <a:rPr lang="en-US" sz="3800">
                <a:solidFill>
                  <a:srgbClr val="A6A6A6"/>
                </a:solidFill>
                <a:latin typeface="Times New Roman" panose="02020603050405020304" pitchFamily="18" charset="0"/>
                <a:ea typeface="Garet"/>
                <a:cs typeface="Times New Roman" panose="02020603050405020304" pitchFamily="18" charset="0"/>
                <a:sym typeface="Garet"/>
              </a:rPr>
              <a:t>Tự động hóa quy trình</a:t>
            </a:r>
          </a:p>
        </p:txBody>
      </p:sp>
      <p:grpSp>
        <p:nvGrpSpPr>
          <p:cNvPr id="39" name="Group 39"/>
          <p:cNvGrpSpPr/>
          <p:nvPr/>
        </p:nvGrpSpPr>
        <p:grpSpPr>
          <a:xfrm>
            <a:off x="4333983" y="9118272"/>
            <a:ext cx="140028" cy="140028"/>
            <a:chOff x="0" y="0"/>
            <a:chExt cx="6350000" cy="6350000"/>
          </a:xfrm>
        </p:grpSpPr>
        <p:sp>
          <p:nvSpPr>
            <p:cNvPr id="40" name="Freeform 4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1" name="Group 41"/>
          <p:cNvGrpSpPr/>
          <p:nvPr/>
        </p:nvGrpSpPr>
        <p:grpSpPr>
          <a:xfrm>
            <a:off x="4664512" y="9122846"/>
            <a:ext cx="140028" cy="140028"/>
            <a:chOff x="0" y="0"/>
            <a:chExt cx="6350000" cy="6350000"/>
          </a:xfrm>
        </p:grpSpPr>
        <p:sp>
          <p:nvSpPr>
            <p:cNvPr id="42" name="Freeform 4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3" name="Group 43"/>
          <p:cNvGrpSpPr/>
          <p:nvPr/>
        </p:nvGrpSpPr>
        <p:grpSpPr>
          <a:xfrm>
            <a:off x="4995040" y="9127420"/>
            <a:ext cx="140028" cy="140028"/>
            <a:chOff x="0" y="0"/>
            <a:chExt cx="6350000" cy="6350000"/>
          </a:xfrm>
        </p:grpSpPr>
        <p:sp>
          <p:nvSpPr>
            <p:cNvPr id="44" name="Freeform 4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pic>
        <p:nvPicPr>
          <p:cNvPr id="1028" name="Picture 4" descr="Arrow target icon 18923665 PNG">
            <a:extLst>
              <a:ext uri="{FF2B5EF4-FFF2-40B4-BE49-F238E27FC236}">
                <a16:creationId xmlns:a16="http://schemas.microsoft.com/office/drawing/2014/main" id="{8A00E822-8B5D-B491-E7EB-EF036CE5C2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67983" y="2571749"/>
            <a:ext cx="5022850"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2681342" y="9113698"/>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020285"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3011870"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p:cNvGrpSpPr/>
          <p:nvPr/>
        </p:nvGrpSpPr>
        <p:grpSpPr>
          <a:xfrm>
            <a:off x="2350813"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16786735" y="1028700"/>
            <a:ext cx="472565" cy="541606"/>
            <a:chOff x="0" y="0"/>
            <a:chExt cx="1248138" cy="1430489"/>
          </a:xfrm>
        </p:grpSpPr>
        <p:sp>
          <p:nvSpPr>
            <p:cNvPr id="23" name="Freeform 23"/>
            <p:cNvSpPr/>
            <p:nvPr/>
          </p:nvSpPr>
          <p:spPr>
            <a:xfrm>
              <a:off x="0" y="0"/>
              <a:ext cx="1248138" cy="1430489"/>
            </a:xfrm>
            <a:custGeom>
              <a:avLst/>
              <a:gdLst/>
              <a:ahLst/>
              <a:cxnLst/>
              <a:rect l="l" t="t" r="r" b="b"/>
              <a:pathLst>
                <a:path w="1248138" h="1430489">
                  <a:moveTo>
                    <a:pt x="624069" y="0"/>
                  </a:moveTo>
                  <a:cubicBezTo>
                    <a:pt x="279405" y="0"/>
                    <a:pt x="0" y="320226"/>
                    <a:pt x="0" y="715244"/>
                  </a:cubicBezTo>
                  <a:cubicBezTo>
                    <a:pt x="0" y="1110263"/>
                    <a:pt x="279405" y="1430489"/>
                    <a:pt x="624069" y="1430489"/>
                  </a:cubicBezTo>
                  <a:cubicBezTo>
                    <a:pt x="968733" y="1430489"/>
                    <a:pt x="1248138" y="1110263"/>
                    <a:pt x="1248138" y="715244"/>
                  </a:cubicBezTo>
                  <a:cubicBezTo>
                    <a:pt x="1248138" y="320226"/>
                    <a:pt x="968733" y="0"/>
                    <a:pt x="624069"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p:cNvSpPr txBox="1"/>
            <p:nvPr/>
          </p:nvSpPr>
          <p:spPr>
            <a:xfrm>
              <a:off x="117013" y="105533"/>
              <a:ext cx="1014112" cy="1190847"/>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4</a:t>
              </a:r>
            </a:p>
          </p:txBody>
        </p:sp>
      </p:grpSp>
      <p:sp>
        <p:nvSpPr>
          <p:cNvPr id="26" name="TextBox 26"/>
          <p:cNvSpPr txBox="1"/>
          <p:nvPr/>
        </p:nvSpPr>
        <p:spPr>
          <a:xfrm>
            <a:off x="1028700" y="1028700"/>
            <a:ext cx="5148575" cy="112774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Dữ liệu</a:t>
            </a:r>
          </a:p>
        </p:txBody>
      </p:sp>
      <p:sp>
        <p:nvSpPr>
          <p:cNvPr id="27" name="TextBox 27"/>
          <p:cNvSpPr txBox="1"/>
          <p:nvPr/>
        </p:nvSpPr>
        <p:spPr>
          <a:xfrm>
            <a:off x="1028700" y="3543300"/>
            <a:ext cx="9366735" cy="2955746"/>
          </a:xfrm>
          <a:prstGeom prst="rect">
            <a:avLst/>
          </a:prstGeom>
        </p:spPr>
        <p:txBody>
          <a:bodyPr lIns="0" tIns="0" rIns="0" bIns="0" rtlCol="0" anchor="t">
            <a:spAutoFit/>
          </a:bodyPr>
          <a:lstStyle/>
          <a:p>
            <a:pPr marL="518160" lvl="1" indent="-259080" algn="l">
              <a:lnSpc>
                <a:spcPct val="1500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Dữ liệu được lấy trên Kaggle</a:t>
            </a:r>
          </a:p>
          <a:p>
            <a:pPr marL="518160" lvl="1" indent="-259080" algn="l">
              <a:lnSpc>
                <a:spcPct val="1500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Là một bộ dữ liệu giao dịch bán lẻ trực tuyến của 1 doanh nghiệp bán lẻ trong 2 năm</a:t>
            </a:r>
            <a:endParaRPr lang="en-US" sz="3300" b="1">
              <a:solidFill>
                <a:srgbClr val="A6A6A6"/>
              </a:solidFill>
              <a:latin typeface="Times New Roman" panose="02020603050405020304" pitchFamily="18" charset="0"/>
              <a:ea typeface="Garet Bold"/>
              <a:cs typeface="Times New Roman" panose="02020603050405020304" pitchFamily="18" charset="0"/>
              <a:sym typeface="Garet Bold"/>
            </a:endParaRPr>
          </a:p>
          <a:p>
            <a:pPr marL="518160" lvl="1" indent="-259080" algn="l">
              <a:lnSpc>
                <a:spcPct val="1500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Có khoảng 1 triệu bản ghi</a:t>
            </a:r>
          </a:p>
        </p:txBody>
      </p:sp>
      <p:grpSp>
        <p:nvGrpSpPr>
          <p:cNvPr id="28" name="Group 28"/>
          <p:cNvGrpSpPr/>
          <p:nvPr/>
        </p:nvGrpSpPr>
        <p:grpSpPr>
          <a:xfrm>
            <a:off x="4333983" y="9118272"/>
            <a:ext cx="140028" cy="140028"/>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0" name="Group 30"/>
          <p:cNvGrpSpPr/>
          <p:nvPr/>
        </p:nvGrpSpPr>
        <p:grpSpPr>
          <a:xfrm>
            <a:off x="4664512" y="9122846"/>
            <a:ext cx="140028" cy="140028"/>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2" name="Group 32"/>
          <p:cNvGrpSpPr/>
          <p:nvPr/>
        </p:nvGrpSpPr>
        <p:grpSpPr>
          <a:xfrm>
            <a:off x="4995040" y="9127420"/>
            <a:ext cx="140028" cy="140028"/>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pic>
        <p:nvPicPr>
          <p:cNvPr id="2050" name="Picture 2" descr="Step-by-Step Guide to Downloading Kaggle Datasets on Colab | by Sanjeev ...">
            <a:extLst>
              <a:ext uri="{FF2B5EF4-FFF2-40B4-BE49-F238E27FC236}">
                <a16:creationId xmlns:a16="http://schemas.microsoft.com/office/drawing/2014/main" id="{BBA18CC9-D2ED-B272-80A0-07FBA0CBD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943987"/>
            <a:ext cx="6952922" cy="46352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p:cNvGrpSpPr/>
          <p:nvPr/>
        </p:nvGrpSpPr>
        <p:grpSpPr>
          <a:xfrm>
            <a:off x="2681342" y="9113698"/>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p:cNvGrpSpPr/>
          <p:nvPr/>
        </p:nvGrpSpPr>
        <p:grpSpPr>
          <a:xfrm>
            <a:off x="2350813"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p:cNvGrpSpPr/>
          <p:nvPr/>
        </p:nvGrpSpPr>
        <p:grpSpPr>
          <a:xfrm>
            <a:off x="2020285"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p:cNvGrpSpPr/>
          <p:nvPr/>
        </p:nvGrpSpPr>
        <p:grpSpPr>
          <a:xfrm>
            <a:off x="3011870"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p:cNvGrpSpPr/>
          <p:nvPr/>
        </p:nvGrpSpPr>
        <p:grpSpPr>
          <a:xfrm>
            <a:off x="16786435" y="1028700"/>
            <a:ext cx="472865" cy="541606"/>
            <a:chOff x="0" y="0"/>
            <a:chExt cx="1234626" cy="1414106"/>
          </a:xfrm>
        </p:grpSpPr>
        <p:sp>
          <p:nvSpPr>
            <p:cNvPr id="23" name="Freeform 23"/>
            <p:cNvSpPr/>
            <p:nvPr/>
          </p:nvSpPr>
          <p:spPr>
            <a:xfrm>
              <a:off x="0" y="0"/>
              <a:ext cx="1234626" cy="1414106"/>
            </a:xfrm>
            <a:custGeom>
              <a:avLst/>
              <a:gdLst/>
              <a:ahLst/>
              <a:cxnLst/>
              <a:rect l="l" t="t" r="r" b="b"/>
              <a:pathLst>
                <a:path w="1234626" h="1414106">
                  <a:moveTo>
                    <a:pt x="617313" y="0"/>
                  </a:moveTo>
                  <a:cubicBezTo>
                    <a:pt x="276381" y="0"/>
                    <a:pt x="0" y="316558"/>
                    <a:pt x="0" y="707053"/>
                  </a:cubicBezTo>
                  <a:cubicBezTo>
                    <a:pt x="0" y="1097548"/>
                    <a:pt x="276381" y="1414106"/>
                    <a:pt x="617313" y="1414106"/>
                  </a:cubicBezTo>
                  <a:cubicBezTo>
                    <a:pt x="958246" y="1414106"/>
                    <a:pt x="1234626" y="1097548"/>
                    <a:pt x="1234626" y="707053"/>
                  </a:cubicBezTo>
                  <a:cubicBezTo>
                    <a:pt x="1234626" y="316558"/>
                    <a:pt x="958246" y="0"/>
                    <a:pt x="617313"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p:cNvSpPr txBox="1"/>
            <p:nvPr/>
          </p:nvSpPr>
          <p:spPr>
            <a:xfrm>
              <a:off x="115746" y="103997"/>
              <a:ext cx="1003134" cy="1177536"/>
            </a:xfrm>
            <a:prstGeom prst="rect">
              <a:avLst/>
            </a:prstGeom>
          </p:spPr>
          <p:txBody>
            <a:bodyPr lIns="50800" tIns="50800" rIns="50800" bIns="50800" rtlCol="0" anchor="ctr"/>
            <a:lstStyle/>
            <a:p>
              <a:pPr algn="ctr">
                <a:lnSpc>
                  <a:spcPts val="2399"/>
                </a:lnSpc>
              </a:pPr>
              <a:r>
                <a:rPr lang="en-US" sz="1599">
                  <a:solidFill>
                    <a:srgbClr val="000000"/>
                  </a:solidFill>
                  <a:latin typeface="Garet"/>
                  <a:ea typeface="Garet"/>
                  <a:cs typeface="Garet"/>
                  <a:sym typeface="Garet"/>
                </a:rPr>
                <a:t>6</a:t>
              </a:r>
            </a:p>
          </p:txBody>
        </p:sp>
      </p:grpSp>
      <p:sp>
        <p:nvSpPr>
          <p:cNvPr id="26" name="TextBox 26"/>
          <p:cNvSpPr txBox="1"/>
          <p:nvPr/>
        </p:nvSpPr>
        <p:spPr>
          <a:xfrm>
            <a:off x="1393095" y="1294030"/>
            <a:ext cx="8317623" cy="2205732"/>
          </a:xfrm>
          <a:prstGeom prst="rect">
            <a:avLst/>
          </a:prstGeom>
        </p:spPr>
        <p:txBody>
          <a:bodyPr wrap="square" lIns="0" tIns="0" rIns="0" bIns="0" rtlCol="0" anchor="t">
            <a:spAutoFit/>
          </a:bodyPr>
          <a:lstStyle/>
          <a:p>
            <a:pPr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Đặc điểm dữ liệu lớn của bài toán</a:t>
            </a:r>
          </a:p>
        </p:txBody>
      </p:sp>
      <p:sp>
        <p:nvSpPr>
          <p:cNvPr id="27" name="TextBox 27"/>
          <p:cNvSpPr txBox="1"/>
          <p:nvPr/>
        </p:nvSpPr>
        <p:spPr>
          <a:xfrm>
            <a:off x="1168728" y="3695700"/>
            <a:ext cx="12594789" cy="4263155"/>
          </a:xfrm>
          <a:prstGeom prst="rect">
            <a:avLst/>
          </a:prstGeom>
        </p:spPr>
        <p:txBody>
          <a:bodyPr wrap="square" lIns="0" tIns="0" rIns="0" bIns="0" rtlCol="0" anchor="t">
            <a:spAutoFit/>
          </a:bodyPr>
          <a:lstStyle/>
          <a:p>
            <a:pPr marL="518160" lvl="1" indent="-259080">
              <a:lnSpc>
                <a:spcPct val="200000"/>
              </a:lnSpc>
              <a:buFont typeface="Arial"/>
              <a:buChar char="•"/>
            </a:pPr>
            <a:r>
              <a:rPr lang="en-US" sz="3600">
                <a:solidFill>
                  <a:srgbClr val="A6A6A6"/>
                </a:solidFill>
                <a:latin typeface="Times New Roman" panose="02020603050405020304" pitchFamily="18" charset="0"/>
                <a:ea typeface="Garet"/>
                <a:cs typeface="Times New Roman" panose="02020603050405020304" pitchFamily="18" charset="0"/>
                <a:sym typeface="Garet"/>
              </a:rPr>
              <a:t>Volume: hàng trăm nghìn giao dịch</a:t>
            </a:r>
          </a:p>
          <a:p>
            <a:pPr marL="518160" lvl="1" indent="-259080">
              <a:lnSpc>
                <a:spcPct val="200000"/>
              </a:lnSpc>
              <a:buFont typeface="Arial"/>
              <a:buChar char="•"/>
            </a:pPr>
            <a:r>
              <a:rPr lang="en-US" sz="3600">
                <a:solidFill>
                  <a:srgbClr val="A6A6A6"/>
                </a:solidFill>
                <a:latin typeface="Times New Roman" panose="02020603050405020304" pitchFamily="18" charset="0"/>
                <a:ea typeface="Garet"/>
                <a:cs typeface="Times New Roman" panose="02020603050405020304" pitchFamily="18" charset="0"/>
                <a:sym typeface="Garet"/>
              </a:rPr>
              <a:t>Variety: đa dạng về nguồn gốc và định dạng</a:t>
            </a:r>
          </a:p>
          <a:p>
            <a:pPr marL="518160" lvl="1" indent="-259080">
              <a:lnSpc>
                <a:spcPct val="200000"/>
              </a:lnSpc>
              <a:buFont typeface="Arial"/>
              <a:buChar char="•"/>
            </a:pPr>
            <a:r>
              <a:rPr lang="en-US" sz="3600">
                <a:solidFill>
                  <a:srgbClr val="A6A6A6"/>
                </a:solidFill>
                <a:latin typeface="Times New Roman" panose="02020603050405020304" pitchFamily="18" charset="0"/>
                <a:ea typeface="Garet"/>
                <a:cs typeface="Times New Roman" panose="02020603050405020304" pitchFamily="18" charset="0"/>
                <a:sym typeface="Garet"/>
              </a:rPr>
              <a:t>Velocity: dữ liệu phát sinh liên tục</a:t>
            </a:r>
          </a:p>
          <a:p>
            <a:pPr marL="518160" lvl="1" indent="-259080">
              <a:lnSpc>
                <a:spcPct val="200000"/>
              </a:lnSpc>
              <a:buFont typeface="Arial"/>
              <a:buChar char="•"/>
            </a:pPr>
            <a:r>
              <a:rPr lang="en-US" sz="3600">
                <a:solidFill>
                  <a:srgbClr val="A6A6A6"/>
                </a:solidFill>
                <a:latin typeface="Times New Roman" panose="02020603050405020304" pitchFamily="18" charset="0"/>
                <a:ea typeface="Garet"/>
                <a:cs typeface="Times New Roman" panose="02020603050405020304" pitchFamily="18" charset="0"/>
                <a:sym typeface="Garet"/>
              </a:rPr>
              <a:t>Veracity: dữ liệu có thể chứa nhiễu</a:t>
            </a:r>
          </a:p>
        </p:txBody>
      </p:sp>
      <p:grpSp>
        <p:nvGrpSpPr>
          <p:cNvPr id="28" name="Group 28"/>
          <p:cNvGrpSpPr/>
          <p:nvPr/>
        </p:nvGrpSpPr>
        <p:grpSpPr>
          <a:xfrm>
            <a:off x="4333983" y="9118272"/>
            <a:ext cx="140028" cy="140028"/>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0" name="Group 30"/>
          <p:cNvGrpSpPr/>
          <p:nvPr/>
        </p:nvGrpSpPr>
        <p:grpSpPr>
          <a:xfrm>
            <a:off x="4664512" y="9122846"/>
            <a:ext cx="140028" cy="140028"/>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2" name="Group 32"/>
          <p:cNvGrpSpPr/>
          <p:nvPr/>
        </p:nvGrpSpPr>
        <p:grpSpPr>
          <a:xfrm>
            <a:off x="4995040" y="9127420"/>
            <a:ext cx="140028" cy="140028"/>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p:cNvGrpSpPr/>
          <p:nvPr/>
        </p:nvGrpSpPr>
        <p:grpSpPr>
          <a:xfrm>
            <a:off x="1689757" y="9113698"/>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p:cNvGrpSpPr/>
          <p:nvPr/>
        </p:nvGrpSpPr>
        <p:grpSpPr>
          <a:xfrm>
            <a:off x="2681342"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p:cNvGrpSpPr/>
          <p:nvPr/>
        </p:nvGrpSpPr>
        <p:grpSpPr>
          <a:xfrm>
            <a:off x="2020285"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p:cNvGrpSpPr/>
          <p:nvPr/>
        </p:nvGrpSpPr>
        <p:grpSpPr>
          <a:xfrm>
            <a:off x="3342398"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p:cNvGrpSpPr/>
          <p:nvPr/>
        </p:nvGrpSpPr>
        <p:grpSpPr>
          <a:xfrm>
            <a:off x="3011870"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p:cNvGrpSpPr/>
          <p:nvPr/>
        </p:nvGrpSpPr>
        <p:grpSpPr>
          <a:xfrm>
            <a:off x="2350813"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p:cNvGrpSpPr/>
          <p:nvPr/>
        </p:nvGrpSpPr>
        <p:grpSpPr>
          <a:xfrm>
            <a:off x="16782089" y="1028700"/>
            <a:ext cx="477211" cy="541606"/>
            <a:chOff x="0" y="0"/>
            <a:chExt cx="1245863" cy="1413979"/>
          </a:xfrm>
        </p:grpSpPr>
        <p:sp>
          <p:nvSpPr>
            <p:cNvPr id="23" name="Freeform 23"/>
            <p:cNvSpPr/>
            <p:nvPr/>
          </p:nvSpPr>
          <p:spPr>
            <a:xfrm>
              <a:off x="0" y="0"/>
              <a:ext cx="1245863" cy="1413979"/>
            </a:xfrm>
            <a:custGeom>
              <a:avLst/>
              <a:gdLst/>
              <a:ahLst/>
              <a:cxnLst/>
              <a:rect l="l" t="t" r="r" b="b"/>
              <a:pathLst>
                <a:path w="1245863" h="1413979">
                  <a:moveTo>
                    <a:pt x="622932" y="0"/>
                  </a:moveTo>
                  <a:cubicBezTo>
                    <a:pt x="278896" y="0"/>
                    <a:pt x="0" y="316530"/>
                    <a:pt x="0" y="706990"/>
                  </a:cubicBezTo>
                  <a:cubicBezTo>
                    <a:pt x="0" y="1097449"/>
                    <a:pt x="278896" y="1413979"/>
                    <a:pt x="622932" y="1413979"/>
                  </a:cubicBezTo>
                  <a:cubicBezTo>
                    <a:pt x="966967" y="1413979"/>
                    <a:pt x="1245863" y="1097449"/>
                    <a:pt x="1245863" y="706990"/>
                  </a:cubicBezTo>
                  <a:cubicBezTo>
                    <a:pt x="1245863" y="316530"/>
                    <a:pt x="966967" y="0"/>
                    <a:pt x="622932"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p:cNvSpPr txBox="1"/>
            <p:nvPr/>
          </p:nvSpPr>
          <p:spPr>
            <a:xfrm>
              <a:off x="116800" y="103986"/>
              <a:ext cx="1012264" cy="1177433"/>
            </a:xfrm>
            <a:prstGeom prst="rect">
              <a:avLst/>
            </a:prstGeom>
          </p:spPr>
          <p:txBody>
            <a:bodyPr lIns="50800" tIns="50800" rIns="50800" bIns="50800" rtlCol="0" anchor="ctr"/>
            <a:lstStyle/>
            <a:p>
              <a:pPr algn="ctr">
                <a:lnSpc>
                  <a:spcPts val="2399"/>
                </a:lnSpc>
              </a:pPr>
              <a:r>
                <a:rPr lang="en-US" sz="1599">
                  <a:solidFill>
                    <a:srgbClr val="000000"/>
                  </a:solidFill>
                  <a:latin typeface="Garet"/>
                  <a:ea typeface="Garet"/>
                  <a:cs typeface="Garet"/>
                  <a:sym typeface="Garet"/>
                </a:rPr>
                <a:t>3</a:t>
              </a:r>
            </a:p>
          </p:txBody>
        </p:sp>
      </p:grpSp>
      <p:sp>
        <p:nvSpPr>
          <p:cNvPr id="26" name="TextBox 26"/>
          <p:cNvSpPr txBox="1"/>
          <p:nvPr/>
        </p:nvSpPr>
        <p:spPr>
          <a:xfrm>
            <a:off x="1028700" y="1028700"/>
            <a:ext cx="5219700" cy="2205732"/>
          </a:xfrm>
          <a:prstGeom prst="rect">
            <a:avLst/>
          </a:prstGeom>
        </p:spPr>
        <p:txBody>
          <a:bodyPr wrap="square"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Kiến trúc hệ thống</a:t>
            </a:r>
          </a:p>
        </p:txBody>
      </p:sp>
      <p:grpSp>
        <p:nvGrpSpPr>
          <p:cNvPr id="27" name="Group 27"/>
          <p:cNvGrpSpPr/>
          <p:nvPr/>
        </p:nvGrpSpPr>
        <p:grpSpPr>
          <a:xfrm>
            <a:off x="4333983" y="9118272"/>
            <a:ext cx="140028" cy="140028"/>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9" name="Group 29"/>
          <p:cNvGrpSpPr/>
          <p:nvPr/>
        </p:nvGrpSpPr>
        <p:grpSpPr>
          <a:xfrm>
            <a:off x="4664512" y="9122846"/>
            <a:ext cx="140028" cy="140028"/>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1" name="Group 31"/>
          <p:cNvGrpSpPr/>
          <p:nvPr/>
        </p:nvGrpSpPr>
        <p:grpSpPr>
          <a:xfrm>
            <a:off x="4995040" y="9127420"/>
            <a:ext cx="140028" cy="140028"/>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pic>
        <p:nvPicPr>
          <p:cNvPr id="33" name="Picture 32" descr="A diagram of a computer server&#10;&#10;AI-generated content may be incorrect.">
            <a:extLst>
              <a:ext uri="{FF2B5EF4-FFF2-40B4-BE49-F238E27FC236}">
                <a16:creationId xmlns:a16="http://schemas.microsoft.com/office/drawing/2014/main" id="{E5817B21-B843-F046-2D0F-E91F49DD6D9A}"/>
              </a:ext>
            </a:extLst>
          </p:cNvPr>
          <p:cNvPicPr>
            <a:picLocks noChangeAspect="1"/>
          </p:cNvPicPr>
          <p:nvPr/>
        </p:nvPicPr>
        <p:blipFill>
          <a:blip r:embed="rId3"/>
          <a:stretch>
            <a:fillRect/>
          </a:stretch>
        </p:blipFill>
        <p:spPr>
          <a:xfrm>
            <a:off x="7270638" y="1366572"/>
            <a:ext cx="9183078" cy="80400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C20EE-7637-0398-B541-64FC78A7826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7939D81-07D8-C40E-C450-395A573BF9F7}"/>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615BD920-4E00-9F1E-8A03-F7EF270CBBC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a:extLst>
              <a:ext uri="{FF2B5EF4-FFF2-40B4-BE49-F238E27FC236}">
                <a16:creationId xmlns:a16="http://schemas.microsoft.com/office/drawing/2014/main" id="{D8F4597A-BACD-946C-9226-92A5A8D46969}"/>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78941C8A-9F29-ABFE-4A22-AD2ECDBF4A5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a:extLst>
              <a:ext uri="{FF2B5EF4-FFF2-40B4-BE49-F238E27FC236}">
                <a16:creationId xmlns:a16="http://schemas.microsoft.com/office/drawing/2014/main" id="{75A4EA03-3E07-B557-9EE2-ACD309D6683D}"/>
              </a:ext>
            </a:extLst>
          </p:cNvPr>
          <p:cNvGrpSpPr/>
          <p:nvPr/>
        </p:nvGrpSpPr>
        <p:grpSpPr>
          <a:xfrm>
            <a:off x="1689757" y="9113698"/>
            <a:ext cx="140028" cy="140028"/>
            <a:chOff x="0" y="0"/>
            <a:chExt cx="6350000" cy="6350000"/>
          </a:xfrm>
        </p:grpSpPr>
        <p:sp>
          <p:nvSpPr>
            <p:cNvPr id="7" name="Freeform 7">
              <a:extLst>
                <a:ext uri="{FF2B5EF4-FFF2-40B4-BE49-F238E27FC236}">
                  <a16:creationId xmlns:a16="http://schemas.microsoft.com/office/drawing/2014/main" id="{CC766C94-83B2-5838-01AC-DC2DDBFA125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a:extLst>
              <a:ext uri="{FF2B5EF4-FFF2-40B4-BE49-F238E27FC236}">
                <a16:creationId xmlns:a16="http://schemas.microsoft.com/office/drawing/2014/main" id="{8E00EC61-9F52-DAB5-893E-2C1D0C829FF1}"/>
              </a:ext>
            </a:extLst>
          </p:cNvPr>
          <p:cNvGrpSpPr/>
          <p:nvPr/>
        </p:nvGrpSpPr>
        <p:grpSpPr>
          <a:xfrm>
            <a:off x="2681342" y="9113698"/>
            <a:ext cx="140028" cy="140028"/>
            <a:chOff x="0" y="0"/>
            <a:chExt cx="6350000" cy="6350000"/>
          </a:xfrm>
        </p:grpSpPr>
        <p:sp>
          <p:nvSpPr>
            <p:cNvPr id="9" name="Freeform 9">
              <a:extLst>
                <a:ext uri="{FF2B5EF4-FFF2-40B4-BE49-F238E27FC236}">
                  <a16:creationId xmlns:a16="http://schemas.microsoft.com/office/drawing/2014/main" id="{972D8D69-DD91-1AD5-80AF-103BD3D44AB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a:extLst>
              <a:ext uri="{FF2B5EF4-FFF2-40B4-BE49-F238E27FC236}">
                <a16:creationId xmlns:a16="http://schemas.microsoft.com/office/drawing/2014/main" id="{7B5033D1-7FFE-714A-7EE8-4D747C697040}"/>
              </a:ext>
            </a:extLst>
          </p:cNvPr>
          <p:cNvGrpSpPr/>
          <p:nvPr/>
        </p:nvGrpSpPr>
        <p:grpSpPr>
          <a:xfrm>
            <a:off x="2020285" y="9113698"/>
            <a:ext cx="140028" cy="140028"/>
            <a:chOff x="0" y="0"/>
            <a:chExt cx="6350000" cy="6350000"/>
          </a:xfrm>
        </p:grpSpPr>
        <p:sp>
          <p:nvSpPr>
            <p:cNvPr id="11" name="Freeform 11">
              <a:extLst>
                <a:ext uri="{FF2B5EF4-FFF2-40B4-BE49-F238E27FC236}">
                  <a16:creationId xmlns:a16="http://schemas.microsoft.com/office/drawing/2014/main" id="{CD33F0F0-E041-8E52-AD7A-1A62431EBD7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a:extLst>
              <a:ext uri="{FF2B5EF4-FFF2-40B4-BE49-F238E27FC236}">
                <a16:creationId xmlns:a16="http://schemas.microsoft.com/office/drawing/2014/main" id="{E14C9259-A586-312C-400D-F2C8E25FF0D8}"/>
              </a:ext>
            </a:extLst>
          </p:cNvPr>
          <p:cNvGrpSpPr/>
          <p:nvPr/>
        </p:nvGrpSpPr>
        <p:grpSpPr>
          <a:xfrm>
            <a:off x="3342398" y="9113698"/>
            <a:ext cx="140028" cy="140028"/>
            <a:chOff x="0" y="0"/>
            <a:chExt cx="6350000" cy="6350000"/>
          </a:xfrm>
        </p:grpSpPr>
        <p:sp>
          <p:nvSpPr>
            <p:cNvPr id="13" name="Freeform 13">
              <a:extLst>
                <a:ext uri="{FF2B5EF4-FFF2-40B4-BE49-F238E27FC236}">
                  <a16:creationId xmlns:a16="http://schemas.microsoft.com/office/drawing/2014/main" id="{11B64934-2161-FA1D-D13A-D709426CC2D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a:extLst>
              <a:ext uri="{FF2B5EF4-FFF2-40B4-BE49-F238E27FC236}">
                <a16:creationId xmlns:a16="http://schemas.microsoft.com/office/drawing/2014/main" id="{B15ED7D5-C666-B0A5-5C24-9BCA5759CADB}"/>
              </a:ext>
            </a:extLst>
          </p:cNvPr>
          <p:cNvGrpSpPr/>
          <p:nvPr/>
        </p:nvGrpSpPr>
        <p:grpSpPr>
          <a:xfrm>
            <a:off x="3011870" y="9113698"/>
            <a:ext cx="140028" cy="140028"/>
            <a:chOff x="0" y="0"/>
            <a:chExt cx="6350000" cy="6350000"/>
          </a:xfrm>
        </p:grpSpPr>
        <p:sp>
          <p:nvSpPr>
            <p:cNvPr id="15" name="Freeform 15">
              <a:extLst>
                <a:ext uri="{FF2B5EF4-FFF2-40B4-BE49-F238E27FC236}">
                  <a16:creationId xmlns:a16="http://schemas.microsoft.com/office/drawing/2014/main" id="{12A88866-2C97-CBCF-8283-0017735CEC3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a:extLst>
              <a:ext uri="{FF2B5EF4-FFF2-40B4-BE49-F238E27FC236}">
                <a16:creationId xmlns:a16="http://schemas.microsoft.com/office/drawing/2014/main" id="{C89D6F68-8BC4-712E-41A3-8AC25E191F2B}"/>
              </a:ext>
            </a:extLst>
          </p:cNvPr>
          <p:cNvGrpSpPr/>
          <p:nvPr/>
        </p:nvGrpSpPr>
        <p:grpSpPr>
          <a:xfrm>
            <a:off x="2350813" y="9113698"/>
            <a:ext cx="140028" cy="140028"/>
            <a:chOff x="0" y="0"/>
            <a:chExt cx="6350000" cy="6350000"/>
          </a:xfrm>
        </p:grpSpPr>
        <p:sp>
          <p:nvSpPr>
            <p:cNvPr id="17" name="Freeform 17">
              <a:extLst>
                <a:ext uri="{FF2B5EF4-FFF2-40B4-BE49-F238E27FC236}">
                  <a16:creationId xmlns:a16="http://schemas.microsoft.com/office/drawing/2014/main" id="{741330D6-8637-86CC-BA86-A3AA3A586DD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a:extLst>
              <a:ext uri="{FF2B5EF4-FFF2-40B4-BE49-F238E27FC236}">
                <a16:creationId xmlns:a16="http://schemas.microsoft.com/office/drawing/2014/main" id="{1E044981-32BD-A9B5-9B16-6B1EED72EF30}"/>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C292BF08-0437-549F-A3A6-76700FC8FAB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a:extLst>
              <a:ext uri="{FF2B5EF4-FFF2-40B4-BE49-F238E27FC236}">
                <a16:creationId xmlns:a16="http://schemas.microsoft.com/office/drawing/2014/main" id="{C3BA4CFC-2B02-CAA6-2D72-CA3232E7B64C}"/>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2A3776E1-9F80-D73F-1075-C9C979CEDB1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a:extLst>
              <a:ext uri="{FF2B5EF4-FFF2-40B4-BE49-F238E27FC236}">
                <a16:creationId xmlns:a16="http://schemas.microsoft.com/office/drawing/2014/main" id="{2AF16847-A2DD-9B8A-B549-D1077FDC2265}"/>
              </a:ext>
            </a:extLst>
          </p:cNvPr>
          <p:cNvGrpSpPr/>
          <p:nvPr/>
        </p:nvGrpSpPr>
        <p:grpSpPr>
          <a:xfrm>
            <a:off x="16782089" y="1028700"/>
            <a:ext cx="477211" cy="541606"/>
            <a:chOff x="0" y="0"/>
            <a:chExt cx="1245863" cy="1413979"/>
          </a:xfrm>
        </p:grpSpPr>
        <p:sp>
          <p:nvSpPr>
            <p:cNvPr id="23" name="Freeform 23">
              <a:extLst>
                <a:ext uri="{FF2B5EF4-FFF2-40B4-BE49-F238E27FC236}">
                  <a16:creationId xmlns:a16="http://schemas.microsoft.com/office/drawing/2014/main" id="{8F6BBB35-8440-3FEC-91C2-BDC87AA22671}"/>
                </a:ext>
              </a:extLst>
            </p:cNvPr>
            <p:cNvSpPr/>
            <p:nvPr/>
          </p:nvSpPr>
          <p:spPr>
            <a:xfrm>
              <a:off x="0" y="0"/>
              <a:ext cx="1245863" cy="1413979"/>
            </a:xfrm>
            <a:custGeom>
              <a:avLst/>
              <a:gdLst/>
              <a:ahLst/>
              <a:cxnLst/>
              <a:rect l="l" t="t" r="r" b="b"/>
              <a:pathLst>
                <a:path w="1245863" h="1413979">
                  <a:moveTo>
                    <a:pt x="622932" y="0"/>
                  </a:moveTo>
                  <a:cubicBezTo>
                    <a:pt x="278896" y="0"/>
                    <a:pt x="0" y="316530"/>
                    <a:pt x="0" y="706990"/>
                  </a:cubicBezTo>
                  <a:cubicBezTo>
                    <a:pt x="0" y="1097449"/>
                    <a:pt x="278896" y="1413979"/>
                    <a:pt x="622932" y="1413979"/>
                  </a:cubicBezTo>
                  <a:cubicBezTo>
                    <a:pt x="966967" y="1413979"/>
                    <a:pt x="1245863" y="1097449"/>
                    <a:pt x="1245863" y="706990"/>
                  </a:cubicBezTo>
                  <a:cubicBezTo>
                    <a:pt x="1245863" y="316530"/>
                    <a:pt x="966967" y="0"/>
                    <a:pt x="622932"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a:extLst>
                <a:ext uri="{FF2B5EF4-FFF2-40B4-BE49-F238E27FC236}">
                  <a16:creationId xmlns:a16="http://schemas.microsoft.com/office/drawing/2014/main" id="{AFA4E9EB-F9BD-C87A-7C14-8457F9E7DFE9}"/>
                </a:ext>
              </a:extLst>
            </p:cNvPr>
            <p:cNvSpPr txBox="1"/>
            <p:nvPr/>
          </p:nvSpPr>
          <p:spPr>
            <a:xfrm>
              <a:off x="116800" y="103986"/>
              <a:ext cx="1012264" cy="1177433"/>
            </a:xfrm>
            <a:prstGeom prst="rect">
              <a:avLst/>
            </a:prstGeom>
          </p:spPr>
          <p:txBody>
            <a:bodyPr lIns="50800" tIns="50800" rIns="50800" bIns="50800" rtlCol="0" anchor="ctr"/>
            <a:lstStyle/>
            <a:p>
              <a:pPr algn="ctr">
                <a:lnSpc>
                  <a:spcPts val="2399"/>
                </a:lnSpc>
              </a:pPr>
              <a:r>
                <a:rPr lang="en-US" sz="1599">
                  <a:solidFill>
                    <a:srgbClr val="000000"/>
                  </a:solidFill>
                  <a:latin typeface="Garet"/>
                  <a:ea typeface="Garet"/>
                  <a:cs typeface="Garet"/>
                  <a:sym typeface="Garet"/>
                </a:rPr>
                <a:t>3</a:t>
              </a:r>
            </a:p>
          </p:txBody>
        </p:sp>
      </p:grpSp>
      <p:sp>
        <p:nvSpPr>
          <p:cNvPr id="26" name="TextBox 26">
            <a:extLst>
              <a:ext uri="{FF2B5EF4-FFF2-40B4-BE49-F238E27FC236}">
                <a16:creationId xmlns:a16="http://schemas.microsoft.com/office/drawing/2014/main" id="{C7B26C87-3052-802F-A6FA-B3AD8CB66F78}"/>
              </a:ext>
            </a:extLst>
          </p:cNvPr>
          <p:cNvSpPr txBox="1"/>
          <p:nvPr/>
        </p:nvSpPr>
        <p:spPr>
          <a:xfrm>
            <a:off x="1028700" y="1028700"/>
            <a:ext cx="5219700" cy="2205732"/>
          </a:xfrm>
          <a:prstGeom prst="rect">
            <a:avLst/>
          </a:prstGeom>
        </p:spPr>
        <p:txBody>
          <a:bodyPr wrap="square"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Kiến trúc HDFS</a:t>
            </a:r>
          </a:p>
        </p:txBody>
      </p:sp>
      <p:grpSp>
        <p:nvGrpSpPr>
          <p:cNvPr id="27" name="Group 27">
            <a:extLst>
              <a:ext uri="{FF2B5EF4-FFF2-40B4-BE49-F238E27FC236}">
                <a16:creationId xmlns:a16="http://schemas.microsoft.com/office/drawing/2014/main" id="{4BA31B90-36E0-D0B5-4699-0E50087695FF}"/>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C6935D1A-3A16-D333-AE97-65EC8A6F548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9" name="Group 29">
            <a:extLst>
              <a:ext uri="{FF2B5EF4-FFF2-40B4-BE49-F238E27FC236}">
                <a16:creationId xmlns:a16="http://schemas.microsoft.com/office/drawing/2014/main" id="{9BA9079B-76EA-1A04-6918-49FABC80D8DC}"/>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9C4BD6D6-284F-D309-8C82-92292485EAC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1" name="Group 31">
            <a:extLst>
              <a:ext uri="{FF2B5EF4-FFF2-40B4-BE49-F238E27FC236}">
                <a16:creationId xmlns:a16="http://schemas.microsoft.com/office/drawing/2014/main" id="{592648C4-C0C7-C0CE-CA53-39A6E91C6FCA}"/>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B178F47A-E288-8C09-9A48-108FD2B3A8B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pic>
        <p:nvPicPr>
          <p:cNvPr id="25" name="Picture 24" descr="A diagram of a computer server&#10;&#10;AI-generated content may be incorrect.">
            <a:extLst>
              <a:ext uri="{FF2B5EF4-FFF2-40B4-BE49-F238E27FC236}">
                <a16:creationId xmlns:a16="http://schemas.microsoft.com/office/drawing/2014/main" id="{7C8AC005-DA45-5CA6-64FC-94C286CB1844}"/>
              </a:ext>
            </a:extLst>
          </p:cNvPr>
          <p:cNvPicPr>
            <a:picLocks noChangeAspect="1"/>
          </p:cNvPicPr>
          <p:nvPr/>
        </p:nvPicPr>
        <p:blipFill>
          <a:blip r:embed="rId3"/>
          <a:srcRect t="41290" b="24591"/>
          <a:stretch>
            <a:fillRect/>
          </a:stretch>
        </p:blipFill>
        <p:spPr>
          <a:xfrm>
            <a:off x="2511777" y="3924300"/>
            <a:ext cx="13264446" cy="3962400"/>
          </a:xfrm>
          <a:prstGeom prst="rect">
            <a:avLst/>
          </a:prstGeom>
        </p:spPr>
      </p:pic>
    </p:spTree>
    <p:extLst>
      <p:ext uri="{BB962C8B-B14F-4D97-AF65-F5344CB8AC3E}">
        <p14:creationId xmlns:p14="http://schemas.microsoft.com/office/powerpoint/2010/main" val="3838823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39132-C444-3848-E688-9EDD818D79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DED2EE6-B543-BB89-80BF-09EBB7EA55C9}"/>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DE1BC149-42A2-E6D2-EB42-9AB8F58EBB8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a:extLst>
              <a:ext uri="{FF2B5EF4-FFF2-40B4-BE49-F238E27FC236}">
                <a16:creationId xmlns:a16="http://schemas.microsoft.com/office/drawing/2014/main" id="{EBF3161B-6BA1-7764-8901-FD9F5DA7CA7E}"/>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2D3D7087-BE3C-CAE5-A1D7-A1FF24E46D6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a:extLst>
              <a:ext uri="{FF2B5EF4-FFF2-40B4-BE49-F238E27FC236}">
                <a16:creationId xmlns:a16="http://schemas.microsoft.com/office/drawing/2014/main" id="{3EB43EC2-3BFB-0DE0-5071-BC02E3722D50}"/>
              </a:ext>
            </a:extLst>
          </p:cNvPr>
          <p:cNvGrpSpPr/>
          <p:nvPr/>
        </p:nvGrpSpPr>
        <p:grpSpPr>
          <a:xfrm>
            <a:off x="1689757" y="9113698"/>
            <a:ext cx="140028" cy="140028"/>
            <a:chOff x="0" y="0"/>
            <a:chExt cx="6350000" cy="6350000"/>
          </a:xfrm>
        </p:grpSpPr>
        <p:sp>
          <p:nvSpPr>
            <p:cNvPr id="7" name="Freeform 7">
              <a:extLst>
                <a:ext uri="{FF2B5EF4-FFF2-40B4-BE49-F238E27FC236}">
                  <a16:creationId xmlns:a16="http://schemas.microsoft.com/office/drawing/2014/main" id="{02E291A0-194E-9753-D0C5-A23C2A7C384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a:extLst>
              <a:ext uri="{FF2B5EF4-FFF2-40B4-BE49-F238E27FC236}">
                <a16:creationId xmlns:a16="http://schemas.microsoft.com/office/drawing/2014/main" id="{8640AD80-E5FC-29E3-F95B-6C03FA0ABAB2}"/>
              </a:ext>
            </a:extLst>
          </p:cNvPr>
          <p:cNvGrpSpPr/>
          <p:nvPr/>
        </p:nvGrpSpPr>
        <p:grpSpPr>
          <a:xfrm>
            <a:off x="2681342" y="9113698"/>
            <a:ext cx="140028" cy="140028"/>
            <a:chOff x="0" y="0"/>
            <a:chExt cx="6350000" cy="6350000"/>
          </a:xfrm>
        </p:grpSpPr>
        <p:sp>
          <p:nvSpPr>
            <p:cNvPr id="9" name="Freeform 9">
              <a:extLst>
                <a:ext uri="{FF2B5EF4-FFF2-40B4-BE49-F238E27FC236}">
                  <a16:creationId xmlns:a16="http://schemas.microsoft.com/office/drawing/2014/main" id="{04BAF901-0AED-FC06-A79E-74D5B98CB8A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a:extLst>
              <a:ext uri="{FF2B5EF4-FFF2-40B4-BE49-F238E27FC236}">
                <a16:creationId xmlns:a16="http://schemas.microsoft.com/office/drawing/2014/main" id="{F7A147B1-138F-3C73-07BC-539FBB11CA5D}"/>
              </a:ext>
            </a:extLst>
          </p:cNvPr>
          <p:cNvGrpSpPr/>
          <p:nvPr/>
        </p:nvGrpSpPr>
        <p:grpSpPr>
          <a:xfrm>
            <a:off x="2020285" y="9113698"/>
            <a:ext cx="140028" cy="140028"/>
            <a:chOff x="0" y="0"/>
            <a:chExt cx="6350000" cy="6350000"/>
          </a:xfrm>
        </p:grpSpPr>
        <p:sp>
          <p:nvSpPr>
            <p:cNvPr id="11" name="Freeform 11">
              <a:extLst>
                <a:ext uri="{FF2B5EF4-FFF2-40B4-BE49-F238E27FC236}">
                  <a16:creationId xmlns:a16="http://schemas.microsoft.com/office/drawing/2014/main" id="{1314809F-E2DB-E49D-9A6B-5B392F92608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a:extLst>
              <a:ext uri="{FF2B5EF4-FFF2-40B4-BE49-F238E27FC236}">
                <a16:creationId xmlns:a16="http://schemas.microsoft.com/office/drawing/2014/main" id="{9AEA705A-77D7-5018-0C82-A53EE11E5107}"/>
              </a:ext>
            </a:extLst>
          </p:cNvPr>
          <p:cNvGrpSpPr/>
          <p:nvPr/>
        </p:nvGrpSpPr>
        <p:grpSpPr>
          <a:xfrm>
            <a:off x="3342398" y="9113698"/>
            <a:ext cx="140028" cy="140028"/>
            <a:chOff x="0" y="0"/>
            <a:chExt cx="6350000" cy="6350000"/>
          </a:xfrm>
        </p:grpSpPr>
        <p:sp>
          <p:nvSpPr>
            <p:cNvPr id="13" name="Freeform 13">
              <a:extLst>
                <a:ext uri="{FF2B5EF4-FFF2-40B4-BE49-F238E27FC236}">
                  <a16:creationId xmlns:a16="http://schemas.microsoft.com/office/drawing/2014/main" id="{A29B3FD9-28D2-DCA7-5716-FB1AF9C138E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a:extLst>
              <a:ext uri="{FF2B5EF4-FFF2-40B4-BE49-F238E27FC236}">
                <a16:creationId xmlns:a16="http://schemas.microsoft.com/office/drawing/2014/main" id="{D601F00F-0938-4EA4-0BB4-C165C7977943}"/>
              </a:ext>
            </a:extLst>
          </p:cNvPr>
          <p:cNvGrpSpPr/>
          <p:nvPr/>
        </p:nvGrpSpPr>
        <p:grpSpPr>
          <a:xfrm>
            <a:off x="3011870" y="9113698"/>
            <a:ext cx="140028" cy="140028"/>
            <a:chOff x="0" y="0"/>
            <a:chExt cx="6350000" cy="6350000"/>
          </a:xfrm>
        </p:grpSpPr>
        <p:sp>
          <p:nvSpPr>
            <p:cNvPr id="15" name="Freeform 15">
              <a:extLst>
                <a:ext uri="{FF2B5EF4-FFF2-40B4-BE49-F238E27FC236}">
                  <a16:creationId xmlns:a16="http://schemas.microsoft.com/office/drawing/2014/main" id="{4A64410E-2773-0F25-4696-BD529A35170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a:extLst>
              <a:ext uri="{FF2B5EF4-FFF2-40B4-BE49-F238E27FC236}">
                <a16:creationId xmlns:a16="http://schemas.microsoft.com/office/drawing/2014/main" id="{A9B677B3-1E59-9042-8409-9990A7524578}"/>
              </a:ext>
            </a:extLst>
          </p:cNvPr>
          <p:cNvGrpSpPr/>
          <p:nvPr/>
        </p:nvGrpSpPr>
        <p:grpSpPr>
          <a:xfrm>
            <a:off x="2350813" y="9113698"/>
            <a:ext cx="140028" cy="140028"/>
            <a:chOff x="0" y="0"/>
            <a:chExt cx="6350000" cy="6350000"/>
          </a:xfrm>
        </p:grpSpPr>
        <p:sp>
          <p:nvSpPr>
            <p:cNvPr id="17" name="Freeform 17">
              <a:extLst>
                <a:ext uri="{FF2B5EF4-FFF2-40B4-BE49-F238E27FC236}">
                  <a16:creationId xmlns:a16="http://schemas.microsoft.com/office/drawing/2014/main" id="{785B9E50-E13B-15FB-56BC-79E8418600B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a:extLst>
              <a:ext uri="{FF2B5EF4-FFF2-40B4-BE49-F238E27FC236}">
                <a16:creationId xmlns:a16="http://schemas.microsoft.com/office/drawing/2014/main" id="{AA31119A-495B-1357-AB2D-75FB3E817C90}"/>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1683DEC7-3960-809E-39A6-69B25EFF6AA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a:extLst>
              <a:ext uri="{FF2B5EF4-FFF2-40B4-BE49-F238E27FC236}">
                <a16:creationId xmlns:a16="http://schemas.microsoft.com/office/drawing/2014/main" id="{D7EFCD94-F92B-8807-E468-F004281E0DE8}"/>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9C73C9C4-42B7-7F75-42BB-826D7B5B334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a:extLst>
              <a:ext uri="{FF2B5EF4-FFF2-40B4-BE49-F238E27FC236}">
                <a16:creationId xmlns:a16="http://schemas.microsoft.com/office/drawing/2014/main" id="{39BC1729-5807-F2C6-5FF6-D6872632AD5D}"/>
              </a:ext>
            </a:extLst>
          </p:cNvPr>
          <p:cNvGrpSpPr/>
          <p:nvPr/>
        </p:nvGrpSpPr>
        <p:grpSpPr>
          <a:xfrm>
            <a:off x="16782089" y="1028700"/>
            <a:ext cx="477211" cy="541606"/>
            <a:chOff x="0" y="0"/>
            <a:chExt cx="1245863" cy="1413979"/>
          </a:xfrm>
        </p:grpSpPr>
        <p:sp>
          <p:nvSpPr>
            <p:cNvPr id="23" name="Freeform 23">
              <a:extLst>
                <a:ext uri="{FF2B5EF4-FFF2-40B4-BE49-F238E27FC236}">
                  <a16:creationId xmlns:a16="http://schemas.microsoft.com/office/drawing/2014/main" id="{771CAC7D-7BE5-88E3-4147-FA07F0ED5CE6}"/>
                </a:ext>
              </a:extLst>
            </p:cNvPr>
            <p:cNvSpPr/>
            <p:nvPr/>
          </p:nvSpPr>
          <p:spPr>
            <a:xfrm>
              <a:off x="0" y="0"/>
              <a:ext cx="1245863" cy="1413979"/>
            </a:xfrm>
            <a:custGeom>
              <a:avLst/>
              <a:gdLst/>
              <a:ahLst/>
              <a:cxnLst/>
              <a:rect l="l" t="t" r="r" b="b"/>
              <a:pathLst>
                <a:path w="1245863" h="1413979">
                  <a:moveTo>
                    <a:pt x="622932" y="0"/>
                  </a:moveTo>
                  <a:cubicBezTo>
                    <a:pt x="278896" y="0"/>
                    <a:pt x="0" y="316530"/>
                    <a:pt x="0" y="706990"/>
                  </a:cubicBezTo>
                  <a:cubicBezTo>
                    <a:pt x="0" y="1097449"/>
                    <a:pt x="278896" y="1413979"/>
                    <a:pt x="622932" y="1413979"/>
                  </a:cubicBezTo>
                  <a:cubicBezTo>
                    <a:pt x="966967" y="1413979"/>
                    <a:pt x="1245863" y="1097449"/>
                    <a:pt x="1245863" y="706990"/>
                  </a:cubicBezTo>
                  <a:cubicBezTo>
                    <a:pt x="1245863" y="316530"/>
                    <a:pt x="966967" y="0"/>
                    <a:pt x="622932"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a:extLst>
                <a:ext uri="{FF2B5EF4-FFF2-40B4-BE49-F238E27FC236}">
                  <a16:creationId xmlns:a16="http://schemas.microsoft.com/office/drawing/2014/main" id="{8B23906D-958B-48B8-3DA7-D45AE65627DC}"/>
                </a:ext>
              </a:extLst>
            </p:cNvPr>
            <p:cNvSpPr txBox="1"/>
            <p:nvPr/>
          </p:nvSpPr>
          <p:spPr>
            <a:xfrm>
              <a:off x="116800" y="103986"/>
              <a:ext cx="1012264" cy="1177433"/>
            </a:xfrm>
            <a:prstGeom prst="rect">
              <a:avLst/>
            </a:prstGeom>
          </p:spPr>
          <p:txBody>
            <a:bodyPr lIns="50800" tIns="50800" rIns="50800" bIns="50800" rtlCol="0" anchor="ctr"/>
            <a:lstStyle/>
            <a:p>
              <a:pPr algn="ctr">
                <a:lnSpc>
                  <a:spcPts val="2399"/>
                </a:lnSpc>
              </a:pPr>
              <a:r>
                <a:rPr lang="en-US" sz="1599">
                  <a:solidFill>
                    <a:srgbClr val="000000"/>
                  </a:solidFill>
                  <a:latin typeface="Garet"/>
                  <a:ea typeface="Garet"/>
                  <a:cs typeface="Garet"/>
                  <a:sym typeface="Garet"/>
                </a:rPr>
                <a:t>3</a:t>
              </a:r>
            </a:p>
          </p:txBody>
        </p:sp>
      </p:grpSp>
      <p:sp>
        <p:nvSpPr>
          <p:cNvPr id="26" name="TextBox 26">
            <a:extLst>
              <a:ext uri="{FF2B5EF4-FFF2-40B4-BE49-F238E27FC236}">
                <a16:creationId xmlns:a16="http://schemas.microsoft.com/office/drawing/2014/main" id="{5373D67D-46EB-E67E-1682-C7B11E466B82}"/>
              </a:ext>
            </a:extLst>
          </p:cNvPr>
          <p:cNvSpPr txBox="1"/>
          <p:nvPr/>
        </p:nvSpPr>
        <p:spPr>
          <a:xfrm>
            <a:off x="1028700" y="1028700"/>
            <a:ext cx="5219700" cy="2205732"/>
          </a:xfrm>
          <a:prstGeom prst="rect">
            <a:avLst/>
          </a:prstGeom>
        </p:spPr>
        <p:txBody>
          <a:bodyPr wrap="square"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Kiến trúc Spark</a:t>
            </a:r>
          </a:p>
        </p:txBody>
      </p:sp>
      <p:grpSp>
        <p:nvGrpSpPr>
          <p:cNvPr id="27" name="Group 27">
            <a:extLst>
              <a:ext uri="{FF2B5EF4-FFF2-40B4-BE49-F238E27FC236}">
                <a16:creationId xmlns:a16="http://schemas.microsoft.com/office/drawing/2014/main" id="{B874578B-54B1-31A3-D64A-A6B5FF41E9BC}"/>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EC1AC1A6-CFC8-7BFC-BB92-7BA98E36349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9" name="Group 29">
            <a:extLst>
              <a:ext uri="{FF2B5EF4-FFF2-40B4-BE49-F238E27FC236}">
                <a16:creationId xmlns:a16="http://schemas.microsoft.com/office/drawing/2014/main" id="{CE3C7F4D-6E24-9A7A-0B5C-5B02F0B584EA}"/>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982DACD9-5B3D-2523-D514-E6844574CD2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1" name="Group 31">
            <a:extLst>
              <a:ext uri="{FF2B5EF4-FFF2-40B4-BE49-F238E27FC236}">
                <a16:creationId xmlns:a16="http://schemas.microsoft.com/office/drawing/2014/main" id="{D5CD8410-B314-66C1-2994-84D6C8A91E56}"/>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48E8B94E-64C7-7DF2-04BE-619BDD208BF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pic>
        <p:nvPicPr>
          <p:cNvPr id="25" name="Picture 24" descr="A diagram of a computer server&#10;&#10;AI-generated content may be incorrect.">
            <a:extLst>
              <a:ext uri="{FF2B5EF4-FFF2-40B4-BE49-F238E27FC236}">
                <a16:creationId xmlns:a16="http://schemas.microsoft.com/office/drawing/2014/main" id="{A636122D-A2FE-45E9-3257-4C8D168A4C08}"/>
              </a:ext>
            </a:extLst>
          </p:cNvPr>
          <p:cNvPicPr>
            <a:picLocks noChangeAspect="1"/>
          </p:cNvPicPr>
          <p:nvPr/>
        </p:nvPicPr>
        <p:blipFill>
          <a:blip r:embed="rId3"/>
          <a:srcRect b="69136"/>
          <a:stretch>
            <a:fillRect/>
          </a:stretch>
        </p:blipFill>
        <p:spPr>
          <a:xfrm>
            <a:off x="2595582" y="4076700"/>
            <a:ext cx="13096835" cy="3539136"/>
          </a:xfrm>
          <a:prstGeom prst="rect">
            <a:avLst/>
          </a:prstGeom>
        </p:spPr>
      </p:pic>
    </p:spTree>
    <p:extLst>
      <p:ext uri="{BB962C8B-B14F-4D97-AF65-F5344CB8AC3E}">
        <p14:creationId xmlns:p14="http://schemas.microsoft.com/office/powerpoint/2010/main" val="28405200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E03F3-57D7-986A-6D14-6EA486664F9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E97AF0-EE66-8FF5-F4EE-919032E15C1C}"/>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0606A656-9D3D-79F5-3177-E9AA349A161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a:extLst>
              <a:ext uri="{FF2B5EF4-FFF2-40B4-BE49-F238E27FC236}">
                <a16:creationId xmlns:a16="http://schemas.microsoft.com/office/drawing/2014/main" id="{58EF64AE-B8B7-BF8C-4D76-E5B3201EDAC6}"/>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DF7D5BC0-6A55-74A3-A1D6-58522A9CF32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a:extLst>
              <a:ext uri="{FF2B5EF4-FFF2-40B4-BE49-F238E27FC236}">
                <a16:creationId xmlns:a16="http://schemas.microsoft.com/office/drawing/2014/main" id="{BE8DAA1D-F3E2-F069-2069-E9A408753808}"/>
              </a:ext>
            </a:extLst>
          </p:cNvPr>
          <p:cNvGrpSpPr/>
          <p:nvPr/>
        </p:nvGrpSpPr>
        <p:grpSpPr>
          <a:xfrm>
            <a:off x="1689757" y="9113698"/>
            <a:ext cx="140028" cy="140028"/>
            <a:chOff x="0" y="0"/>
            <a:chExt cx="6350000" cy="6350000"/>
          </a:xfrm>
        </p:grpSpPr>
        <p:sp>
          <p:nvSpPr>
            <p:cNvPr id="7" name="Freeform 7">
              <a:extLst>
                <a:ext uri="{FF2B5EF4-FFF2-40B4-BE49-F238E27FC236}">
                  <a16:creationId xmlns:a16="http://schemas.microsoft.com/office/drawing/2014/main" id="{BBC86F52-10AF-62F2-DD9E-AAF7197C8C7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a:extLst>
              <a:ext uri="{FF2B5EF4-FFF2-40B4-BE49-F238E27FC236}">
                <a16:creationId xmlns:a16="http://schemas.microsoft.com/office/drawing/2014/main" id="{A5DD7F5B-06D3-6F2D-4382-EAE283B7AF28}"/>
              </a:ext>
            </a:extLst>
          </p:cNvPr>
          <p:cNvGrpSpPr/>
          <p:nvPr/>
        </p:nvGrpSpPr>
        <p:grpSpPr>
          <a:xfrm>
            <a:off x="2681342" y="9113698"/>
            <a:ext cx="140028" cy="140028"/>
            <a:chOff x="0" y="0"/>
            <a:chExt cx="6350000" cy="6350000"/>
          </a:xfrm>
        </p:grpSpPr>
        <p:sp>
          <p:nvSpPr>
            <p:cNvPr id="9" name="Freeform 9">
              <a:extLst>
                <a:ext uri="{FF2B5EF4-FFF2-40B4-BE49-F238E27FC236}">
                  <a16:creationId xmlns:a16="http://schemas.microsoft.com/office/drawing/2014/main" id="{190FBE73-4C9D-5913-C0E7-203910343CB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a:extLst>
              <a:ext uri="{FF2B5EF4-FFF2-40B4-BE49-F238E27FC236}">
                <a16:creationId xmlns:a16="http://schemas.microsoft.com/office/drawing/2014/main" id="{74B138CC-3F62-14B9-F51E-CC77F4A5EFEF}"/>
              </a:ext>
            </a:extLst>
          </p:cNvPr>
          <p:cNvGrpSpPr/>
          <p:nvPr/>
        </p:nvGrpSpPr>
        <p:grpSpPr>
          <a:xfrm>
            <a:off x="2020285" y="9113698"/>
            <a:ext cx="140028" cy="140028"/>
            <a:chOff x="0" y="0"/>
            <a:chExt cx="6350000" cy="6350000"/>
          </a:xfrm>
        </p:grpSpPr>
        <p:sp>
          <p:nvSpPr>
            <p:cNvPr id="11" name="Freeform 11">
              <a:extLst>
                <a:ext uri="{FF2B5EF4-FFF2-40B4-BE49-F238E27FC236}">
                  <a16:creationId xmlns:a16="http://schemas.microsoft.com/office/drawing/2014/main" id="{BC85A39D-1845-B176-33BE-2F63B35ACF7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a:extLst>
              <a:ext uri="{FF2B5EF4-FFF2-40B4-BE49-F238E27FC236}">
                <a16:creationId xmlns:a16="http://schemas.microsoft.com/office/drawing/2014/main" id="{5C0767C7-DD84-9E50-E805-BC6F4E82E95A}"/>
              </a:ext>
            </a:extLst>
          </p:cNvPr>
          <p:cNvGrpSpPr/>
          <p:nvPr/>
        </p:nvGrpSpPr>
        <p:grpSpPr>
          <a:xfrm>
            <a:off x="3342398" y="9113698"/>
            <a:ext cx="140028" cy="140028"/>
            <a:chOff x="0" y="0"/>
            <a:chExt cx="6350000" cy="6350000"/>
          </a:xfrm>
        </p:grpSpPr>
        <p:sp>
          <p:nvSpPr>
            <p:cNvPr id="13" name="Freeform 13">
              <a:extLst>
                <a:ext uri="{FF2B5EF4-FFF2-40B4-BE49-F238E27FC236}">
                  <a16:creationId xmlns:a16="http://schemas.microsoft.com/office/drawing/2014/main" id="{87238509-374D-1A8A-E0BA-1A56134564D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a:extLst>
              <a:ext uri="{FF2B5EF4-FFF2-40B4-BE49-F238E27FC236}">
                <a16:creationId xmlns:a16="http://schemas.microsoft.com/office/drawing/2014/main" id="{E6CE6483-8189-8ED1-371E-B852505DC264}"/>
              </a:ext>
            </a:extLst>
          </p:cNvPr>
          <p:cNvGrpSpPr/>
          <p:nvPr/>
        </p:nvGrpSpPr>
        <p:grpSpPr>
          <a:xfrm>
            <a:off x="3011870" y="9113698"/>
            <a:ext cx="140028" cy="140028"/>
            <a:chOff x="0" y="0"/>
            <a:chExt cx="6350000" cy="6350000"/>
          </a:xfrm>
        </p:grpSpPr>
        <p:sp>
          <p:nvSpPr>
            <p:cNvPr id="15" name="Freeform 15">
              <a:extLst>
                <a:ext uri="{FF2B5EF4-FFF2-40B4-BE49-F238E27FC236}">
                  <a16:creationId xmlns:a16="http://schemas.microsoft.com/office/drawing/2014/main" id="{3CE50FE2-BD3B-22B8-4771-6DEB972762E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a:extLst>
              <a:ext uri="{FF2B5EF4-FFF2-40B4-BE49-F238E27FC236}">
                <a16:creationId xmlns:a16="http://schemas.microsoft.com/office/drawing/2014/main" id="{710AD19B-42D0-8E3B-F380-0484CE0760B0}"/>
              </a:ext>
            </a:extLst>
          </p:cNvPr>
          <p:cNvGrpSpPr/>
          <p:nvPr/>
        </p:nvGrpSpPr>
        <p:grpSpPr>
          <a:xfrm>
            <a:off x="2350813" y="9113698"/>
            <a:ext cx="140028" cy="140028"/>
            <a:chOff x="0" y="0"/>
            <a:chExt cx="6350000" cy="6350000"/>
          </a:xfrm>
        </p:grpSpPr>
        <p:sp>
          <p:nvSpPr>
            <p:cNvPr id="17" name="Freeform 17">
              <a:extLst>
                <a:ext uri="{FF2B5EF4-FFF2-40B4-BE49-F238E27FC236}">
                  <a16:creationId xmlns:a16="http://schemas.microsoft.com/office/drawing/2014/main" id="{77345C9B-F5D4-89A2-2D8E-9AA98992A2C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a:extLst>
              <a:ext uri="{FF2B5EF4-FFF2-40B4-BE49-F238E27FC236}">
                <a16:creationId xmlns:a16="http://schemas.microsoft.com/office/drawing/2014/main" id="{D9B41F72-C6C9-5229-B7D9-8150DC99D6BC}"/>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C70C5F73-82E1-E60D-E673-FD99F25D631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a:extLst>
              <a:ext uri="{FF2B5EF4-FFF2-40B4-BE49-F238E27FC236}">
                <a16:creationId xmlns:a16="http://schemas.microsoft.com/office/drawing/2014/main" id="{90DECE14-D1FD-2AFC-BDBE-D6C956A46599}"/>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D04E91E2-79A0-262D-75C0-BACF94E33FE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a:extLst>
              <a:ext uri="{FF2B5EF4-FFF2-40B4-BE49-F238E27FC236}">
                <a16:creationId xmlns:a16="http://schemas.microsoft.com/office/drawing/2014/main" id="{28677892-F4AF-4B6F-8E29-1DA85EC0AB30}"/>
              </a:ext>
            </a:extLst>
          </p:cNvPr>
          <p:cNvGrpSpPr/>
          <p:nvPr/>
        </p:nvGrpSpPr>
        <p:grpSpPr>
          <a:xfrm>
            <a:off x="16782089" y="1028700"/>
            <a:ext cx="477211" cy="541606"/>
            <a:chOff x="0" y="0"/>
            <a:chExt cx="1245863" cy="1413979"/>
          </a:xfrm>
        </p:grpSpPr>
        <p:sp>
          <p:nvSpPr>
            <p:cNvPr id="23" name="Freeform 23">
              <a:extLst>
                <a:ext uri="{FF2B5EF4-FFF2-40B4-BE49-F238E27FC236}">
                  <a16:creationId xmlns:a16="http://schemas.microsoft.com/office/drawing/2014/main" id="{C1B6BE19-E3EE-E00C-9A9D-A37DA362D680}"/>
                </a:ext>
              </a:extLst>
            </p:cNvPr>
            <p:cNvSpPr/>
            <p:nvPr/>
          </p:nvSpPr>
          <p:spPr>
            <a:xfrm>
              <a:off x="0" y="0"/>
              <a:ext cx="1245863" cy="1413979"/>
            </a:xfrm>
            <a:custGeom>
              <a:avLst/>
              <a:gdLst/>
              <a:ahLst/>
              <a:cxnLst/>
              <a:rect l="l" t="t" r="r" b="b"/>
              <a:pathLst>
                <a:path w="1245863" h="1413979">
                  <a:moveTo>
                    <a:pt x="622932" y="0"/>
                  </a:moveTo>
                  <a:cubicBezTo>
                    <a:pt x="278896" y="0"/>
                    <a:pt x="0" y="316530"/>
                    <a:pt x="0" y="706990"/>
                  </a:cubicBezTo>
                  <a:cubicBezTo>
                    <a:pt x="0" y="1097449"/>
                    <a:pt x="278896" y="1413979"/>
                    <a:pt x="622932" y="1413979"/>
                  </a:cubicBezTo>
                  <a:cubicBezTo>
                    <a:pt x="966967" y="1413979"/>
                    <a:pt x="1245863" y="1097449"/>
                    <a:pt x="1245863" y="706990"/>
                  </a:cubicBezTo>
                  <a:cubicBezTo>
                    <a:pt x="1245863" y="316530"/>
                    <a:pt x="966967" y="0"/>
                    <a:pt x="622932"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a:extLst>
                <a:ext uri="{FF2B5EF4-FFF2-40B4-BE49-F238E27FC236}">
                  <a16:creationId xmlns:a16="http://schemas.microsoft.com/office/drawing/2014/main" id="{1DC0498C-5F13-1AE7-F6C5-E12005AA3C8D}"/>
                </a:ext>
              </a:extLst>
            </p:cNvPr>
            <p:cNvSpPr txBox="1"/>
            <p:nvPr/>
          </p:nvSpPr>
          <p:spPr>
            <a:xfrm>
              <a:off x="116800" y="103986"/>
              <a:ext cx="1012264" cy="1177433"/>
            </a:xfrm>
            <a:prstGeom prst="rect">
              <a:avLst/>
            </a:prstGeom>
          </p:spPr>
          <p:txBody>
            <a:bodyPr lIns="50800" tIns="50800" rIns="50800" bIns="50800" rtlCol="0" anchor="ctr"/>
            <a:lstStyle/>
            <a:p>
              <a:pPr algn="ctr">
                <a:lnSpc>
                  <a:spcPts val="2399"/>
                </a:lnSpc>
              </a:pPr>
              <a:r>
                <a:rPr lang="en-US" sz="1599">
                  <a:solidFill>
                    <a:srgbClr val="000000"/>
                  </a:solidFill>
                  <a:latin typeface="Garet"/>
                  <a:ea typeface="Garet"/>
                  <a:cs typeface="Garet"/>
                  <a:sym typeface="Garet"/>
                </a:rPr>
                <a:t>3</a:t>
              </a:r>
            </a:p>
          </p:txBody>
        </p:sp>
      </p:grpSp>
      <p:sp>
        <p:nvSpPr>
          <p:cNvPr id="26" name="TextBox 26">
            <a:extLst>
              <a:ext uri="{FF2B5EF4-FFF2-40B4-BE49-F238E27FC236}">
                <a16:creationId xmlns:a16="http://schemas.microsoft.com/office/drawing/2014/main" id="{77DF16FF-D5BA-4E21-C294-0C68944DAFB8}"/>
              </a:ext>
            </a:extLst>
          </p:cNvPr>
          <p:cNvSpPr txBox="1"/>
          <p:nvPr/>
        </p:nvSpPr>
        <p:spPr>
          <a:xfrm>
            <a:off x="1028700" y="1028700"/>
            <a:ext cx="5219700" cy="2205732"/>
          </a:xfrm>
          <a:prstGeom prst="rect">
            <a:avLst/>
          </a:prstGeom>
        </p:spPr>
        <p:txBody>
          <a:bodyPr wrap="square"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Luồng xử lý dữ liệu</a:t>
            </a:r>
          </a:p>
        </p:txBody>
      </p:sp>
      <p:grpSp>
        <p:nvGrpSpPr>
          <p:cNvPr id="27" name="Group 27">
            <a:extLst>
              <a:ext uri="{FF2B5EF4-FFF2-40B4-BE49-F238E27FC236}">
                <a16:creationId xmlns:a16="http://schemas.microsoft.com/office/drawing/2014/main" id="{F17621ED-5103-7692-CA71-218B20815829}"/>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BC0D1E70-CF4F-1464-8ACA-14A5077724F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9" name="Group 29">
            <a:extLst>
              <a:ext uri="{FF2B5EF4-FFF2-40B4-BE49-F238E27FC236}">
                <a16:creationId xmlns:a16="http://schemas.microsoft.com/office/drawing/2014/main" id="{A62CBD31-DAAB-69AD-C814-ECFC953FA079}"/>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EF3F200F-9097-77E8-84C8-141A51F6E3B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1" name="Group 31">
            <a:extLst>
              <a:ext uri="{FF2B5EF4-FFF2-40B4-BE49-F238E27FC236}">
                <a16:creationId xmlns:a16="http://schemas.microsoft.com/office/drawing/2014/main" id="{DD375250-8F11-A1D1-F18D-03A58FC9CF90}"/>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104B97A7-6463-1897-6DD7-FB5FA071588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sp>
        <p:nvSpPr>
          <p:cNvPr id="25" name="Rectangle 24">
            <a:extLst>
              <a:ext uri="{FF2B5EF4-FFF2-40B4-BE49-F238E27FC236}">
                <a16:creationId xmlns:a16="http://schemas.microsoft.com/office/drawing/2014/main" id="{C4B334E8-3D05-713E-BAF6-1E97AF8AF439}"/>
              </a:ext>
            </a:extLst>
          </p:cNvPr>
          <p:cNvSpPr/>
          <p:nvPr/>
        </p:nvSpPr>
        <p:spPr>
          <a:xfrm>
            <a:off x="2073366" y="3911928"/>
            <a:ext cx="2784254" cy="1231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500">
                <a:latin typeface="Times New Roman" panose="02020603050405020304" pitchFamily="18" charset="0"/>
                <a:cs typeface="Times New Roman" panose="02020603050405020304" pitchFamily="18" charset="0"/>
              </a:rPr>
              <a:t>Dữ liệu thô</a:t>
            </a:r>
          </a:p>
        </p:txBody>
      </p:sp>
      <p:sp>
        <p:nvSpPr>
          <p:cNvPr id="33" name="Rectangle 32">
            <a:extLst>
              <a:ext uri="{FF2B5EF4-FFF2-40B4-BE49-F238E27FC236}">
                <a16:creationId xmlns:a16="http://schemas.microsoft.com/office/drawing/2014/main" id="{764D4448-33C3-7C7B-50BC-0C847E6B7955}"/>
              </a:ext>
            </a:extLst>
          </p:cNvPr>
          <p:cNvSpPr/>
          <p:nvPr/>
        </p:nvSpPr>
        <p:spPr>
          <a:xfrm>
            <a:off x="5870009" y="3911928"/>
            <a:ext cx="2784254" cy="1231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500">
                <a:latin typeface="Times New Roman" panose="02020603050405020304" pitchFamily="18" charset="0"/>
                <a:cs typeface="Times New Roman" panose="02020603050405020304" pitchFamily="18" charset="0"/>
              </a:rPr>
              <a:t>HDFS</a:t>
            </a:r>
          </a:p>
        </p:txBody>
      </p:sp>
      <p:sp>
        <p:nvSpPr>
          <p:cNvPr id="35" name="Rectangle 34">
            <a:extLst>
              <a:ext uri="{FF2B5EF4-FFF2-40B4-BE49-F238E27FC236}">
                <a16:creationId xmlns:a16="http://schemas.microsoft.com/office/drawing/2014/main" id="{344D20EF-75D7-C846-B68F-25A072CCBE27}"/>
              </a:ext>
            </a:extLst>
          </p:cNvPr>
          <p:cNvSpPr/>
          <p:nvPr/>
        </p:nvSpPr>
        <p:spPr>
          <a:xfrm>
            <a:off x="9666652" y="3911928"/>
            <a:ext cx="2784254" cy="1231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500">
                <a:latin typeface="Times New Roman" panose="02020603050405020304" pitchFamily="18" charset="0"/>
                <a:cs typeface="Times New Roman" panose="02020603050405020304" pitchFamily="18" charset="0"/>
              </a:rPr>
              <a:t>Spark</a:t>
            </a:r>
          </a:p>
        </p:txBody>
      </p:sp>
      <p:sp>
        <p:nvSpPr>
          <p:cNvPr id="36" name="Rectangle 35">
            <a:extLst>
              <a:ext uri="{FF2B5EF4-FFF2-40B4-BE49-F238E27FC236}">
                <a16:creationId xmlns:a16="http://schemas.microsoft.com/office/drawing/2014/main" id="{68D8528D-D62A-E5A0-E192-45C9ED1E9848}"/>
              </a:ext>
            </a:extLst>
          </p:cNvPr>
          <p:cNvSpPr/>
          <p:nvPr/>
        </p:nvSpPr>
        <p:spPr>
          <a:xfrm>
            <a:off x="13463295" y="3911928"/>
            <a:ext cx="2784254" cy="1231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500">
                <a:latin typeface="Times New Roman" panose="02020603050405020304" pitchFamily="18" charset="0"/>
                <a:cs typeface="Times New Roman" panose="02020603050405020304" pitchFamily="18" charset="0"/>
              </a:rPr>
              <a:t>MongoDB</a:t>
            </a:r>
          </a:p>
        </p:txBody>
      </p:sp>
      <p:cxnSp>
        <p:nvCxnSpPr>
          <p:cNvPr id="37" name="Straight Arrow Connector 36">
            <a:extLst>
              <a:ext uri="{FF2B5EF4-FFF2-40B4-BE49-F238E27FC236}">
                <a16:creationId xmlns:a16="http://schemas.microsoft.com/office/drawing/2014/main" id="{BB43A65E-2E60-CDAE-51B1-616C2DFCDA59}"/>
              </a:ext>
            </a:extLst>
          </p:cNvPr>
          <p:cNvCxnSpPr>
            <a:cxnSpLocks/>
            <a:stCxn id="25" idx="3"/>
            <a:endCxn id="33" idx="1"/>
          </p:cNvCxnSpPr>
          <p:nvPr/>
        </p:nvCxnSpPr>
        <p:spPr>
          <a:xfrm>
            <a:off x="4857620" y="4527714"/>
            <a:ext cx="1012389" cy="0"/>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cxnSp>
        <p:nvCxnSpPr>
          <p:cNvPr id="38" name="Straight Arrow Connector 37">
            <a:extLst>
              <a:ext uri="{FF2B5EF4-FFF2-40B4-BE49-F238E27FC236}">
                <a16:creationId xmlns:a16="http://schemas.microsoft.com/office/drawing/2014/main" id="{E030E233-6817-0366-AAF2-25E876FB6855}"/>
              </a:ext>
            </a:extLst>
          </p:cNvPr>
          <p:cNvCxnSpPr>
            <a:cxnSpLocks/>
            <a:stCxn id="33" idx="3"/>
            <a:endCxn id="35" idx="1"/>
          </p:cNvCxnSpPr>
          <p:nvPr/>
        </p:nvCxnSpPr>
        <p:spPr>
          <a:xfrm>
            <a:off x="8654263" y="4527714"/>
            <a:ext cx="1012389" cy="0"/>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A7792EF8-9334-91E0-4D40-213CAEEC512E}"/>
              </a:ext>
            </a:extLst>
          </p:cNvPr>
          <p:cNvCxnSpPr>
            <a:cxnSpLocks/>
            <a:stCxn id="35" idx="3"/>
            <a:endCxn id="36" idx="1"/>
          </p:cNvCxnSpPr>
          <p:nvPr/>
        </p:nvCxnSpPr>
        <p:spPr>
          <a:xfrm>
            <a:off x="12450906" y="4527714"/>
            <a:ext cx="1012389" cy="0"/>
          </a:xfrm>
          <a:prstGeom prst="straightConnector1">
            <a:avLst/>
          </a:prstGeom>
          <a:ln w="76200">
            <a:tailEnd type="triangle"/>
          </a:ln>
        </p:spPr>
        <p:style>
          <a:lnRef idx="3">
            <a:schemeClr val="accent1"/>
          </a:lnRef>
          <a:fillRef idx="0">
            <a:schemeClr val="accent1"/>
          </a:fillRef>
          <a:effectRef idx="2">
            <a:schemeClr val="accent1"/>
          </a:effectRef>
          <a:fontRef idx="minor">
            <a:schemeClr val="tx1"/>
          </a:fontRef>
        </p:style>
      </p:cxnSp>
      <p:sp>
        <p:nvSpPr>
          <p:cNvPr id="40" name="Rectangle 39">
            <a:extLst>
              <a:ext uri="{FF2B5EF4-FFF2-40B4-BE49-F238E27FC236}">
                <a16:creationId xmlns:a16="http://schemas.microsoft.com/office/drawing/2014/main" id="{E8BB0D62-E1D6-972A-A75B-899E2C6E434D}"/>
              </a:ext>
            </a:extLst>
          </p:cNvPr>
          <p:cNvSpPr/>
          <p:nvPr/>
        </p:nvSpPr>
        <p:spPr>
          <a:xfrm>
            <a:off x="5870009" y="6286500"/>
            <a:ext cx="2784254" cy="24322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indent="-457200">
              <a:buFontTx/>
              <a:buChar char="-"/>
            </a:pPr>
            <a:r>
              <a:rPr lang="en-US" sz="3500">
                <a:latin typeface="Times New Roman" panose="02020603050405020304" pitchFamily="18" charset="0"/>
                <a:cs typeface="Times New Roman" panose="02020603050405020304" pitchFamily="18" charset="0"/>
              </a:rPr>
              <a:t>NameNode</a:t>
            </a:r>
          </a:p>
          <a:p>
            <a:pPr marL="457200" indent="-457200">
              <a:buFontTx/>
              <a:buChar char="-"/>
            </a:pPr>
            <a:r>
              <a:rPr lang="en-US" sz="3500">
                <a:latin typeface="Times New Roman" panose="02020603050405020304" pitchFamily="18" charset="0"/>
                <a:cs typeface="Times New Roman" panose="02020603050405020304" pitchFamily="18" charset="0"/>
              </a:rPr>
              <a:t>DataNode1</a:t>
            </a:r>
          </a:p>
          <a:p>
            <a:pPr marL="457200" indent="-457200">
              <a:buFontTx/>
              <a:buChar char="-"/>
            </a:pPr>
            <a:r>
              <a:rPr lang="en-US" sz="3500">
                <a:latin typeface="Times New Roman" panose="02020603050405020304" pitchFamily="18" charset="0"/>
                <a:cs typeface="Times New Roman" panose="02020603050405020304" pitchFamily="18" charset="0"/>
              </a:rPr>
              <a:t>DataNode2</a:t>
            </a:r>
          </a:p>
        </p:txBody>
      </p:sp>
      <p:sp>
        <p:nvSpPr>
          <p:cNvPr id="41" name="Rectangle 40">
            <a:extLst>
              <a:ext uri="{FF2B5EF4-FFF2-40B4-BE49-F238E27FC236}">
                <a16:creationId xmlns:a16="http://schemas.microsoft.com/office/drawing/2014/main" id="{E498359B-34A1-DB55-FEC3-F8A368186AE9}"/>
              </a:ext>
            </a:extLst>
          </p:cNvPr>
          <p:cNvSpPr/>
          <p:nvPr/>
        </p:nvSpPr>
        <p:spPr>
          <a:xfrm>
            <a:off x="9666652" y="6286500"/>
            <a:ext cx="2784254" cy="24322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457200" indent="-457200">
              <a:buFontTx/>
              <a:buChar char="-"/>
            </a:pPr>
            <a:r>
              <a:rPr lang="en-US" sz="3500">
                <a:latin typeface="Times New Roman" panose="02020603050405020304" pitchFamily="18" charset="0"/>
                <a:cs typeface="Times New Roman" panose="02020603050405020304" pitchFamily="18" charset="0"/>
              </a:rPr>
              <a:t>Master1</a:t>
            </a:r>
          </a:p>
          <a:p>
            <a:pPr marL="457200" indent="-457200">
              <a:buFontTx/>
              <a:buChar char="-"/>
            </a:pPr>
            <a:r>
              <a:rPr lang="en-US" sz="3500">
                <a:latin typeface="Times New Roman" panose="02020603050405020304" pitchFamily="18" charset="0"/>
                <a:cs typeface="Times New Roman" panose="02020603050405020304" pitchFamily="18" charset="0"/>
              </a:rPr>
              <a:t>Worker1</a:t>
            </a:r>
          </a:p>
          <a:p>
            <a:pPr marL="457200" indent="-457200">
              <a:buFontTx/>
              <a:buChar char="-"/>
            </a:pPr>
            <a:r>
              <a:rPr lang="en-US" sz="3500">
                <a:latin typeface="Times New Roman" panose="02020603050405020304" pitchFamily="18" charset="0"/>
                <a:cs typeface="Times New Roman" panose="02020603050405020304" pitchFamily="18" charset="0"/>
              </a:rPr>
              <a:t>Worker2</a:t>
            </a:r>
          </a:p>
        </p:txBody>
      </p:sp>
      <p:cxnSp>
        <p:nvCxnSpPr>
          <p:cNvPr id="42" name="Straight Connector 41">
            <a:extLst>
              <a:ext uri="{FF2B5EF4-FFF2-40B4-BE49-F238E27FC236}">
                <a16:creationId xmlns:a16="http://schemas.microsoft.com/office/drawing/2014/main" id="{9427E5BF-771F-0348-BE6B-4ACF842113D4}"/>
              </a:ext>
            </a:extLst>
          </p:cNvPr>
          <p:cNvCxnSpPr>
            <a:cxnSpLocks/>
            <a:stCxn id="33" idx="2"/>
            <a:endCxn id="40" idx="0"/>
          </p:cNvCxnSpPr>
          <p:nvPr/>
        </p:nvCxnSpPr>
        <p:spPr>
          <a:xfrm>
            <a:off x="7262136" y="5143500"/>
            <a:ext cx="0" cy="1143000"/>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482178CE-7E38-C7B9-FABA-89C451A6A821}"/>
              </a:ext>
            </a:extLst>
          </p:cNvPr>
          <p:cNvCxnSpPr>
            <a:cxnSpLocks/>
            <a:stCxn id="35" idx="2"/>
            <a:endCxn id="41" idx="0"/>
          </p:cNvCxnSpPr>
          <p:nvPr/>
        </p:nvCxnSpPr>
        <p:spPr>
          <a:xfrm>
            <a:off x="11058779" y="5143500"/>
            <a:ext cx="0" cy="114300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355774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04BEA3FD-4FE7-EE06-4418-EC7252F6629E}"/>
              </a:ext>
            </a:extLst>
          </p:cNvPr>
          <p:cNvGrpSpPr/>
          <p:nvPr/>
        </p:nvGrpSpPr>
        <p:grpSpPr>
          <a:xfrm>
            <a:off x="-2960767" y="2085975"/>
            <a:ext cx="5921534" cy="5922855"/>
            <a:chOff x="4566668" y="2376469"/>
            <a:chExt cx="5921534" cy="5922855"/>
          </a:xfrm>
        </p:grpSpPr>
        <p:grpSp>
          <p:nvGrpSpPr>
            <p:cNvPr id="46" name="Group 45">
              <a:extLst>
                <a:ext uri="{FF2B5EF4-FFF2-40B4-BE49-F238E27FC236}">
                  <a16:creationId xmlns:a16="http://schemas.microsoft.com/office/drawing/2014/main" id="{1118DBFE-BB71-582D-1925-C03853A85D34}"/>
                </a:ext>
              </a:extLst>
            </p:cNvPr>
            <p:cNvGrpSpPr/>
            <p:nvPr/>
          </p:nvGrpSpPr>
          <p:grpSpPr>
            <a:xfrm>
              <a:off x="4566668" y="2376469"/>
              <a:ext cx="5921534" cy="5922855"/>
              <a:chOff x="4566668" y="2376469"/>
              <a:chExt cx="5921534" cy="5922855"/>
            </a:xfrm>
          </p:grpSpPr>
          <p:sp>
            <p:nvSpPr>
              <p:cNvPr id="33" name="Circle: Hollow 32">
                <a:extLst>
                  <a:ext uri="{FF2B5EF4-FFF2-40B4-BE49-F238E27FC236}">
                    <a16:creationId xmlns:a16="http://schemas.microsoft.com/office/drawing/2014/main" id="{C535C806-9139-1855-3694-203F76589042}"/>
                  </a:ext>
                </a:extLst>
              </p:cNvPr>
              <p:cNvSpPr/>
              <p:nvPr/>
            </p:nvSpPr>
            <p:spPr>
              <a:xfrm rot="1800000">
                <a:off x="5151933" y="2962146"/>
                <a:ext cx="4751004" cy="4751004"/>
              </a:xfrm>
              <a:prstGeom prst="donut">
                <a:avLst>
                  <a:gd name="adj" fmla="val 34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394E4FFC-9EC2-75CA-AB4A-EC7524DCDE16}"/>
                  </a:ext>
                </a:extLst>
              </p:cNvPr>
              <p:cNvGrpSpPr/>
              <p:nvPr/>
            </p:nvGrpSpPr>
            <p:grpSpPr>
              <a:xfrm rot="1800000">
                <a:off x="6941170" y="2377790"/>
                <a:ext cx="1171481" cy="5921534"/>
                <a:chOff x="7908210" y="2149885"/>
                <a:chExt cx="1371600" cy="6933087"/>
              </a:xfrm>
            </p:grpSpPr>
            <p:sp>
              <p:nvSpPr>
                <p:cNvPr id="34" name="Oval 33">
                  <a:extLst>
                    <a:ext uri="{FF2B5EF4-FFF2-40B4-BE49-F238E27FC236}">
                      <a16:creationId xmlns:a16="http://schemas.microsoft.com/office/drawing/2014/main" id="{9BC9C227-5D30-F41D-F22D-192F51282C88}"/>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A06ABA0B-3C35-0A98-EDC0-653E7D0FEF1D}"/>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075A4E85-7255-FE43-BF84-D0EE62200F5A}"/>
                  </a:ext>
                </a:extLst>
              </p:cNvPr>
              <p:cNvGrpSpPr/>
              <p:nvPr/>
            </p:nvGrpSpPr>
            <p:grpSpPr>
              <a:xfrm rot="5400000">
                <a:off x="6941695" y="2376880"/>
                <a:ext cx="1171480" cy="5921534"/>
                <a:chOff x="7908210" y="2149885"/>
                <a:chExt cx="1371600" cy="6933087"/>
              </a:xfrm>
            </p:grpSpPr>
            <p:sp>
              <p:nvSpPr>
                <p:cNvPr id="38" name="Oval 37">
                  <a:extLst>
                    <a:ext uri="{FF2B5EF4-FFF2-40B4-BE49-F238E27FC236}">
                      <a16:creationId xmlns:a16="http://schemas.microsoft.com/office/drawing/2014/main" id="{B16A5157-D164-BBA3-D512-9734EB630A62}"/>
                    </a:ext>
                  </a:extLst>
                </p:cNvPr>
                <p:cNvSpPr/>
                <p:nvPr/>
              </p:nvSpPr>
              <p:spPr>
                <a:xfrm>
                  <a:off x="7908210" y="2149885"/>
                  <a:ext cx="1371600" cy="13716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A6864F4D-7E90-50AE-16C7-4167D879293B}"/>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44A80937-85D1-A56F-1875-BD4115BAC3A3}"/>
                  </a:ext>
                </a:extLst>
              </p:cNvPr>
              <p:cNvGrpSpPr/>
              <p:nvPr/>
            </p:nvGrpSpPr>
            <p:grpSpPr>
              <a:xfrm rot="9000000">
                <a:off x="6941933" y="2376469"/>
                <a:ext cx="1171480" cy="5921533"/>
                <a:chOff x="7908210" y="2149886"/>
                <a:chExt cx="1371600" cy="6933086"/>
              </a:xfrm>
            </p:grpSpPr>
            <p:sp>
              <p:nvSpPr>
                <p:cNvPr id="41" name="Oval 40">
                  <a:extLst>
                    <a:ext uri="{FF2B5EF4-FFF2-40B4-BE49-F238E27FC236}">
                      <a16:creationId xmlns:a16="http://schemas.microsoft.com/office/drawing/2014/main" id="{29C6996D-4A45-2A28-1BC5-86C627AEEE09}"/>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AAAA4A89-955E-F0CD-D49B-65DCE9704042}"/>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sp>
          <p:nvSpPr>
            <p:cNvPr id="43" name="TextBox 42">
              <a:extLst>
                <a:ext uri="{FF2B5EF4-FFF2-40B4-BE49-F238E27FC236}">
                  <a16:creationId xmlns:a16="http://schemas.microsoft.com/office/drawing/2014/main" id="{C3E32FF3-6628-2EAE-4402-1761742788BB}"/>
                </a:ext>
              </a:extLst>
            </p:cNvPr>
            <p:cNvSpPr txBox="1"/>
            <p:nvPr/>
          </p:nvSpPr>
          <p:spPr>
            <a:xfrm>
              <a:off x="9617768" y="4829815"/>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1</a:t>
              </a:r>
            </a:p>
          </p:txBody>
        </p:sp>
        <p:sp>
          <p:nvSpPr>
            <p:cNvPr id="47" name="TextBox 46">
              <a:extLst>
                <a:ext uri="{FF2B5EF4-FFF2-40B4-BE49-F238E27FC236}">
                  <a16:creationId xmlns:a16="http://schemas.microsoft.com/office/drawing/2014/main" id="{A7EDA4D7-9D6E-2538-D118-0CF3C7A07B2C}"/>
                </a:ext>
              </a:extLst>
            </p:cNvPr>
            <p:cNvSpPr txBox="1"/>
            <p:nvPr/>
          </p:nvSpPr>
          <p:spPr>
            <a:xfrm>
              <a:off x="8429728"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2</a:t>
              </a:r>
            </a:p>
          </p:txBody>
        </p:sp>
        <p:sp>
          <p:nvSpPr>
            <p:cNvPr id="48" name="TextBox 47">
              <a:extLst>
                <a:ext uri="{FF2B5EF4-FFF2-40B4-BE49-F238E27FC236}">
                  <a16:creationId xmlns:a16="http://schemas.microsoft.com/office/drawing/2014/main" id="{F8537209-1BFE-DD3E-1644-0C4F5A406581}"/>
                </a:ext>
              </a:extLst>
            </p:cNvPr>
            <p:cNvSpPr txBox="1"/>
            <p:nvPr/>
          </p:nvSpPr>
          <p:spPr>
            <a:xfrm>
              <a:off x="6042019"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3</a:t>
              </a:r>
            </a:p>
          </p:txBody>
        </p:sp>
        <p:sp>
          <p:nvSpPr>
            <p:cNvPr id="49" name="TextBox 48">
              <a:extLst>
                <a:ext uri="{FF2B5EF4-FFF2-40B4-BE49-F238E27FC236}">
                  <a16:creationId xmlns:a16="http://schemas.microsoft.com/office/drawing/2014/main" id="{33726CEC-F2FA-8A6E-91DB-EFF5D1AAD504}"/>
                </a:ext>
              </a:extLst>
            </p:cNvPr>
            <p:cNvSpPr txBox="1"/>
            <p:nvPr/>
          </p:nvSpPr>
          <p:spPr>
            <a:xfrm>
              <a:off x="4850374" y="4780854"/>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4</a:t>
              </a:r>
            </a:p>
          </p:txBody>
        </p:sp>
        <p:sp>
          <p:nvSpPr>
            <p:cNvPr id="50" name="TextBox 49">
              <a:extLst>
                <a:ext uri="{FF2B5EF4-FFF2-40B4-BE49-F238E27FC236}">
                  <a16:creationId xmlns:a16="http://schemas.microsoft.com/office/drawing/2014/main" id="{73EA5AA3-CA2E-80AB-AD34-7751B8911B8E}"/>
                </a:ext>
              </a:extLst>
            </p:cNvPr>
            <p:cNvSpPr txBox="1"/>
            <p:nvPr/>
          </p:nvSpPr>
          <p:spPr>
            <a:xfrm>
              <a:off x="6054703" y="2772569"/>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5</a:t>
              </a:r>
            </a:p>
          </p:txBody>
        </p:sp>
        <p:sp>
          <p:nvSpPr>
            <p:cNvPr id="51" name="TextBox 50">
              <a:extLst>
                <a:ext uri="{FF2B5EF4-FFF2-40B4-BE49-F238E27FC236}">
                  <a16:creationId xmlns:a16="http://schemas.microsoft.com/office/drawing/2014/main" id="{A10C3353-5CC5-6553-9B06-81A0E89CB861}"/>
                </a:ext>
              </a:extLst>
            </p:cNvPr>
            <p:cNvSpPr txBox="1"/>
            <p:nvPr/>
          </p:nvSpPr>
          <p:spPr>
            <a:xfrm>
              <a:off x="8429729" y="2772570"/>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6</a:t>
              </a:r>
            </a:p>
          </p:txBody>
        </p:sp>
      </p:grpSp>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3011870" y="9113698"/>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350813"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2020285"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p:cNvGrpSpPr/>
          <p:nvPr/>
        </p:nvGrpSpPr>
        <p:grpSpPr>
          <a:xfrm>
            <a:off x="2681342"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16786804" y="1028700"/>
            <a:ext cx="472496" cy="541606"/>
            <a:chOff x="0" y="0"/>
            <a:chExt cx="1243443" cy="1425315"/>
          </a:xfrm>
        </p:grpSpPr>
        <p:sp>
          <p:nvSpPr>
            <p:cNvPr id="23" name="Freeform 23"/>
            <p:cNvSpPr/>
            <p:nvPr/>
          </p:nvSpPr>
          <p:spPr>
            <a:xfrm>
              <a:off x="0" y="0"/>
              <a:ext cx="1243443" cy="1425315"/>
            </a:xfrm>
            <a:custGeom>
              <a:avLst/>
              <a:gdLst/>
              <a:ahLst/>
              <a:cxnLst/>
              <a:rect l="l" t="t" r="r" b="b"/>
              <a:pathLst>
                <a:path w="1243443" h="1425315">
                  <a:moveTo>
                    <a:pt x="621722" y="0"/>
                  </a:moveTo>
                  <a:cubicBezTo>
                    <a:pt x="278354" y="0"/>
                    <a:pt x="0" y="319068"/>
                    <a:pt x="0" y="712658"/>
                  </a:cubicBezTo>
                  <a:cubicBezTo>
                    <a:pt x="0" y="1106247"/>
                    <a:pt x="278354" y="1425315"/>
                    <a:pt x="621722" y="1425315"/>
                  </a:cubicBezTo>
                  <a:cubicBezTo>
                    <a:pt x="965089" y="1425315"/>
                    <a:pt x="1243443" y="1106247"/>
                    <a:pt x="1243443" y="712658"/>
                  </a:cubicBezTo>
                  <a:cubicBezTo>
                    <a:pt x="1243443" y="319068"/>
                    <a:pt x="965089" y="0"/>
                    <a:pt x="621722"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p:cNvSpPr txBox="1"/>
            <p:nvPr/>
          </p:nvSpPr>
          <p:spPr>
            <a:xfrm>
              <a:off x="116573" y="105048"/>
              <a:ext cx="1010298" cy="11866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7</a:t>
              </a:r>
            </a:p>
          </p:txBody>
        </p:sp>
      </p:grpSp>
      <p:sp>
        <p:nvSpPr>
          <p:cNvPr id="25" name="TextBox 25"/>
          <p:cNvSpPr txBox="1"/>
          <p:nvPr/>
        </p:nvSpPr>
        <p:spPr>
          <a:xfrm>
            <a:off x="1028700" y="1028700"/>
            <a:ext cx="9568021" cy="109537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Các phân tích chính</a:t>
            </a:r>
          </a:p>
        </p:txBody>
      </p:sp>
      <p:grpSp>
        <p:nvGrpSpPr>
          <p:cNvPr id="27" name="Group 27"/>
          <p:cNvGrpSpPr/>
          <p:nvPr/>
        </p:nvGrpSpPr>
        <p:grpSpPr>
          <a:xfrm>
            <a:off x="4333983" y="9118272"/>
            <a:ext cx="140028" cy="140028"/>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p:cNvGrpSpPr/>
          <p:nvPr/>
        </p:nvGrpSpPr>
        <p:grpSpPr>
          <a:xfrm>
            <a:off x="4664512" y="9122846"/>
            <a:ext cx="140028" cy="140028"/>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p:cNvGrpSpPr/>
          <p:nvPr/>
        </p:nvGrpSpPr>
        <p:grpSpPr>
          <a:xfrm>
            <a:off x="4995040" y="9127420"/>
            <a:ext cx="140028" cy="140028"/>
            <a:chOff x="0" y="0"/>
            <a:chExt cx="6350000" cy="6350000"/>
          </a:xfrm>
        </p:grpSpPr>
        <p:sp>
          <p:nvSpPr>
            <p:cNvPr id="32" name="Freeform 3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54" name="Rectangle 53">
            <a:extLst>
              <a:ext uri="{FF2B5EF4-FFF2-40B4-BE49-F238E27FC236}">
                <a16:creationId xmlns:a16="http://schemas.microsoft.com/office/drawing/2014/main" id="{F657A72D-C31C-D9C5-CD2C-C1CBD507C3FD}"/>
              </a:ext>
            </a:extLst>
          </p:cNvPr>
          <p:cNvSpPr/>
          <p:nvPr/>
        </p:nvSpPr>
        <p:spPr>
          <a:xfrm>
            <a:off x="7772757" y="2387896"/>
            <a:ext cx="45719" cy="64899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5" name="TextBox 25">
            <a:extLst>
              <a:ext uri="{FF2B5EF4-FFF2-40B4-BE49-F238E27FC236}">
                <a16:creationId xmlns:a16="http://schemas.microsoft.com/office/drawing/2014/main" id="{CF48BC3F-4258-AE08-115A-F56FC9B37DC8}"/>
              </a:ext>
            </a:extLst>
          </p:cNvPr>
          <p:cNvSpPr txBox="1"/>
          <p:nvPr/>
        </p:nvSpPr>
        <p:spPr>
          <a:xfrm>
            <a:off x="3342398" y="3426836"/>
            <a:ext cx="4052819" cy="3177152"/>
          </a:xfrm>
          <a:prstGeom prst="rect">
            <a:avLst/>
          </a:prstGeom>
        </p:spPr>
        <p:txBody>
          <a:bodyPr wrap="square" lIns="0" tIns="0" rIns="0" bIns="0" rtlCol="0" anchor="t">
            <a:spAutoFit/>
          </a:bodyPr>
          <a:lstStyle/>
          <a:p>
            <a:pPr marL="0" lvl="0" indent="0" algn="l">
              <a:lnSpc>
                <a:spcPts val="8640"/>
              </a:lnSpc>
              <a:spcBef>
                <a:spcPct val="0"/>
              </a:spcBef>
            </a:pPr>
            <a:r>
              <a:rPr lang="en-US" sz="4800" b="1" spc="-144">
                <a:solidFill>
                  <a:srgbClr val="000000"/>
                </a:solidFill>
                <a:latin typeface="Times New Roman" panose="02020603050405020304" pitchFamily="18" charset="0"/>
                <a:ea typeface="Garet Bold"/>
                <a:cs typeface="Times New Roman" panose="02020603050405020304" pitchFamily="18" charset="0"/>
                <a:sym typeface="Garet Bold"/>
              </a:rPr>
              <a:t>Phân tích chỉ số RFM và phân loại khách hàng</a:t>
            </a:r>
          </a:p>
        </p:txBody>
      </p:sp>
      <p:pic>
        <p:nvPicPr>
          <p:cNvPr id="53" name="Picture 52" descr="A screenshot of a computer&#10;&#10;AI-generated content may be incorrect.">
            <a:extLst>
              <a:ext uri="{FF2B5EF4-FFF2-40B4-BE49-F238E27FC236}">
                <a16:creationId xmlns:a16="http://schemas.microsoft.com/office/drawing/2014/main" id="{524F5C52-DDEF-6FE1-4FE5-E7A03D16568F}"/>
              </a:ext>
            </a:extLst>
          </p:cNvPr>
          <p:cNvPicPr>
            <a:picLocks noChangeAspect="1"/>
          </p:cNvPicPr>
          <p:nvPr/>
        </p:nvPicPr>
        <p:blipFill>
          <a:blip r:embed="rId3"/>
          <a:stretch>
            <a:fillRect/>
          </a:stretch>
        </p:blipFill>
        <p:spPr>
          <a:xfrm>
            <a:off x="8554078" y="2387896"/>
            <a:ext cx="8660926" cy="68420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1EAFC-F3EB-FC10-7235-F827DC260F95}"/>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E9595804-480B-689C-75ED-4E7E2FB2B7EB}"/>
              </a:ext>
            </a:extLst>
          </p:cNvPr>
          <p:cNvGrpSpPr/>
          <p:nvPr/>
        </p:nvGrpSpPr>
        <p:grpSpPr>
          <a:xfrm rot="18000000">
            <a:off x="-2960767" y="2085975"/>
            <a:ext cx="5921534" cy="5922855"/>
            <a:chOff x="4566668" y="2376469"/>
            <a:chExt cx="5921534" cy="5922855"/>
          </a:xfrm>
        </p:grpSpPr>
        <p:grpSp>
          <p:nvGrpSpPr>
            <p:cNvPr id="46" name="Group 45">
              <a:extLst>
                <a:ext uri="{FF2B5EF4-FFF2-40B4-BE49-F238E27FC236}">
                  <a16:creationId xmlns:a16="http://schemas.microsoft.com/office/drawing/2014/main" id="{CAFF0B58-D134-2A41-9460-C843972EB6DD}"/>
                </a:ext>
              </a:extLst>
            </p:cNvPr>
            <p:cNvGrpSpPr/>
            <p:nvPr/>
          </p:nvGrpSpPr>
          <p:grpSpPr>
            <a:xfrm>
              <a:off x="4566668" y="2376469"/>
              <a:ext cx="5921534" cy="5922855"/>
              <a:chOff x="4566668" y="2376469"/>
              <a:chExt cx="5921534" cy="5922855"/>
            </a:xfrm>
          </p:grpSpPr>
          <p:sp>
            <p:nvSpPr>
              <p:cNvPr id="33" name="Circle: Hollow 32">
                <a:extLst>
                  <a:ext uri="{FF2B5EF4-FFF2-40B4-BE49-F238E27FC236}">
                    <a16:creationId xmlns:a16="http://schemas.microsoft.com/office/drawing/2014/main" id="{B0074DE9-DCEA-B164-5508-AB86DFA5C358}"/>
                  </a:ext>
                </a:extLst>
              </p:cNvPr>
              <p:cNvSpPr/>
              <p:nvPr/>
            </p:nvSpPr>
            <p:spPr>
              <a:xfrm rot="1800000">
                <a:off x="5151933" y="2962146"/>
                <a:ext cx="4751004" cy="4751004"/>
              </a:xfrm>
              <a:prstGeom prst="donut">
                <a:avLst>
                  <a:gd name="adj" fmla="val 34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A839BD0F-7812-A8AF-95DB-CE525E7FEB41}"/>
                  </a:ext>
                </a:extLst>
              </p:cNvPr>
              <p:cNvGrpSpPr/>
              <p:nvPr/>
            </p:nvGrpSpPr>
            <p:grpSpPr>
              <a:xfrm rot="1800000">
                <a:off x="6941170" y="2377790"/>
                <a:ext cx="1171481" cy="5921534"/>
                <a:chOff x="7908210" y="2149885"/>
                <a:chExt cx="1371600" cy="6933087"/>
              </a:xfrm>
            </p:grpSpPr>
            <p:sp>
              <p:nvSpPr>
                <p:cNvPr id="34" name="Oval 33">
                  <a:extLst>
                    <a:ext uri="{FF2B5EF4-FFF2-40B4-BE49-F238E27FC236}">
                      <a16:creationId xmlns:a16="http://schemas.microsoft.com/office/drawing/2014/main" id="{A1B105BA-CB31-48CA-B331-3E591E42A9C3}"/>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C7A00CF5-76CB-B90D-C2A3-9BCAE7D6EC99}"/>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FD8AFAA2-15BD-BA9D-01B0-F4BBC0249CFF}"/>
                  </a:ext>
                </a:extLst>
              </p:cNvPr>
              <p:cNvGrpSpPr/>
              <p:nvPr/>
            </p:nvGrpSpPr>
            <p:grpSpPr>
              <a:xfrm rot="5400000">
                <a:off x="6941695" y="2376880"/>
                <a:ext cx="1171480" cy="5921534"/>
                <a:chOff x="7908210" y="2149885"/>
                <a:chExt cx="1371600" cy="6933087"/>
              </a:xfrm>
            </p:grpSpPr>
            <p:sp>
              <p:nvSpPr>
                <p:cNvPr id="38" name="Oval 37">
                  <a:extLst>
                    <a:ext uri="{FF2B5EF4-FFF2-40B4-BE49-F238E27FC236}">
                      <a16:creationId xmlns:a16="http://schemas.microsoft.com/office/drawing/2014/main" id="{A4624477-5A41-067D-145C-8440A94981EC}"/>
                    </a:ext>
                  </a:extLst>
                </p:cNvPr>
                <p:cNvSpPr/>
                <p:nvPr/>
              </p:nvSpPr>
              <p:spPr>
                <a:xfrm>
                  <a:off x="7908210" y="2149885"/>
                  <a:ext cx="1371600" cy="13716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13ED9C7B-AAD1-3AA4-A792-FFF6DB4ACACA}"/>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CFD74BEC-E880-371D-E143-143615C8C636}"/>
                  </a:ext>
                </a:extLst>
              </p:cNvPr>
              <p:cNvGrpSpPr/>
              <p:nvPr/>
            </p:nvGrpSpPr>
            <p:grpSpPr>
              <a:xfrm rot="9000000">
                <a:off x="6941933" y="2376469"/>
                <a:ext cx="1171480" cy="5921534"/>
                <a:chOff x="7908210" y="2149885"/>
                <a:chExt cx="1371600" cy="6933087"/>
              </a:xfrm>
            </p:grpSpPr>
            <p:sp>
              <p:nvSpPr>
                <p:cNvPr id="41" name="Oval 40">
                  <a:extLst>
                    <a:ext uri="{FF2B5EF4-FFF2-40B4-BE49-F238E27FC236}">
                      <a16:creationId xmlns:a16="http://schemas.microsoft.com/office/drawing/2014/main" id="{292D1D7F-14C3-A8FA-B46C-84B2645736B5}"/>
                    </a:ext>
                  </a:extLst>
                </p:cNvPr>
                <p:cNvSpPr/>
                <p:nvPr/>
              </p:nvSpPr>
              <p:spPr>
                <a:xfrm>
                  <a:off x="7908210" y="2149885"/>
                  <a:ext cx="1371600" cy="13716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410E19C5-5202-7E6B-4873-FA9BB343FA4D}"/>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sp>
          <p:nvSpPr>
            <p:cNvPr id="43" name="TextBox 42">
              <a:extLst>
                <a:ext uri="{FF2B5EF4-FFF2-40B4-BE49-F238E27FC236}">
                  <a16:creationId xmlns:a16="http://schemas.microsoft.com/office/drawing/2014/main" id="{51D041FC-B557-8B54-2CD1-68BCA66ACC89}"/>
                </a:ext>
              </a:extLst>
            </p:cNvPr>
            <p:cNvSpPr txBox="1"/>
            <p:nvPr/>
          </p:nvSpPr>
          <p:spPr>
            <a:xfrm rot="3600000">
              <a:off x="9617768" y="4829815"/>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1</a:t>
              </a:r>
            </a:p>
          </p:txBody>
        </p:sp>
        <p:sp>
          <p:nvSpPr>
            <p:cNvPr id="47" name="TextBox 46">
              <a:extLst>
                <a:ext uri="{FF2B5EF4-FFF2-40B4-BE49-F238E27FC236}">
                  <a16:creationId xmlns:a16="http://schemas.microsoft.com/office/drawing/2014/main" id="{43E34BA8-99AA-B4E8-D91E-D5D205FE2D04}"/>
                </a:ext>
              </a:extLst>
            </p:cNvPr>
            <p:cNvSpPr txBox="1"/>
            <p:nvPr/>
          </p:nvSpPr>
          <p:spPr>
            <a:xfrm rot="3600000">
              <a:off x="8429727"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2</a:t>
              </a:r>
            </a:p>
          </p:txBody>
        </p:sp>
        <p:sp>
          <p:nvSpPr>
            <p:cNvPr id="48" name="TextBox 47">
              <a:extLst>
                <a:ext uri="{FF2B5EF4-FFF2-40B4-BE49-F238E27FC236}">
                  <a16:creationId xmlns:a16="http://schemas.microsoft.com/office/drawing/2014/main" id="{C3B8883D-DFC3-BBC8-8C92-94218A2452C3}"/>
                </a:ext>
              </a:extLst>
            </p:cNvPr>
            <p:cNvSpPr txBox="1"/>
            <p:nvPr/>
          </p:nvSpPr>
          <p:spPr>
            <a:xfrm rot="3600000">
              <a:off x="6042019"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3</a:t>
              </a:r>
            </a:p>
          </p:txBody>
        </p:sp>
        <p:sp>
          <p:nvSpPr>
            <p:cNvPr id="49" name="TextBox 48">
              <a:extLst>
                <a:ext uri="{FF2B5EF4-FFF2-40B4-BE49-F238E27FC236}">
                  <a16:creationId xmlns:a16="http://schemas.microsoft.com/office/drawing/2014/main" id="{71562B96-92BF-40CA-70EE-C575278F3E95}"/>
                </a:ext>
              </a:extLst>
            </p:cNvPr>
            <p:cNvSpPr txBox="1"/>
            <p:nvPr/>
          </p:nvSpPr>
          <p:spPr>
            <a:xfrm rot="3600000">
              <a:off x="4850374" y="4780854"/>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4</a:t>
              </a:r>
            </a:p>
          </p:txBody>
        </p:sp>
        <p:sp>
          <p:nvSpPr>
            <p:cNvPr id="50" name="TextBox 49">
              <a:extLst>
                <a:ext uri="{FF2B5EF4-FFF2-40B4-BE49-F238E27FC236}">
                  <a16:creationId xmlns:a16="http://schemas.microsoft.com/office/drawing/2014/main" id="{0A5DA81A-7192-E32E-F42E-1D0604238F71}"/>
                </a:ext>
              </a:extLst>
            </p:cNvPr>
            <p:cNvSpPr txBox="1"/>
            <p:nvPr/>
          </p:nvSpPr>
          <p:spPr>
            <a:xfrm rot="3600000">
              <a:off x="6054702" y="2772569"/>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5</a:t>
              </a:r>
            </a:p>
          </p:txBody>
        </p:sp>
        <p:sp>
          <p:nvSpPr>
            <p:cNvPr id="51" name="TextBox 50">
              <a:extLst>
                <a:ext uri="{FF2B5EF4-FFF2-40B4-BE49-F238E27FC236}">
                  <a16:creationId xmlns:a16="http://schemas.microsoft.com/office/drawing/2014/main" id="{44900BCC-949E-5EFA-1985-174226812DEC}"/>
                </a:ext>
              </a:extLst>
            </p:cNvPr>
            <p:cNvSpPr txBox="1"/>
            <p:nvPr/>
          </p:nvSpPr>
          <p:spPr>
            <a:xfrm rot="3600000">
              <a:off x="8429729" y="2772570"/>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6</a:t>
              </a:r>
            </a:p>
          </p:txBody>
        </p:sp>
      </p:grpSp>
      <p:grpSp>
        <p:nvGrpSpPr>
          <p:cNvPr id="2" name="Group 2">
            <a:extLst>
              <a:ext uri="{FF2B5EF4-FFF2-40B4-BE49-F238E27FC236}">
                <a16:creationId xmlns:a16="http://schemas.microsoft.com/office/drawing/2014/main" id="{FDD74B8F-C6EE-497D-3977-95C1BB156255}"/>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113F9214-BEDF-F2C8-A76D-CC15BC83195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760A9010-9E39-150D-EE35-54F0EC46DB4C}"/>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9227BE6D-0069-F32D-ECB4-185D6296F22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ED7CE98B-6CD3-16F5-01EC-BBC3688500AD}"/>
              </a:ext>
            </a:extLst>
          </p:cNvPr>
          <p:cNvGrpSpPr/>
          <p:nvPr/>
        </p:nvGrpSpPr>
        <p:grpSpPr>
          <a:xfrm>
            <a:off x="3011870" y="9113698"/>
            <a:ext cx="140028" cy="140028"/>
            <a:chOff x="0" y="0"/>
            <a:chExt cx="6350000" cy="6350000"/>
          </a:xfrm>
        </p:grpSpPr>
        <p:sp>
          <p:nvSpPr>
            <p:cNvPr id="7" name="Freeform 7">
              <a:extLst>
                <a:ext uri="{FF2B5EF4-FFF2-40B4-BE49-F238E27FC236}">
                  <a16:creationId xmlns:a16="http://schemas.microsoft.com/office/drawing/2014/main" id="{F0AEDB8F-7C5F-FF5A-66CA-158EADD5319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78DFA92B-8001-0BE5-C8E3-A8F01744EF57}"/>
              </a:ext>
            </a:extLst>
          </p:cNvPr>
          <p:cNvGrpSpPr/>
          <p:nvPr/>
        </p:nvGrpSpPr>
        <p:grpSpPr>
          <a:xfrm>
            <a:off x="2350813" y="9113698"/>
            <a:ext cx="140028" cy="140028"/>
            <a:chOff x="0" y="0"/>
            <a:chExt cx="6350000" cy="6350000"/>
          </a:xfrm>
        </p:grpSpPr>
        <p:sp>
          <p:nvSpPr>
            <p:cNvPr id="9" name="Freeform 9">
              <a:extLst>
                <a:ext uri="{FF2B5EF4-FFF2-40B4-BE49-F238E27FC236}">
                  <a16:creationId xmlns:a16="http://schemas.microsoft.com/office/drawing/2014/main" id="{9B85120A-0E2C-0060-0BC2-C795659F6FF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A3F95EF7-715F-CB09-45F1-5B55F79C93FF}"/>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5840B4CB-7DF2-B8B8-1180-50EC32C77EA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1D2DCC06-6F79-8959-8BC0-260E99F6FE35}"/>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FEFABB39-606F-1A54-9DDF-A91AB39AA2B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375452C6-4F4D-A1FE-7FF6-36C758C0BBD2}"/>
              </a:ext>
            </a:extLst>
          </p:cNvPr>
          <p:cNvGrpSpPr/>
          <p:nvPr/>
        </p:nvGrpSpPr>
        <p:grpSpPr>
          <a:xfrm>
            <a:off x="2020285" y="9113698"/>
            <a:ext cx="140028" cy="140028"/>
            <a:chOff x="0" y="0"/>
            <a:chExt cx="6350000" cy="6350000"/>
          </a:xfrm>
        </p:grpSpPr>
        <p:sp>
          <p:nvSpPr>
            <p:cNvPr id="15" name="Freeform 15">
              <a:extLst>
                <a:ext uri="{FF2B5EF4-FFF2-40B4-BE49-F238E27FC236}">
                  <a16:creationId xmlns:a16="http://schemas.microsoft.com/office/drawing/2014/main" id="{DC06BB44-30F6-CD0A-1043-AD9C67F954E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420FDC35-4C4B-DCF8-1789-E52E36D8418C}"/>
              </a:ext>
            </a:extLst>
          </p:cNvPr>
          <p:cNvGrpSpPr/>
          <p:nvPr/>
        </p:nvGrpSpPr>
        <p:grpSpPr>
          <a:xfrm>
            <a:off x="2681342" y="9113698"/>
            <a:ext cx="140028" cy="140028"/>
            <a:chOff x="0" y="0"/>
            <a:chExt cx="6350000" cy="6350000"/>
          </a:xfrm>
        </p:grpSpPr>
        <p:sp>
          <p:nvSpPr>
            <p:cNvPr id="17" name="Freeform 17">
              <a:extLst>
                <a:ext uri="{FF2B5EF4-FFF2-40B4-BE49-F238E27FC236}">
                  <a16:creationId xmlns:a16="http://schemas.microsoft.com/office/drawing/2014/main" id="{67D8AE78-7159-BB67-602C-A65791D388D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E2259F7C-53FF-2BC9-6A5D-E6C75F78F900}"/>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27C36F8A-FDD2-BFB5-68D2-981DC056E20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41391437-6340-CA99-7CAC-D3E611BF5AAD}"/>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AFC3E332-0092-AFF3-4655-A33620E35F8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BCA0772D-DFD3-B16B-D1EE-AC07821D0520}"/>
              </a:ext>
            </a:extLst>
          </p:cNvPr>
          <p:cNvGrpSpPr/>
          <p:nvPr/>
        </p:nvGrpSpPr>
        <p:grpSpPr>
          <a:xfrm>
            <a:off x="16786804" y="1028700"/>
            <a:ext cx="472496" cy="541606"/>
            <a:chOff x="0" y="0"/>
            <a:chExt cx="1243443" cy="1425315"/>
          </a:xfrm>
        </p:grpSpPr>
        <p:sp>
          <p:nvSpPr>
            <p:cNvPr id="23" name="Freeform 23">
              <a:extLst>
                <a:ext uri="{FF2B5EF4-FFF2-40B4-BE49-F238E27FC236}">
                  <a16:creationId xmlns:a16="http://schemas.microsoft.com/office/drawing/2014/main" id="{2B1AAED6-6733-C2F3-B23B-4BA6F657872D}"/>
                </a:ext>
              </a:extLst>
            </p:cNvPr>
            <p:cNvSpPr/>
            <p:nvPr/>
          </p:nvSpPr>
          <p:spPr>
            <a:xfrm>
              <a:off x="0" y="0"/>
              <a:ext cx="1243443" cy="1425315"/>
            </a:xfrm>
            <a:custGeom>
              <a:avLst/>
              <a:gdLst/>
              <a:ahLst/>
              <a:cxnLst/>
              <a:rect l="l" t="t" r="r" b="b"/>
              <a:pathLst>
                <a:path w="1243443" h="1425315">
                  <a:moveTo>
                    <a:pt x="621722" y="0"/>
                  </a:moveTo>
                  <a:cubicBezTo>
                    <a:pt x="278354" y="0"/>
                    <a:pt x="0" y="319068"/>
                    <a:pt x="0" y="712658"/>
                  </a:cubicBezTo>
                  <a:cubicBezTo>
                    <a:pt x="0" y="1106247"/>
                    <a:pt x="278354" y="1425315"/>
                    <a:pt x="621722" y="1425315"/>
                  </a:cubicBezTo>
                  <a:cubicBezTo>
                    <a:pt x="965089" y="1425315"/>
                    <a:pt x="1243443" y="1106247"/>
                    <a:pt x="1243443" y="712658"/>
                  </a:cubicBezTo>
                  <a:cubicBezTo>
                    <a:pt x="1243443" y="319068"/>
                    <a:pt x="965089" y="0"/>
                    <a:pt x="621722"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99B536E2-352B-D616-B9B0-2E154F26D1B0}"/>
                </a:ext>
              </a:extLst>
            </p:cNvPr>
            <p:cNvSpPr txBox="1"/>
            <p:nvPr/>
          </p:nvSpPr>
          <p:spPr>
            <a:xfrm>
              <a:off x="116573" y="105048"/>
              <a:ext cx="1010298" cy="11866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7</a:t>
              </a:r>
            </a:p>
          </p:txBody>
        </p:sp>
      </p:grpSp>
      <p:grpSp>
        <p:nvGrpSpPr>
          <p:cNvPr id="27" name="Group 27">
            <a:extLst>
              <a:ext uri="{FF2B5EF4-FFF2-40B4-BE49-F238E27FC236}">
                <a16:creationId xmlns:a16="http://schemas.microsoft.com/office/drawing/2014/main" id="{138A419D-244F-699A-4871-332241118840}"/>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D60C4F5F-408A-C078-58EB-D9B5BDFA357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D5AAD1D3-17DB-EF42-9613-8F95CC883048}"/>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48B49338-0697-D2F7-B4F0-DBD25FED591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a:extLst>
              <a:ext uri="{FF2B5EF4-FFF2-40B4-BE49-F238E27FC236}">
                <a16:creationId xmlns:a16="http://schemas.microsoft.com/office/drawing/2014/main" id="{5F39CFA9-1E8E-F1FB-5043-1E1CBB685320}"/>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34E3B3AC-E350-94CE-5FCF-C97E8FEA61B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44" name="Rectangle 43">
            <a:extLst>
              <a:ext uri="{FF2B5EF4-FFF2-40B4-BE49-F238E27FC236}">
                <a16:creationId xmlns:a16="http://schemas.microsoft.com/office/drawing/2014/main" id="{9D0FB627-B26D-2061-04DB-98E72AB987CF}"/>
              </a:ext>
            </a:extLst>
          </p:cNvPr>
          <p:cNvSpPr/>
          <p:nvPr/>
        </p:nvSpPr>
        <p:spPr>
          <a:xfrm>
            <a:off x="7772757" y="2387896"/>
            <a:ext cx="45719" cy="64899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FE472E91-E083-C546-23F7-38DA153B0B1B}"/>
              </a:ext>
            </a:extLst>
          </p:cNvPr>
          <p:cNvSpPr txBox="1"/>
          <p:nvPr/>
        </p:nvSpPr>
        <p:spPr>
          <a:xfrm>
            <a:off x="1028700" y="1028700"/>
            <a:ext cx="9568021" cy="109537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Các phân tích chính</a:t>
            </a:r>
          </a:p>
        </p:txBody>
      </p:sp>
      <p:sp>
        <p:nvSpPr>
          <p:cNvPr id="54" name="TextBox 25">
            <a:extLst>
              <a:ext uri="{FF2B5EF4-FFF2-40B4-BE49-F238E27FC236}">
                <a16:creationId xmlns:a16="http://schemas.microsoft.com/office/drawing/2014/main" id="{2DD6FA57-50CF-E3B6-B0E0-C0A938D76E1D}"/>
              </a:ext>
            </a:extLst>
          </p:cNvPr>
          <p:cNvSpPr txBox="1"/>
          <p:nvPr/>
        </p:nvSpPr>
        <p:spPr>
          <a:xfrm>
            <a:off x="3011870" y="3426836"/>
            <a:ext cx="4669449" cy="3177152"/>
          </a:xfrm>
          <a:prstGeom prst="rect">
            <a:avLst/>
          </a:prstGeom>
        </p:spPr>
        <p:txBody>
          <a:bodyPr wrap="square" lIns="0" tIns="0" rIns="0" bIns="0" rtlCol="0" anchor="t">
            <a:spAutoFit/>
          </a:bodyPr>
          <a:lstStyle/>
          <a:p>
            <a:pPr marL="0" lvl="0" indent="0" algn="l">
              <a:lnSpc>
                <a:spcPts val="8640"/>
              </a:lnSpc>
              <a:spcBef>
                <a:spcPct val="0"/>
              </a:spcBef>
            </a:pPr>
            <a:r>
              <a:rPr lang="en-US" sz="4800" b="1" spc="-144">
                <a:solidFill>
                  <a:srgbClr val="000000"/>
                </a:solidFill>
                <a:latin typeface="Times New Roman" panose="02020603050405020304" pitchFamily="18" charset="0"/>
                <a:ea typeface="Garet Bold"/>
                <a:cs typeface="Times New Roman" panose="02020603050405020304" pitchFamily="18" charset="0"/>
                <a:sym typeface="Garet Bold"/>
              </a:rPr>
              <a:t>Phân tích doanh thu và số lượng của từng sản phẩm</a:t>
            </a:r>
          </a:p>
        </p:txBody>
      </p:sp>
      <p:pic>
        <p:nvPicPr>
          <p:cNvPr id="57" name="Picture 56" descr="A screenshot of a computer&#10;&#10;AI-generated content may be incorrect.">
            <a:extLst>
              <a:ext uri="{FF2B5EF4-FFF2-40B4-BE49-F238E27FC236}">
                <a16:creationId xmlns:a16="http://schemas.microsoft.com/office/drawing/2014/main" id="{6CD11FAE-5FBE-B9AE-B4DD-437EE81F9960}"/>
              </a:ext>
            </a:extLst>
          </p:cNvPr>
          <p:cNvPicPr>
            <a:picLocks noChangeAspect="1"/>
          </p:cNvPicPr>
          <p:nvPr/>
        </p:nvPicPr>
        <p:blipFill>
          <a:blip r:embed="rId3"/>
          <a:stretch>
            <a:fillRect/>
          </a:stretch>
        </p:blipFill>
        <p:spPr>
          <a:xfrm>
            <a:off x="8443364" y="2190308"/>
            <a:ext cx="8065519" cy="7063418"/>
          </a:xfrm>
          <a:prstGeom prst="rect">
            <a:avLst/>
          </a:prstGeom>
        </p:spPr>
      </p:pic>
    </p:spTree>
    <p:extLst>
      <p:ext uri="{BB962C8B-B14F-4D97-AF65-F5344CB8AC3E}">
        <p14:creationId xmlns:p14="http://schemas.microsoft.com/office/powerpoint/2010/main" val="419850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2FA1E-499D-5FC4-54DD-324E150F2880}"/>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05067305-18A6-4ECE-8590-876FB468F35D}"/>
              </a:ext>
            </a:extLst>
          </p:cNvPr>
          <p:cNvGrpSpPr/>
          <p:nvPr/>
        </p:nvGrpSpPr>
        <p:grpSpPr>
          <a:xfrm rot="14400000">
            <a:off x="-2960767" y="2085975"/>
            <a:ext cx="5921534" cy="5922855"/>
            <a:chOff x="4566668" y="2376469"/>
            <a:chExt cx="5921534" cy="5922855"/>
          </a:xfrm>
        </p:grpSpPr>
        <p:grpSp>
          <p:nvGrpSpPr>
            <p:cNvPr id="46" name="Group 45">
              <a:extLst>
                <a:ext uri="{FF2B5EF4-FFF2-40B4-BE49-F238E27FC236}">
                  <a16:creationId xmlns:a16="http://schemas.microsoft.com/office/drawing/2014/main" id="{1A8B9A11-4257-FC47-D80A-E4B19A41840D}"/>
                </a:ext>
              </a:extLst>
            </p:cNvPr>
            <p:cNvGrpSpPr/>
            <p:nvPr/>
          </p:nvGrpSpPr>
          <p:grpSpPr>
            <a:xfrm>
              <a:off x="4566668" y="2376469"/>
              <a:ext cx="5921534" cy="5922855"/>
              <a:chOff x="4566668" y="2376469"/>
              <a:chExt cx="5921534" cy="5922855"/>
            </a:xfrm>
          </p:grpSpPr>
          <p:sp>
            <p:nvSpPr>
              <p:cNvPr id="33" name="Circle: Hollow 32">
                <a:extLst>
                  <a:ext uri="{FF2B5EF4-FFF2-40B4-BE49-F238E27FC236}">
                    <a16:creationId xmlns:a16="http://schemas.microsoft.com/office/drawing/2014/main" id="{3598A3C4-A8A3-14E8-B435-ED0F4F4EAE0D}"/>
                  </a:ext>
                </a:extLst>
              </p:cNvPr>
              <p:cNvSpPr/>
              <p:nvPr/>
            </p:nvSpPr>
            <p:spPr>
              <a:xfrm rot="1800000">
                <a:off x="5151933" y="2962146"/>
                <a:ext cx="4751004" cy="4751004"/>
              </a:xfrm>
              <a:prstGeom prst="donut">
                <a:avLst>
                  <a:gd name="adj" fmla="val 34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A417F641-AEF0-0370-929C-BF4B0F73B423}"/>
                  </a:ext>
                </a:extLst>
              </p:cNvPr>
              <p:cNvGrpSpPr/>
              <p:nvPr/>
            </p:nvGrpSpPr>
            <p:grpSpPr>
              <a:xfrm rot="1800000">
                <a:off x="6941170" y="2377790"/>
                <a:ext cx="1171481" cy="5921534"/>
                <a:chOff x="7908210" y="2149885"/>
                <a:chExt cx="1371600" cy="6933087"/>
              </a:xfrm>
            </p:grpSpPr>
            <p:sp>
              <p:nvSpPr>
                <p:cNvPr id="34" name="Oval 33">
                  <a:extLst>
                    <a:ext uri="{FF2B5EF4-FFF2-40B4-BE49-F238E27FC236}">
                      <a16:creationId xmlns:a16="http://schemas.microsoft.com/office/drawing/2014/main" id="{08F67FDA-C601-F1F3-2944-6824C2292E97}"/>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7ACC3B65-6FDB-DF9E-4DB4-AEBB1950D069}"/>
                    </a:ext>
                  </a:extLst>
                </p:cNvPr>
                <p:cNvSpPr/>
                <p:nvPr/>
              </p:nvSpPr>
              <p:spPr>
                <a:xfrm>
                  <a:off x="7908210" y="7711372"/>
                  <a:ext cx="1371600" cy="13716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B2A3777E-64D2-A6D4-04A2-BB2303B7AD88}"/>
                  </a:ext>
                </a:extLst>
              </p:cNvPr>
              <p:cNvGrpSpPr/>
              <p:nvPr/>
            </p:nvGrpSpPr>
            <p:grpSpPr>
              <a:xfrm rot="5400000">
                <a:off x="6941695" y="2376880"/>
                <a:ext cx="1171480" cy="5921534"/>
                <a:chOff x="7908210" y="2149885"/>
                <a:chExt cx="1371600" cy="6933087"/>
              </a:xfrm>
            </p:grpSpPr>
            <p:sp>
              <p:nvSpPr>
                <p:cNvPr id="38" name="Oval 37">
                  <a:extLst>
                    <a:ext uri="{FF2B5EF4-FFF2-40B4-BE49-F238E27FC236}">
                      <a16:creationId xmlns:a16="http://schemas.microsoft.com/office/drawing/2014/main" id="{AA2EC344-5117-A3C7-E270-E8B54A128EF5}"/>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322B82FD-CC20-A6E3-EB61-1F239990723E}"/>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3F1DAE40-9F7E-7805-FFB2-A202BCFB5FA4}"/>
                  </a:ext>
                </a:extLst>
              </p:cNvPr>
              <p:cNvGrpSpPr/>
              <p:nvPr/>
            </p:nvGrpSpPr>
            <p:grpSpPr>
              <a:xfrm rot="9000000">
                <a:off x="6941933" y="2376469"/>
                <a:ext cx="1171480" cy="5921534"/>
                <a:chOff x="7908210" y="2149885"/>
                <a:chExt cx="1371600" cy="6933087"/>
              </a:xfrm>
            </p:grpSpPr>
            <p:sp>
              <p:nvSpPr>
                <p:cNvPr id="41" name="Oval 40">
                  <a:extLst>
                    <a:ext uri="{FF2B5EF4-FFF2-40B4-BE49-F238E27FC236}">
                      <a16:creationId xmlns:a16="http://schemas.microsoft.com/office/drawing/2014/main" id="{96CE808D-D637-6EBD-CB98-74A0C48091EC}"/>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C393128A-4216-6B35-DDFB-89EE6E786828}"/>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sp>
          <p:nvSpPr>
            <p:cNvPr id="43" name="TextBox 42">
              <a:extLst>
                <a:ext uri="{FF2B5EF4-FFF2-40B4-BE49-F238E27FC236}">
                  <a16:creationId xmlns:a16="http://schemas.microsoft.com/office/drawing/2014/main" id="{48E926DB-896F-BD3B-FC44-9B139E166270}"/>
                </a:ext>
              </a:extLst>
            </p:cNvPr>
            <p:cNvSpPr txBox="1"/>
            <p:nvPr/>
          </p:nvSpPr>
          <p:spPr>
            <a:xfrm rot="7200000">
              <a:off x="9617768" y="4829815"/>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1</a:t>
              </a:r>
            </a:p>
          </p:txBody>
        </p:sp>
        <p:sp>
          <p:nvSpPr>
            <p:cNvPr id="47" name="TextBox 46">
              <a:extLst>
                <a:ext uri="{FF2B5EF4-FFF2-40B4-BE49-F238E27FC236}">
                  <a16:creationId xmlns:a16="http://schemas.microsoft.com/office/drawing/2014/main" id="{6752785D-322D-D526-F0A9-F24A0D538585}"/>
                </a:ext>
              </a:extLst>
            </p:cNvPr>
            <p:cNvSpPr txBox="1"/>
            <p:nvPr/>
          </p:nvSpPr>
          <p:spPr>
            <a:xfrm rot="7200000">
              <a:off x="8429728"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2</a:t>
              </a:r>
            </a:p>
          </p:txBody>
        </p:sp>
        <p:sp>
          <p:nvSpPr>
            <p:cNvPr id="48" name="TextBox 47">
              <a:extLst>
                <a:ext uri="{FF2B5EF4-FFF2-40B4-BE49-F238E27FC236}">
                  <a16:creationId xmlns:a16="http://schemas.microsoft.com/office/drawing/2014/main" id="{EF460D5A-7871-9D95-D544-6E709C5FAA6B}"/>
                </a:ext>
              </a:extLst>
            </p:cNvPr>
            <p:cNvSpPr txBox="1"/>
            <p:nvPr/>
          </p:nvSpPr>
          <p:spPr>
            <a:xfrm rot="7200000">
              <a:off x="6042019"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3</a:t>
              </a:r>
            </a:p>
          </p:txBody>
        </p:sp>
        <p:sp>
          <p:nvSpPr>
            <p:cNvPr id="49" name="TextBox 48">
              <a:extLst>
                <a:ext uri="{FF2B5EF4-FFF2-40B4-BE49-F238E27FC236}">
                  <a16:creationId xmlns:a16="http://schemas.microsoft.com/office/drawing/2014/main" id="{676ADB8F-9C62-F775-8593-7AB6174E8299}"/>
                </a:ext>
              </a:extLst>
            </p:cNvPr>
            <p:cNvSpPr txBox="1"/>
            <p:nvPr/>
          </p:nvSpPr>
          <p:spPr>
            <a:xfrm rot="7200000">
              <a:off x="4850374" y="4780854"/>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4</a:t>
              </a:r>
            </a:p>
          </p:txBody>
        </p:sp>
        <p:sp>
          <p:nvSpPr>
            <p:cNvPr id="50" name="TextBox 49">
              <a:extLst>
                <a:ext uri="{FF2B5EF4-FFF2-40B4-BE49-F238E27FC236}">
                  <a16:creationId xmlns:a16="http://schemas.microsoft.com/office/drawing/2014/main" id="{4BCE4002-7552-E4F4-75AA-8BADEC176F6B}"/>
                </a:ext>
              </a:extLst>
            </p:cNvPr>
            <p:cNvSpPr txBox="1"/>
            <p:nvPr/>
          </p:nvSpPr>
          <p:spPr>
            <a:xfrm rot="7200000">
              <a:off x="6054703" y="2772569"/>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5</a:t>
              </a:r>
            </a:p>
          </p:txBody>
        </p:sp>
        <p:sp>
          <p:nvSpPr>
            <p:cNvPr id="51" name="TextBox 50">
              <a:extLst>
                <a:ext uri="{FF2B5EF4-FFF2-40B4-BE49-F238E27FC236}">
                  <a16:creationId xmlns:a16="http://schemas.microsoft.com/office/drawing/2014/main" id="{18C7561B-F9BC-CD75-22E7-162053133914}"/>
                </a:ext>
              </a:extLst>
            </p:cNvPr>
            <p:cNvSpPr txBox="1"/>
            <p:nvPr/>
          </p:nvSpPr>
          <p:spPr>
            <a:xfrm rot="7200000">
              <a:off x="8429729" y="2772570"/>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6</a:t>
              </a:r>
            </a:p>
          </p:txBody>
        </p:sp>
      </p:grpSp>
      <p:grpSp>
        <p:nvGrpSpPr>
          <p:cNvPr id="2" name="Group 2">
            <a:extLst>
              <a:ext uri="{FF2B5EF4-FFF2-40B4-BE49-F238E27FC236}">
                <a16:creationId xmlns:a16="http://schemas.microsoft.com/office/drawing/2014/main" id="{D5079FED-45D0-5064-23CA-D2B7630A52A6}"/>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0B895410-F1F8-6D93-2A30-01903484DA3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26480137-3297-B254-8FAD-36E9CFAF38A7}"/>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687FB2B5-6F0C-A9FB-A783-4E77D111B7E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E5B46C09-4CCB-6CA2-7AD6-F6F88FDEA0CE}"/>
              </a:ext>
            </a:extLst>
          </p:cNvPr>
          <p:cNvGrpSpPr/>
          <p:nvPr/>
        </p:nvGrpSpPr>
        <p:grpSpPr>
          <a:xfrm>
            <a:off x="3011870" y="9113698"/>
            <a:ext cx="140028" cy="140028"/>
            <a:chOff x="0" y="0"/>
            <a:chExt cx="6350000" cy="6350000"/>
          </a:xfrm>
        </p:grpSpPr>
        <p:sp>
          <p:nvSpPr>
            <p:cNvPr id="7" name="Freeform 7">
              <a:extLst>
                <a:ext uri="{FF2B5EF4-FFF2-40B4-BE49-F238E27FC236}">
                  <a16:creationId xmlns:a16="http://schemas.microsoft.com/office/drawing/2014/main" id="{5CF7678C-5E7A-15B8-8E4E-97AB54DCF2F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4BD70866-CD6C-4414-0CC4-E5A47886B148}"/>
              </a:ext>
            </a:extLst>
          </p:cNvPr>
          <p:cNvGrpSpPr/>
          <p:nvPr/>
        </p:nvGrpSpPr>
        <p:grpSpPr>
          <a:xfrm>
            <a:off x="2350813" y="9113698"/>
            <a:ext cx="140028" cy="140028"/>
            <a:chOff x="0" y="0"/>
            <a:chExt cx="6350000" cy="6350000"/>
          </a:xfrm>
        </p:grpSpPr>
        <p:sp>
          <p:nvSpPr>
            <p:cNvPr id="9" name="Freeform 9">
              <a:extLst>
                <a:ext uri="{FF2B5EF4-FFF2-40B4-BE49-F238E27FC236}">
                  <a16:creationId xmlns:a16="http://schemas.microsoft.com/office/drawing/2014/main" id="{540F7673-0941-DDD4-5C9E-6E0EF395B00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4D19B0A4-E3B5-3690-88A2-CA0AAE3A1128}"/>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89AA19E8-BABA-25F6-17A1-AE782D69879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894A7F88-7AD8-0778-4834-EAC6FACA0866}"/>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5E4DF393-A99E-794B-4B22-AA57A219D2E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33D23937-361D-4FB8-1378-EC0E6CB11AB3}"/>
              </a:ext>
            </a:extLst>
          </p:cNvPr>
          <p:cNvGrpSpPr/>
          <p:nvPr/>
        </p:nvGrpSpPr>
        <p:grpSpPr>
          <a:xfrm>
            <a:off x="2020285" y="9113698"/>
            <a:ext cx="140028" cy="140028"/>
            <a:chOff x="0" y="0"/>
            <a:chExt cx="6350000" cy="6350000"/>
          </a:xfrm>
        </p:grpSpPr>
        <p:sp>
          <p:nvSpPr>
            <p:cNvPr id="15" name="Freeform 15">
              <a:extLst>
                <a:ext uri="{FF2B5EF4-FFF2-40B4-BE49-F238E27FC236}">
                  <a16:creationId xmlns:a16="http://schemas.microsoft.com/office/drawing/2014/main" id="{EEEA3622-77DE-FAA1-6211-8723A599FF3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4675CC29-B22B-20FC-EB1A-925BA008C0D6}"/>
              </a:ext>
            </a:extLst>
          </p:cNvPr>
          <p:cNvGrpSpPr/>
          <p:nvPr/>
        </p:nvGrpSpPr>
        <p:grpSpPr>
          <a:xfrm>
            <a:off x="2681342" y="9113698"/>
            <a:ext cx="140028" cy="140028"/>
            <a:chOff x="0" y="0"/>
            <a:chExt cx="6350000" cy="6350000"/>
          </a:xfrm>
        </p:grpSpPr>
        <p:sp>
          <p:nvSpPr>
            <p:cNvPr id="17" name="Freeform 17">
              <a:extLst>
                <a:ext uri="{FF2B5EF4-FFF2-40B4-BE49-F238E27FC236}">
                  <a16:creationId xmlns:a16="http://schemas.microsoft.com/office/drawing/2014/main" id="{1A21C044-7F54-B6C0-E634-99DF4C6EB8C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10B6E6FF-CFA4-3632-7641-3DCDAEFBB90A}"/>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D3F859A7-6667-6F31-FC15-35D0D416E90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D8D62D0F-8842-F929-7352-B2A20C90AA61}"/>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B21EDC14-B631-B53C-61BF-D2DF34DD847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DAD04544-3F53-25E0-F583-4844EFD34744}"/>
              </a:ext>
            </a:extLst>
          </p:cNvPr>
          <p:cNvGrpSpPr/>
          <p:nvPr/>
        </p:nvGrpSpPr>
        <p:grpSpPr>
          <a:xfrm>
            <a:off x="16786804" y="1028700"/>
            <a:ext cx="472496" cy="541606"/>
            <a:chOff x="0" y="0"/>
            <a:chExt cx="1243443" cy="1425315"/>
          </a:xfrm>
        </p:grpSpPr>
        <p:sp>
          <p:nvSpPr>
            <p:cNvPr id="23" name="Freeform 23">
              <a:extLst>
                <a:ext uri="{FF2B5EF4-FFF2-40B4-BE49-F238E27FC236}">
                  <a16:creationId xmlns:a16="http://schemas.microsoft.com/office/drawing/2014/main" id="{1D66754D-7C60-4B05-D9B4-6A733B30DFE3}"/>
                </a:ext>
              </a:extLst>
            </p:cNvPr>
            <p:cNvSpPr/>
            <p:nvPr/>
          </p:nvSpPr>
          <p:spPr>
            <a:xfrm>
              <a:off x="0" y="0"/>
              <a:ext cx="1243443" cy="1425315"/>
            </a:xfrm>
            <a:custGeom>
              <a:avLst/>
              <a:gdLst/>
              <a:ahLst/>
              <a:cxnLst/>
              <a:rect l="l" t="t" r="r" b="b"/>
              <a:pathLst>
                <a:path w="1243443" h="1425315">
                  <a:moveTo>
                    <a:pt x="621722" y="0"/>
                  </a:moveTo>
                  <a:cubicBezTo>
                    <a:pt x="278354" y="0"/>
                    <a:pt x="0" y="319068"/>
                    <a:pt x="0" y="712658"/>
                  </a:cubicBezTo>
                  <a:cubicBezTo>
                    <a:pt x="0" y="1106247"/>
                    <a:pt x="278354" y="1425315"/>
                    <a:pt x="621722" y="1425315"/>
                  </a:cubicBezTo>
                  <a:cubicBezTo>
                    <a:pt x="965089" y="1425315"/>
                    <a:pt x="1243443" y="1106247"/>
                    <a:pt x="1243443" y="712658"/>
                  </a:cubicBezTo>
                  <a:cubicBezTo>
                    <a:pt x="1243443" y="319068"/>
                    <a:pt x="965089" y="0"/>
                    <a:pt x="621722"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F4AA31DE-9E56-9D62-3AFF-20782D48CDB1}"/>
                </a:ext>
              </a:extLst>
            </p:cNvPr>
            <p:cNvSpPr txBox="1"/>
            <p:nvPr/>
          </p:nvSpPr>
          <p:spPr>
            <a:xfrm>
              <a:off x="116573" y="105048"/>
              <a:ext cx="1010298" cy="11866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7</a:t>
              </a:r>
            </a:p>
          </p:txBody>
        </p:sp>
      </p:grpSp>
      <p:grpSp>
        <p:nvGrpSpPr>
          <p:cNvPr id="27" name="Group 27">
            <a:extLst>
              <a:ext uri="{FF2B5EF4-FFF2-40B4-BE49-F238E27FC236}">
                <a16:creationId xmlns:a16="http://schemas.microsoft.com/office/drawing/2014/main" id="{0BAFD9B5-BC9D-D452-04A0-4ED28832E05D}"/>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4BC50278-64D3-4094-C1F1-5AB8D5D95DF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800CF302-B1E6-A6EB-875F-DAE68FAB64A3}"/>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79493655-95BD-0DB0-D8FC-8D07E930761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a:extLst>
              <a:ext uri="{FF2B5EF4-FFF2-40B4-BE49-F238E27FC236}">
                <a16:creationId xmlns:a16="http://schemas.microsoft.com/office/drawing/2014/main" id="{837511E6-E322-A698-4546-D2E90F9753B7}"/>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137A8788-CFCF-6951-7473-C35EB146796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26" name="Rectangle 25">
            <a:extLst>
              <a:ext uri="{FF2B5EF4-FFF2-40B4-BE49-F238E27FC236}">
                <a16:creationId xmlns:a16="http://schemas.microsoft.com/office/drawing/2014/main" id="{B89AB848-21C3-62D0-D32E-2DCF83286DD3}"/>
              </a:ext>
            </a:extLst>
          </p:cNvPr>
          <p:cNvSpPr/>
          <p:nvPr/>
        </p:nvSpPr>
        <p:spPr>
          <a:xfrm>
            <a:off x="7772757" y="2387896"/>
            <a:ext cx="45719" cy="64899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3" name="TextBox 25">
            <a:extLst>
              <a:ext uri="{FF2B5EF4-FFF2-40B4-BE49-F238E27FC236}">
                <a16:creationId xmlns:a16="http://schemas.microsoft.com/office/drawing/2014/main" id="{F79D21C7-0BE1-455E-434F-C46DDB1DFEE5}"/>
              </a:ext>
            </a:extLst>
          </p:cNvPr>
          <p:cNvSpPr txBox="1"/>
          <p:nvPr/>
        </p:nvSpPr>
        <p:spPr>
          <a:xfrm>
            <a:off x="1028700" y="1028700"/>
            <a:ext cx="9568021" cy="109537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Các phân tích chính</a:t>
            </a:r>
          </a:p>
        </p:txBody>
      </p:sp>
      <p:sp>
        <p:nvSpPr>
          <p:cNvPr id="54" name="TextBox 25">
            <a:extLst>
              <a:ext uri="{FF2B5EF4-FFF2-40B4-BE49-F238E27FC236}">
                <a16:creationId xmlns:a16="http://schemas.microsoft.com/office/drawing/2014/main" id="{5A1B076F-5F76-9C4A-8CD1-33E186F61346}"/>
              </a:ext>
            </a:extLst>
          </p:cNvPr>
          <p:cNvSpPr txBox="1"/>
          <p:nvPr/>
        </p:nvSpPr>
        <p:spPr>
          <a:xfrm>
            <a:off x="3342398" y="3426836"/>
            <a:ext cx="4052819" cy="3177152"/>
          </a:xfrm>
          <a:prstGeom prst="rect">
            <a:avLst/>
          </a:prstGeom>
        </p:spPr>
        <p:txBody>
          <a:bodyPr wrap="square" lIns="0" tIns="0" rIns="0" bIns="0" rtlCol="0" anchor="t">
            <a:spAutoFit/>
          </a:bodyPr>
          <a:lstStyle/>
          <a:p>
            <a:pPr marL="0" lvl="0" indent="0" algn="l">
              <a:lnSpc>
                <a:spcPts val="8640"/>
              </a:lnSpc>
              <a:spcBef>
                <a:spcPct val="0"/>
              </a:spcBef>
            </a:pPr>
            <a:r>
              <a:rPr lang="en-US" sz="4800" b="1" spc="-144">
                <a:solidFill>
                  <a:srgbClr val="000000"/>
                </a:solidFill>
                <a:latin typeface="Times New Roman" panose="02020603050405020304" pitchFamily="18" charset="0"/>
                <a:ea typeface="Garet Bold"/>
                <a:cs typeface="Times New Roman" panose="02020603050405020304" pitchFamily="18" charset="0"/>
                <a:sym typeface="Garet Bold"/>
              </a:rPr>
              <a:t>Phân tích doanh thu theo các thời điểm khác nhau</a:t>
            </a:r>
          </a:p>
        </p:txBody>
      </p:sp>
      <p:pic>
        <p:nvPicPr>
          <p:cNvPr id="57" name="Picture 56" descr="A screenshot of a graph&#10;&#10;AI-generated content may be incorrect.">
            <a:extLst>
              <a:ext uri="{FF2B5EF4-FFF2-40B4-BE49-F238E27FC236}">
                <a16:creationId xmlns:a16="http://schemas.microsoft.com/office/drawing/2014/main" id="{800C7D72-EEDF-212C-42A9-0333F18C089F}"/>
              </a:ext>
            </a:extLst>
          </p:cNvPr>
          <p:cNvPicPr>
            <a:picLocks noChangeAspect="1"/>
          </p:cNvPicPr>
          <p:nvPr/>
        </p:nvPicPr>
        <p:blipFill>
          <a:blip r:embed="rId3"/>
          <a:stretch>
            <a:fillRect/>
          </a:stretch>
        </p:blipFill>
        <p:spPr>
          <a:xfrm>
            <a:off x="8338678" y="2387896"/>
            <a:ext cx="8259565" cy="6706064"/>
          </a:xfrm>
          <a:prstGeom prst="rect">
            <a:avLst/>
          </a:prstGeom>
        </p:spPr>
      </p:pic>
    </p:spTree>
    <p:extLst>
      <p:ext uri="{BB962C8B-B14F-4D97-AF65-F5344CB8AC3E}">
        <p14:creationId xmlns:p14="http://schemas.microsoft.com/office/powerpoint/2010/main" val="2279085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9492-D95A-D65A-3EB8-22840A559A32}"/>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AC38A117-3D38-18C2-834A-8F14C21E66F2}"/>
              </a:ext>
            </a:extLst>
          </p:cNvPr>
          <p:cNvGrpSpPr/>
          <p:nvPr/>
        </p:nvGrpSpPr>
        <p:grpSpPr>
          <a:xfrm rot="10800000">
            <a:off x="-2960767" y="2085975"/>
            <a:ext cx="5921534" cy="5922855"/>
            <a:chOff x="4566668" y="2376469"/>
            <a:chExt cx="5921534" cy="5922855"/>
          </a:xfrm>
        </p:grpSpPr>
        <p:grpSp>
          <p:nvGrpSpPr>
            <p:cNvPr id="46" name="Group 45">
              <a:extLst>
                <a:ext uri="{FF2B5EF4-FFF2-40B4-BE49-F238E27FC236}">
                  <a16:creationId xmlns:a16="http://schemas.microsoft.com/office/drawing/2014/main" id="{1C7302B1-8336-A8FE-9DAB-57F6645A4817}"/>
                </a:ext>
              </a:extLst>
            </p:cNvPr>
            <p:cNvGrpSpPr/>
            <p:nvPr/>
          </p:nvGrpSpPr>
          <p:grpSpPr>
            <a:xfrm>
              <a:off x="4566668" y="2376469"/>
              <a:ext cx="5921534" cy="5922855"/>
              <a:chOff x="4566668" y="2376469"/>
              <a:chExt cx="5921534" cy="5922855"/>
            </a:xfrm>
          </p:grpSpPr>
          <p:sp>
            <p:nvSpPr>
              <p:cNvPr id="33" name="Circle: Hollow 32">
                <a:extLst>
                  <a:ext uri="{FF2B5EF4-FFF2-40B4-BE49-F238E27FC236}">
                    <a16:creationId xmlns:a16="http://schemas.microsoft.com/office/drawing/2014/main" id="{8DA14C66-6A9D-7974-CE0A-ACCFD4028080}"/>
                  </a:ext>
                </a:extLst>
              </p:cNvPr>
              <p:cNvSpPr/>
              <p:nvPr/>
            </p:nvSpPr>
            <p:spPr>
              <a:xfrm rot="1800000">
                <a:off x="5151933" y="2962146"/>
                <a:ext cx="4751004" cy="4751004"/>
              </a:xfrm>
              <a:prstGeom prst="donut">
                <a:avLst>
                  <a:gd name="adj" fmla="val 34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B1963FC0-BD08-DE12-1C05-966902B5E1BF}"/>
                  </a:ext>
                </a:extLst>
              </p:cNvPr>
              <p:cNvGrpSpPr/>
              <p:nvPr/>
            </p:nvGrpSpPr>
            <p:grpSpPr>
              <a:xfrm rot="1800000">
                <a:off x="6941170" y="2377790"/>
                <a:ext cx="1171481" cy="5921534"/>
                <a:chOff x="7908210" y="2149885"/>
                <a:chExt cx="1371600" cy="6933087"/>
              </a:xfrm>
            </p:grpSpPr>
            <p:sp>
              <p:nvSpPr>
                <p:cNvPr id="34" name="Oval 33">
                  <a:extLst>
                    <a:ext uri="{FF2B5EF4-FFF2-40B4-BE49-F238E27FC236}">
                      <a16:creationId xmlns:a16="http://schemas.microsoft.com/office/drawing/2014/main" id="{9D3FABD8-3CB9-B5D1-C7B9-CA763D7D4879}"/>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9DB11EBE-2CA0-BDFF-E3BB-B1F5FBEDFD99}"/>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3079FC3E-52DB-CBD2-E726-DD7F039514F7}"/>
                  </a:ext>
                </a:extLst>
              </p:cNvPr>
              <p:cNvGrpSpPr/>
              <p:nvPr/>
            </p:nvGrpSpPr>
            <p:grpSpPr>
              <a:xfrm rot="5400000">
                <a:off x="6941695" y="2376880"/>
                <a:ext cx="1171480" cy="5921534"/>
                <a:chOff x="7908210" y="2149885"/>
                <a:chExt cx="1371600" cy="6933087"/>
              </a:xfrm>
            </p:grpSpPr>
            <p:sp>
              <p:nvSpPr>
                <p:cNvPr id="38" name="Oval 37">
                  <a:extLst>
                    <a:ext uri="{FF2B5EF4-FFF2-40B4-BE49-F238E27FC236}">
                      <a16:creationId xmlns:a16="http://schemas.microsoft.com/office/drawing/2014/main" id="{159E9088-7DAF-90B1-D094-00E588A9E882}"/>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E1B0CA8B-B462-7253-134C-6062CE4B0921}"/>
                    </a:ext>
                  </a:extLst>
                </p:cNvPr>
                <p:cNvSpPr/>
                <p:nvPr/>
              </p:nvSpPr>
              <p:spPr>
                <a:xfrm>
                  <a:off x="7908210" y="7711372"/>
                  <a:ext cx="1371600" cy="13716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0C2A2CE6-C612-50A8-F639-E97014BF3A9D}"/>
                  </a:ext>
                </a:extLst>
              </p:cNvPr>
              <p:cNvGrpSpPr/>
              <p:nvPr/>
            </p:nvGrpSpPr>
            <p:grpSpPr>
              <a:xfrm rot="9000000">
                <a:off x="6941933" y="2376469"/>
                <a:ext cx="1171480" cy="5921534"/>
                <a:chOff x="7908210" y="2149885"/>
                <a:chExt cx="1371600" cy="6933087"/>
              </a:xfrm>
            </p:grpSpPr>
            <p:sp>
              <p:nvSpPr>
                <p:cNvPr id="41" name="Oval 40">
                  <a:extLst>
                    <a:ext uri="{FF2B5EF4-FFF2-40B4-BE49-F238E27FC236}">
                      <a16:creationId xmlns:a16="http://schemas.microsoft.com/office/drawing/2014/main" id="{B2CAE8B7-3765-8BC1-44F6-3EDD3BF958A8}"/>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28C9361C-7B05-A167-38A3-D2D9442353DD}"/>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sp>
          <p:nvSpPr>
            <p:cNvPr id="43" name="TextBox 42">
              <a:extLst>
                <a:ext uri="{FF2B5EF4-FFF2-40B4-BE49-F238E27FC236}">
                  <a16:creationId xmlns:a16="http://schemas.microsoft.com/office/drawing/2014/main" id="{49D81A26-8B3D-EE24-BB04-0AB33786E40D}"/>
                </a:ext>
              </a:extLst>
            </p:cNvPr>
            <p:cNvSpPr txBox="1"/>
            <p:nvPr/>
          </p:nvSpPr>
          <p:spPr>
            <a:xfrm flipV="1">
              <a:off x="9617768" y="4829815"/>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1</a:t>
              </a:r>
            </a:p>
          </p:txBody>
        </p:sp>
        <p:sp>
          <p:nvSpPr>
            <p:cNvPr id="47" name="TextBox 46">
              <a:extLst>
                <a:ext uri="{FF2B5EF4-FFF2-40B4-BE49-F238E27FC236}">
                  <a16:creationId xmlns:a16="http://schemas.microsoft.com/office/drawing/2014/main" id="{2E0C4FC8-782F-DFD1-8FD5-2D99FDE41CB3}"/>
                </a:ext>
              </a:extLst>
            </p:cNvPr>
            <p:cNvSpPr txBox="1"/>
            <p:nvPr/>
          </p:nvSpPr>
          <p:spPr>
            <a:xfrm flipV="1">
              <a:off x="8429728"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2</a:t>
              </a:r>
            </a:p>
          </p:txBody>
        </p:sp>
        <p:sp>
          <p:nvSpPr>
            <p:cNvPr id="48" name="TextBox 47">
              <a:extLst>
                <a:ext uri="{FF2B5EF4-FFF2-40B4-BE49-F238E27FC236}">
                  <a16:creationId xmlns:a16="http://schemas.microsoft.com/office/drawing/2014/main" id="{59E3FE88-85BB-B12C-F2AE-78499462F501}"/>
                </a:ext>
              </a:extLst>
            </p:cNvPr>
            <p:cNvSpPr txBox="1"/>
            <p:nvPr/>
          </p:nvSpPr>
          <p:spPr>
            <a:xfrm flipV="1">
              <a:off x="6042019"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3</a:t>
              </a:r>
            </a:p>
          </p:txBody>
        </p:sp>
        <p:sp>
          <p:nvSpPr>
            <p:cNvPr id="49" name="TextBox 48">
              <a:extLst>
                <a:ext uri="{FF2B5EF4-FFF2-40B4-BE49-F238E27FC236}">
                  <a16:creationId xmlns:a16="http://schemas.microsoft.com/office/drawing/2014/main" id="{6D851BFE-B516-E95C-6EE1-15A117ED8ED0}"/>
                </a:ext>
              </a:extLst>
            </p:cNvPr>
            <p:cNvSpPr txBox="1"/>
            <p:nvPr/>
          </p:nvSpPr>
          <p:spPr>
            <a:xfrm flipV="1">
              <a:off x="4850374" y="4780854"/>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4</a:t>
              </a:r>
            </a:p>
          </p:txBody>
        </p:sp>
        <p:sp>
          <p:nvSpPr>
            <p:cNvPr id="50" name="TextBox 49">
              <a:extLst>
                <a:ext uri="{FF2B5EF4-FFF2-40B4-BE49-F238E27FC236}">
                  <a16:creationId xmlns:a16="http://schemas.microsoft.com/office/drawing/2014/main" id="{DDECE8FE-77F9-334F-A9B6-57E5C7406FFE}"/>
                </a:ext>
              </a:extLst>
            </p:cNvPr>
            <p:cNvSpPr txBox="1"/>
            <p:nvPr/>
          </p:nvSpPr>
          <p:spPr>
            <a:xfrm flipV="1">
              <a:off x="6054703" y="2772569"/>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5</a:t>
              </a:r>
            </a:p>
          </p:txBody>
        </p:sp>
        <p:sp>
          <p:nvSpPr>
            <p:cNvPr id="51" name="TextBox 50">
              <a:extLst>
                <a:ext uri="{FF2B5EF4-FFF2-40B4-BE49-F238E27FC236}">
                  <a16:creationId xmlns:a16="http://schemas.microsoft.com/office/drawing/2014/main" id="{6D04FE0E-5295-A0B5-02B5-8A3AB7D2A6E2}"/>
                </a:ext>
              </a:extLst>
            </p:cNvPr>
            <p:cNvSpPr txBox="1"/>
            <p:nvPr/>
          </p:nvSpPr>
          <p:spPr>
            <a:xfrm flipV="1">
              <a:off x="8429729" y="2772570"/>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6</a:t>
              </a:r>
            </a:p>
          </p:txBody>
        </p:sp>
      </p:grpSp>
      <p:grpSp>
        <p:nvGrpSpPr>
          <p:cNvPr id="2" name="Group 2">
            <a:extLst>
              <a:ext uri="{FF2B5EF4-FFF2-40B4-BE49-F238E27FC236}">
                <a16:creationId xmlns:a16="http://schemas.microsoft.com/office/drawing/2014/main" id="{5C88EA9E-2F9F-6EE7-F5D2-6CE96F5111D5}"/>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B8C1CDB4-74F1-AFB7-50C7-855040170A3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7AF87802-C8ED-6C56-D08F-C41E6DD234A0}"/>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18090367-E32B-20F2-A654-E747AF63D2FF}"/>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28D85CE9-C8D2-0651-FA74-E56D0DF52C58}"/>
              </a:ext>
            </a:extLst>
          </p:cNvPr>
          <p:cNvGrpSpPr/>
          <p:nvPr/>
        </p:nvGrpSpPr>
        <p:grpSpPr>
          <a:xfrm>
            <a:off x="3011870" y="9113698"/>
            <a:ext cx="140028" cy="140028"/>
            <a:chOff x="0" y="0"/>
            <a:chExt cx="6350000" cy="6350000"/>
          </a:xfrm>
        </p:grpSpPr>
        <p:sp>
          <p:nvSpPr>
            <p:cNvPr id="7" name="Freeform 7">
              <a:extLst>
                <a:ext uri="{FF2B5EF4-FFF2-40B4-BE49-F238E27FC236}">
                  <a16:creationId xmlns:a16="http://schemas.microsoft.com/office/drawing/2014/main" id="{88D6C56C-A218-5ACA-F4D3-18AEE76BEC8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842D014B-D8B1-771D-B77F-E97D498A47B9}"/>
              </a:ext>
            </a:extLst>
          </p:cNvPr>
          <p:cNvGrpSpPr/>
          <p:nvPr/>
        </p:nvGrpSpPr>
        <p:grpSpPr>
          <a:xfrm>
            <a:off x="2350813" y="9113698"/>
            <a:ext cx="140028" cy="140028"/>
            <a:chOff x="0" y="0"/>
            <a:chExt cx="6350000" cy="6350000"/>
          </a:xfrm>
        </p:grpSpPr>
        <p:sp>
          <p:nvSpPr>
            <p:cNvPr id="9" name="Freeform 9">
              <a:extLst>
                <a:ext uri="{FF2B5EF4-FFF2-40B4-BE49-F238E27FC236}">
                  <a16:creationId xmlns:a16="http://schemas.microsoft.com/office/drawing/2014/main" id="{D3D6E622-BBB3-BED3-78FA-30F896E409F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2E5C9583-2C43-55F5-27DD-BCD8B2EF4E14}"/>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9BF448E5-04CC-C4A9-CD2E-99DE87F4BFF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35B914E0-E81F-7256-3CC8-7D38E5F197D7}"/>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BD623A6E-8AC9-A503-7B9E-D325BA7EA0F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C5E1714F-E292-1F6C-37D8-0D7AD64D06B7}"/>
              </a:ext>
            </a:extLst>
          </p:cNvPr>
          <p:cNvGrpSpPr/>
          <p:nvPr/>
        </p:nvGrpSpPr>
        <p:grpSpPr>
          <a:xfrm>
            <a:off x="2020285" y="9113698"/>
            <a:ext cx="140028" cy="140028"/>
            <a:chOff x="0" y="0"/>
            <a:chExt cx="6350000" cy="6350000"/>
          </a:xfrm>
        </p:grpSpPr>
        <p:sp>
          <p:nvSpPr>
            <p:cNvPr id="15" name="Freeform 15">
              <a:extLst>
                <a:ext uri="{FF2B5EF4-FFF2-40B4-BE49-F238E27FC236}">
                  <a16:creationId xmlns:a16="http://schemas.microsoft.com/office/drawing/2014/main" id="{7015E3B2-4826-D921-5839-4407D70D974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95003C35-2624-9A36-0496-23C055BFCD90}"/>
              </a:ext>
            </a:extLst>
          </p:cNvPr>
          <p:cNvGrpSpPr/>
          <p:nvPr/>
        </p:nvGrpSpPr>
        <p:grpSpPr>
          <a:xfrm>
            <a:off x="2681342" y="9113698"/>
            <a:ext cx="140028" cy="140028"/>
            <a:chOff x="0" y="0"/>
            <a:chExt cx="6350000" cy="6350000"/>
          </a:xfrm>
        </p:grpSpPr>
        <p:sp>
          <p:nvSpPr>
            <p:cNvPr id="17" name="Freeform 17">
              <a:extLst>
                <a:ext uri="{FF2B5EF4-FFF2-40B4-BE49-F238E27FC236}">
                  <a16:creationId xmlns:a16="http://schemas.microsoft.com/office/drawing/2014/main" id="{0CD0EB0E-27B3-198B-66EF-1BD1DB76350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03C8C36F-C04F-E492-6E75-6614D49FBA64}"/>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498D062D-DE6F-5D03-7EA6-1C5FD2CD62D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13A9DEF7-CBCD-D527-BD95-A6F4EC086157}"/>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8922A722-E915-664C-A1D2-6826C287E8D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8C76981F-4370-EBF2-D37A-39BF3F23CE7D}"/>
              </a:ext>
            </a:extLst>
          </p:cNvPr>
          <p:cNvGrpSpPr/>
          <p:nvPr/>
        </p:nvGrpSpPr>
        <p:grpSpPr>
          <a:xfrm>
            <a:off x="16786804" y="1028700"/>
            <a:ext cx="472496" cy="541606"/>
            <a:chOff x="0" y="0"/>
            <a:chExt cx="1243443" cy="1425315"/>
          </a:xfrm>
        </p:grpSpPr>
        <p:sp>
          <p:nvSpPr>
            <p:cNvPr id="23" name="Freeform 23">
              <a:extLst>
                <a:ext uri="{FF2B5EF4-FFF2-40B4-BE49-F238E27FC236}">
                  <a16:creationId xmlns:a16="http://schemas.microsoft.com/office/drawing/2014/main" id="{00BC9BC7-D8A6-3123-BD85-0CD602E5DCD2}"/>
                </a:ext>
              </a:extLst>
            </p:cNvPr>
            <p:cNvSpPr/>
            <p:nvPr/>
          </p:nvSpPr>
          <p:spPr>
            <a:xfrm>
              <a:off x="0" y="0"/>
              <a:ext cx="1243443" cy="1425315"/>
            </a:xfrm>
            <a:custGeom>
              <a:avLst/>
              <a:gdLst/>
              <a:ahLst/>
              <a:cxnLst/>
              <a:rect l="l" t="t" r="r" b="b"/>
              <a:pathLst>
                <a:path w="1243443" h="1425315">
                  <a:moveTo>
                    <a:pt x="621722" y="0"/>
                  </a:moveTo>
                  <a:cubicBezTo>
                    <a:pt x="278354" y="0"/>
                    <a:pt x="0" y="319068"/>
                    <a:pt x="0" y="712658"/>
                  </a:cubicBezTo>
                  <a:cubicBezTo>
                    <a:pt x="0" y="1106247"/>
                    <a:pt x="278354" y="1425315"/>
                    <a:pt x="621722" y="1425315"/>
                  </a:cubicBezTo>
                  <a:cubicBezTo>
                    <a:pt x="965089" y="1425315"/>
                    <a:pt x="1243443" y="1106247"/>
                    <a:pt x="1243443" y="712658"/>
                  </a:cubicBezTo>
                  <a:cubicBezTo>
                    <a:pt x="1243443" y="319068"/>
                    <a:pt x="965089" y="0"/>
                    <a:pt x="621722"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BC901495-D1FE-966A-A614-52F9D96E1A35}"/>
                </a:ext>
              </a:extLst>
            </p:cNvPr>
            <p:cNvSpPr txBox="1"/>
            <p:nvPr/>
          </p:nvSpPr>
          <p:spPr>
            <a:xfrm>
              <a:off x="116573" y="105048"/>
              <a:ext cx="1010298" cy="11866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7</a:t>
              </a:r>
            </a:p>
          </p:txBody>
        </p:sp>
      </p:grpSp>
      <p:grpSp>
        <p:nvGrpSpPr>
          <p:cNvPr id="27" name="Group 27">
            <a:extLst>
              <a:ext uri="{FF2B5EF4-FFF2-40B4-BE49-F238E27FC236}">
                <a16:creationId xmlns:a16="http://schemas.microsoft.com/office/drawing/2014/main" id="{42AA0611-C54F-2D40-4ED9-45C2F1D25915}"/>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9E8C7459-C0B9-4B02-139B-BEA6C703EA0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17B27825-1452-E438-E625-E05A7954C5A2}"/>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91C105C4-3235-0652-1B77-FFE7E9F561A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a:extLst>
              <a:ext uri="{FF2B5EF4-FFF2-40B4-BE49-F238E27FC236}">
                <a16:creationId xmlns:a16="http://schemas.microsoft.com/office/drawing/2014/main" id="{FF588E08-D0A3-7DA6-3628-20BADE96C458}"/>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96EC4692-3C20-7250-F2BE-3090BB5AA23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26" name="Rectangle 25">
            <a:extLst>
              <a:ext uri="{FF2B5EF4-FFF2-40B4-BE49-F238E27FC236}">
                <a16:creationId xmlns:a16="http://schemas.microsoft.com/office/drawing/2014/main" id="{40FAD8EC-2F18-ADFB-FEC6-76E3CC379A99}"/>
              </a:ext>
            </a:extLst>
          </p:cNvPr>
          <p:cNvSpPr/>
          <p:nvPr/>
        </p:nvSpPr>
        <p:spPr>
          <a:xfrm>
            <a:off x="7772757" y="2387896"/>
            <a:ext cx="45719" cy="64899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3" name="TextBox 25">
            <a:extLst>
              <a:ext uri="{FF2B5EF4-FFF2-40B4-BE49-F238E27FC236}">
                <a16:creationId xmlns:a16="http://schemas.microsoft.com/office/drawing/2014/main" id="{11E8CFB5-7169-6981-DA01-7A55CDF7BF22}"/>
              </a:ext>
            </a:extLst>
          </p:cNvPr>
          <p:cNvSpPr txBox="1"/>
          <p:nvPr/>
        </p:nvSpPr>
        <p:spPr>
          <a:xfrm>
            <a:off x="1028700" y="1028700"/>
            <a:ext cx="9568021" cy="109537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Các phân tích chính</a:t>
            </a:r>
          </a:p>
        </p:txBody>
      </p:sp>
      <p:sp>
        <p:nvSpPr>
          <p:cNvPr id="54" name="TextBox 25">
            <a:extLst>
              <a:ext uri="{FF2B5EF4-FFF2-40B4-BE49-F238E27FC236}">
                <a16:creationId xmlns:a16="http://schemas.microsoft.com/office/drawing/2014/main" id="{EEA9C40F-AA6A-D2C9-111A-BE5872213902}"/>
              </a:ext>
            </a:extLst>
          </p:cNvPr>
          <p:cNvSpPr txBox="1"/>
          <p:nvPr/>
        </p:nvSpPr>
        <p:spPr>
          <a:xfrm>
            <a:off x="3342398" y="3426836"/>
            <a:ext cx="4052819" cy="3177152"/>
          </a:xfrm>
          <a:prstGeom prst="rect">
            <a:avLst/>
          </a:prstGeom>
        </p:spPr>
        <p:txBody>
          <a:bodyPr wrap="square" lIns="0" tIns="0" rIns="0" bIns="0" rtlCol="0" anchor="t">
            <a:spAutoFit/>
          </a:bodyPr>
          <a:lstStyle/>
          <a:p>
            <a:pPr marL="0" lvl="0" indent="0" algn="l">
              <a:lnSpc>
                <a:spcPts val="8640"/>
              </a:lnSpc>
              <a:spcBef>
                <a:spcPct val="0"/>
              </a:spcBef>
            </a:pPr>
            <a:r>
              <a:rPr lang="en-US" sz="4800" b="1" spc="-144">
                <a:solidFill>
                  <a:srgbClr val="000000"/>
                </a:solidFill>
                <a:latin typeface="Times New Roman" panose="02020603050405020304" pitchFamily="18" charset="0"/>
                <a:ea typeface="Garet Bold"/>
                <a:cs typeface="Times New Roman" panose="02020603050405020304" pitchFamily="18" charset="0"/>
                <a:sym typeface="Garet Bold"/>
              </a:rPr>
              <a:t>Phân tích doanh thu phân bố theo quốc gia</a:t>
            </a:r>
          </a:p>
        </p:txBody>
      </p:sp>
      <p:pic>
        <p:nvPicPr>
          <p:cNvPr id="57" name="Picture 56" descr="A screenshot of a computer&#10;&#10;AI-generated content may be incorrect.">
            <a:extLst>
              <a:ext uri="{FF2B5EF4-FFF2-40B4-BE49-F238E27FC236}">
                <a16:creationId xmlns:a16="http://schemas.microsoft.com/office/drawing/2014/main" id="{4CB8059B-C18D-28B4-D53A-56E6A8AC9C0E}"/>
              </a:ext>
            </a:extLst>
          </p:cNvPr>
          <p:cNvPicPr>
            <a:picLocks noChangeAspect="1"/>
          </p:cNvPicPr>
          <p:nvPr/>
        </p:nvPicPr>
        <p:blipFill>
          <a:blip r:embed="rId3"/>
          <a:stretch>
            <a:fillRect/>
          </a:stretch>
        </p:blipFill>
        <p:spPr>
          <a:xfrm>
            <a:off x="8388679" y="2163992"/>
            <a:ext cx="8340998" cy="6949706"/>
          </a:xfrm>
          <a:prstGeom prst="rect">
            <a:avLst/>
          </a:prstGeom>
        </p:spPr>
      </p:pic>
    </p:spTree>
    <p:extLst>
      <p:ext uri="{BB962C8B-B14F-4D97-AF65-F5344CB8AC3E}">
        <p14:creationId xmlns:p14="http://schemas.microsoft.com/office/powerpoint/2010/main" val="4165642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FFFDB-12D4-7217-500D-51FFEED76D1D}"/>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CEF21A29-3033-CC19-D059-CAD23A76C8B8}"/>
              </a:ext>
            </a:extLst>
          </p:cNvPr>
          <p:cNvGrpSpPr/>
          <p:nvPr/>
        </p:nvGrpSpPr>
        <p:grpSpPr>
          <a:xfrm rot="7200000">
            <a:off x="-2960767" y="2085975"/>
            <a:ext cx="5921534" cy="5922855"/>
            <a:chOff x="4566668" y="2376469"/>
            <a:chExt cx="5921534" cy="5922855"/>
          </a:xfrm>
        </p:grpSpPr>
        <p:grpSp>
          <p:nvGrpSpPr>
            <p:cNvPr id="46" name="Group 45">
              <a:extLst>
                <a:ext uri="{FF2B5EF4-FFF2-40B4-BE49-F238E27FC236}">
                  <a16:creationId xmlns:a16="http://schemas.microsoft.com/office/drawing/2014/main" id="{CD1B4C26-71BC-D7DF-F893-51EC80FD7E03}"/>
                </a:ext>
              </a:extLst>
            </p:cNvPr>
            <p:cNvGrpSpPr/>
            <p:nvPr/>
          </p:nvGrpSpPr>
          <p:grpSpPr>
            <a:xfrm>
              <a:off x="4566668" y="2376469"/>
              <a:ext cx="5921534" cy="5922855"/>
              <a:chOff x="4566668" y="2376469"/>
              <a:chExt cx="5921534" cy="5922855"/>
            </a:xfrm>
          </p:grpSpPr>
          <p:sp>
            <p:nvSpPr>
              <p:cNvPr id="33" name="Circle: Hollow 32">
                <a:extLst>
                  <a:ext uri="{FF2B5EF4-FFF2-40B4-BE49-F238E27FC236}">
                    <a16:creationId xmlns:a16="http://schemas.microsoft.com/office/drawing/2014/main" id="{0E349D8E-8060-C25D-F1D2-24D6E7922A3A}"/>
                  </a:ext>
                </a:extLst>
              </p:cNvPr>
              <p:cNvSpPr/>
              <p:nvPr/>
            </p:nvSpPr>
            <p:spPr>
              <a:xfrm rot="1800000">
                <a:off x="5151933" y="2962146"/>
                <a:ext cx="4751004" cy="4751004"/>
              </a:xfrm>
              <a:prstGeom prst="donut">
                <a:avLst>
                  <a:gd name="adj" fmla="val 34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E75A21C0-E554-3768-CAEA-EF0FA1CF9F3F}"/>
                  </a:ext>
                </a:extLst>
              </p:cNvPr>
              <p:cNvGrpSpPr/>
              <p:nvPr/>
            </p:nvGrpSpPr>
            <p:grpSpPr>
              <a:xfrm rot="1800000">
                <a:off x="6941170" y="2377790"/>
                <a:ext cx="1171481" cy="5921534"/>
                <a:chOff x="7908210" y="2149885"/>
                <a:chExt cx="1371600" cy="6933087"/>
              </a:xfrm>
            </p:grpSpPr>
            <p:sp>
              <p:nvSpPr>
                <p:cNvPr id="34" name="Oval 33">
                  <a:extLst>
                    <a:ext uri="{FF2B5EF4-FFF2-40B4-BE49-F238E27FC236}">
                      <a16:creationId xmlns:a16="http://schemas.microsoft.com/office/drawing/2014/main" id="{681A9298-5135-B8FE-8696-E03729CF1AB4}"/>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0B69ECE7-45DB-121C-2C26-1F111AEEA382}"/>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A565ABF7-A7A6-CAAD-016C-3259120DECE4}"/>
                  </a:ext>
                </a:extLst>
              </p:cNvPr>
              <p:cNvGrpSpPr/>
              <p:nvPr/>
            </p:nvGrpSpPr>
            <p:grpSpPr>
              <a:xfrm rot="5400000">
                <a:off x="6941695" y="2376880"/>
                <a:ext cx="1171480" cy="5921534"/>
                <a:chOff x="7908210" y="2149885"/>
                <a:chExt cx="1371600" cy="6933087"/>
              </a:xfrm>
            </p:grpSpPr>
            <p:sp>
              <p:nvSpPr>
                <p:cNvPr id="38" name="Oval 37">
                  <a:extLst>
                    <a:ext uri="{FF2B5EF4-FFF2-40B4-BE49-F238E27FC236}">
                      <a16:creationId xmlns:a16="http://schemas.microsoft.com/office/drawing/2014/main" id="{457EC271-5B28-D9EA-97A2-FBE5BBFF2BCE}"/>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9B0BC6F7-4454-BA9E-C3B9-EC8A0A6DE82D}"/>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33267497-7106-90B1-1219-28ECE7500EC5}"/>
                  </a:ext>
                </a:extLst>
              </p:cNvPr>
              <p:cNvGrpSpPr/>
              <p:nvPr/>
            </p:nvGrpSpPr>
            <p:grpSpPr>
              <a:xfrm rot="9000000">
                <a:off x="6941933" y="2376469"/>
                <a:ext cx="1171480" cy="5921534"/>
                <a:chOff x="7908210" y="2149885"/>
                <a:chExt cx="1371600" cy="6933087"/>
              </a:xfrm>
            </p:grpSpPr>
            <p:sp>
              <p:nvSpPr>
                <p:cNvPr id="41" name="Oval 40">
                  <a:extLst>
                    <a:ext uri="{FF2B5EF4-FFF2-40B4-BE49-F238E27FC236}">
                      <a16:creationId xmlns:a16="http://schemas.microsoft.com/office/drawing/2014/main" id="{877A2087-B32E-3F45-BB3E-2035887EC8C2}"/>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E09899A4-1460-F969-BBD3-117476CF0314}"/>
                    </a:ext>
                  </a:extLst>
                </p:cNvPr>
                <p:cNvSpPr/>
                <p:nvPr/>
              </p:nvSpPr>
              <p:spPr>
                <a:xfrm>
                  <a:off x="7908210" y="7711372"/>
                  <a:ext cx="1371600" cy="13716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sp>
          <p:nvSpPr>
            <p:cNvPr id="43" name="TextBox 42">
              <a:extLst>
                <a:ext uri="{FF2B5EF4-FFF2-40B4-BE49-F238E27FC236}">
                  <a16:creationId xmlns:a16="http://schemas.microsoft.com/office/drawing/2014/main" id="{0E5F5771-3466-7180-AEFE-9A8A57BA320D}"/>
                </a:ext>
              </a:extLst>
            </p:cNvPr>
            <p:cNvSpPr txBox="1"/>
            <p:nvPr/>
          </p:nvSpPr>
          <p:spPr>
            <a:xfrm rot="14400000">
              <a:off x="9617768" y="4829815"/>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1</a:t>
              </a:r>
            </a:p>
          </p:txBody>
        </p:sp>
        <p:sp>
          <p:nvSpPr>
            <p:cNvPr id="47" name="TextBox 46">
              <a:extLst>
                <a:ext uri="{FF2B5EF4-FFF2-40B4-BE49-F238E27FC236}">
                  <a16:creationId xmlns:a16="http://schemas.microsoft.com/office/drawing/2014/main" id="{D9FAE7FB-E430-E493-04A9-F8DBBB113506}"/>
                </a:ext>
              </a:extLst>
            </p:cNvPr>
            <p:cNvSpPr txBox="1"/>
            <p:nvPr/>
          </p:nvSpPr>
          <p:spPr>
            <a:xfrm rot="14400000">
              <a:off x="8429727"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2</a:t>
              </a:r>
            </a:p>
          </p:txBody>
        </p:sp>
        <p:sp>
          <p:nvSpPr>
            <p:cNvPr id="48" name="TextBox 47">
              <a:extLst>
                <a:ext uri="{FF2B5EF4-FFF2-40B4-BE49-F238E27FC236}">
                  <a16:creationId xmlns:a16="http://schemas.microsoft.com/office/drawing/2014/main" id="{DC0E2079-F45D-F612-2BE6-0904BCD1DC5A}"/>
                </a:ext>
              </a:extLst>
            </p:cNvPr>
            <p:cNvSpPr txBox="1"/>
            <p:nvPr/>
          </p:nvSpPr>
          <p:spPr>
            <a:xfrm rot="14400000">
              <a:off x="6042019"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3</a:t>
              </a:r>
            </a:p>
          </p:txBody>
        </p:sp>
        <p:sp>
          <p:nvSpPr>
            <p:cNvPr id="49" name="TextBox 48">
              <a:extLst>
                <a:ext uri="{FF2B5EF4-FFF2-40B4-BE49-F238E27FC236}">
                  <a16:creationId xmlns:a16="http://schemas.microsoft.com/office/drawing/2014/main" id="{ECD93B5A-772D-82E3-6C72-B3BB44CB8EA4}"/>
                </a:ext>
              </a:extLst>
            </p:cNvPr>
            <p:cNvSpPr txBox="1"/>
            <p:nvPr/>
          </p:nvSpPr>
          <p:spPr>
            <a:xfrm rot="14400000">
              <a:off x="4850374" y="4780854"/>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4</a:t>
              </a:r>
            </a:p>
          </p:txBody>
        </p:sp>
        <p:sp>
          <p:nvSpPr>
            <p:cNvPr id="50" name="TextBox 49">
              <a:extLst>
                <a:ext uri="{FF2B5EF4-FFF2-40B4-BE49-F238E27FC236}">
                  <a16:creationId xmlns:a16="http://schemas.microsoft.com/office/drawing/2014/main" id="{B79E14A6-E6F7-F448-5EA3-83F33A7A2083}"/>
                </a:ext>
              </a:extLst>
            </p:cNvPr>
            <p:cNvSpPr txBox="1"/>
            <p:nvPr/>
          </p:nvSpPr>
          <p:spPr>
            <a:xfrm rot="14400000">
              <a:off x="6054702" y="2772569"/>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5</a:t>
              </a:r>
            </a:p>
          </p:txBody>
        </p:sp>
        <p:sp>
          <p:nvSpPr>
            <p:cNvPr id="51" name="TextBox 50">
              <a:extLst>
                <a:ext uri="{FF2B5EF4-FFF2-40B4-BE49-F238E27FC236}">
                  <a16:creationId xmlns:a16="http://schemas.microsoft.com/office/drawing/2014/main" id="{E64CC937-1C74-B9DA-6B39-15F6F2EEEAC4}"/>
                </a:ext>
              </a:extLst>
            </p:cNvPr>
            <p:cNvSpPr txBox="1"/>
            <p:nvPr/>
          </p:nvSpPr>
          <p:spPr>
            <a:xfrm rot="14400000">
              <a:off x="8429729" y="2772570"/>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6</a:t>
              </a:r>
            </a:p>
          </p:txBody>
        </p:sp>
      </p:grpSp>
      <p:grpSp>
        <p:nvGrpSpPr>
          <p:cNvPr id="2" name="Group 2">
            <a:extLst>
              <a:ext uri="{FF2B5EF4-FFF2-40B4-BE49-F238E27FC236}">
                <a16:creationId xmlns:a16="http://schemas.microsoft.com/office/drawing/2014/main" id="{6107ECFF-0DCB-C44C-FB83-15E6987CBDF0}"/>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24055012-1EE8-6C9B-B20C-3B261E6AEFB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7393DF45-12CE-6259-13E0-C00DD9AFD254}"/>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C19A4073-B07A-3224-FAD2-76A2B3F9FA2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A8D1D8EA-5E7F-B224-876A-492EF3A5E9E8}"/>
              </a:ext>
            </a:extLst>
          </p:cNvPr>
          <p:cNvGrpSpPr/>
          <p:nvPr/>
        </p:nvGrpSpPr>
        <p:grpSpPr>
          <a:xfrm>
            <a:off x="3011870" y="9113698"/>
            <a:ext cx="140028" cy="140028"/>
            <a:chOff x="0" y="0"/>
            <a:chExt cx="6350000" cy="6350000"/>
          </a:xfrm>
        </p:grpSpPr>
        <p:sp>
          <p:nvSpPr>
            <p:cNvPr id="7" name="Freeform 7">
              <a:extLst>
                <a:ext uri="{FF2B5EF4-FFF2-40B4-BE49-F238E27FC236}">
                  <a16:creationId xmlns:a16="http://schemas.microsoft.com/office/drawing/2014/main" id="{763BB874-BC6C-95A2-6D4A-C37DC27F727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928EA6BC-85E5-371E-42DD-BA6B45762FA9}"/>
              </a:ext>
            </a:extLst>
          </p:cNvPr>
          <p:cNvGrpSpPr/>
          <p:nvPr/>
        </p:nvGrpSpPr>
        <p:grpSpPr>
          <a:xfrm>
            <a:off x="2350813" y="9113698"/>
            <a:ext cx="140028" cy="140028"/>
            <a:chOff x="0" y="0"/>
            <a:chExt cx="6350000" cy="6350000"/>
          </a:xfrm>
        </p:grpSpPr>
        <p:sp>
          <p:nvSpPr>
            <p:cNvPr id="9" name="Freeform 9">
              <a:extLst>
                <a:ext uri="{FF2B5EF4-FFF2-40B4-BE49-F238E27FC236}">
                  <a16:creationId xmlns:a16="http://schemas.microsoft.com/office/drawing/2014/main" id="{5805CFEE-F9C7-E93C-06E8-EC63970F806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F16BA08D-0A1F-0E7A-8047-4864FAA41BF0}"/>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1714A46A-D489-111F-169F-16F5E9F6D2C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7F839E5A-80D6-056C-F330-58860E88800D}"/>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652A8A51-F250-0A56-71FF-7B032781174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879C3183-EB9F-D6A4-7C06-A05ECD39FC38}"/>
              </a:ext>
            </a:extLst>
          </p:cNvPr>
          <p:cNvGrpSpPr/>
          <p:nvPr/>
        </p:nvGrpSpPr>
        <p:grpSpPr>
          <a:xfrm>
            <a:off x="2020285" y="9113698"/>
            <a:ext cx="140028" cy="140028"/>
            <a:chOff x="0" y="0"/>
            <a:chExt cx="6350000" cy="6350000"/>
          </a:xfrm>
        </p:grpSpPr>
        <p:sp>
          <p:nvSpPr>
            <p:cNvPr id="15" name="Freeform 15">
              <a:extLst>
                <a:ext uri="{FF2B5EF4-FFF2-40B4-BE49-F238E27FC236}">
                  <a16:creationId xmlns:a16="http://schemas.microsoft.com/office/drawing/2014/main" id="{0484FDF3-7506-50D2-26ED-9BB2215549D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D7B4DBD9-F9DB-BA79-1E5F-E3C7CCBC4ACA}"/>
              </a:ext>
            </a:extLst>
          </p:cNvPr>
          <p:cNvGrpSpPr/>
          <p:nvPr/>
        </p:nvGrpSpPr>
        <p:grpSpPr>
          <a:xfrm>
            <a:off x="2681342" y="9113698"/>
            <a:ext cx="140028" cy="140028"/>
            <a:chOff x="0" y="0"/>
            <a:chExt cx="6350000" cy="6350000"/>
          </a:xfrm>
        </p:grpSpPr>
        <p:sp>
          <p:nvSpPr>
            <p:cNvPr id="17" name="Freeform 17">
              <a:extLst>
                <a:ext uri="{FF2B5EF4-FFF2-40B4-BE49-F238E27FC236}">
                  <a16:creationId xmlns:a16="http://schemas.microsoft.com/office/drawing/2014/main" id="{B2B14387-FF6E-3FD0-EEB9-9919CC68F02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C8C83612-3767-9DE4-8DD1-71B2FE4A4D61}"/>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26B7773D-F2A0-1D14-6BD1-B73635B188F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ADEF0522-65D3-2AE3-DC69-34718BF14995}"/>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4C9B8A8D-17A0-8A35-0E41-89BD9FDEE10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7CE6B316-DA5E-FDF5-AD78-45F64D24ABF1}"/>
              </a:ext>
            </a:extLst>
          </p:cNvPr>
          <p:cNvGrpSpPr/>
          <p:nvPr/>
        </p:nvGrpSpPr>
        <p:grpSpPr>
          <a:xfrm>
            <a:off x="16786804" y="1028700"/>
            <a:ext cx="472496" cy="541606"/>
            <a:chOff x="0" y="0"/>
            <a:chExt cx="1243443" cy="1425315"/>
          </a:xfrm>
        </p:grpSpPr>
        <p:sp>
          <p:nvSpPr>
            <p:cNvPr id="23" name="Freeform 23">
              <a:extLst>
                <a:ext uri="{FF2B5EF4-FFF2-40B4-BE49-F238E27FC236}">
                  <a16:creationId xmlns:a16="http://schemas.microsoft.com/office/drawing/2014/main" id="{D65EA87A-515B-E8C0-D13C-9AF67415F603}"/>
                </a:ext>
              </a:extLst>
            </p:cNvPr>
            <p:cNvSpPr/>
            <p:nvPr/>
          </p:nvSpPr>
          <p:spPr>
            <a:xfrm>
              <a:off x="0" y="0"/>
              <a:ext cx="1243443" cy="1425315"/>
            </a:xfrm>
            <a:custGeom>
              <a:avLst/>
              <a:gdLst/>
              <a:ahLst/>
              <a:cxnLst/>
              <a:rect l="l" t="t" r="r" b="b"/>
              <a:pathLst>
                <a:path w="1243443" h="1425315">
                  <a:moveTo>
                    <a:pt x="621722" y="0"/>
                  </a:moveTo>
                  <a:cubicBezTo>
                    <a:pt x="278354" y="0"/>
                    <a:pt x="0" y="319068"/>
                    <a:pt x="0" y="712658"/>
                  </a:cubicBezTo>
                  <a:cubicBezTo>
                    <a:pt x="0" y="1106247"/>
                    <a:pt x="278354" y="1425315"/>
                    <a:pt x="621722" y="1425315"/>
                  </a:cubicBezTo>
                  <a:cubicBezTo>
                    <a:pt x="965089" y="1425315"/>
                    <a:pt x="1243443" y="1106247"/>
                    <a:pt x="1243443" y="712658"/>
                  </a:cubicBezTo>
                  <a:cubicBezTo>
                    <a:pt x="1243443" y="319068"/>
                    <a:pt x="965089" y="0"/>
                    <a:pt x="621722"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11194AB3-1848-77AA-A717-6C41797BD94C}"/>
                </a:ext>
              </a:extLst>
            </p:cNvPr>
            <p:cNvSpPr txBox="1"/>
            <p:nvPr/>
          </p:nvSpPr>
          <p:spPr>
            <a:xfrm>
              <a:off x="116573" y="105048"/>
              <a:ext cx="1010298" cy="11866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7</a:t>
              </a:r>
            </a:p>
          </p:txBody>
        </p:sp>
      </p:grpSp>
      <p:grpSp>
        <p:nvGrpSpPr>
          <p:cNvPr id="27" name="Group 27">
            <a:extLst>
              <a:ext uri="{FF2B5EF4-FFF2-40B4-BE49-F238E27FC236}">
                <a16:creationId xmlns:a16="http://schemas.microsoft.com/office/drawing/2014/main" id="{1A0447C8-2684-F154-4770-15D6E6DD646B}"/>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DD1CC73C-D358-388E-C665-BFDD9B53DA6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7B0A9B4E-249F-85BA-4EF5-7AFC6C4B170B}"/>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089D2BCA-4495-34F5-DBF0-5C77DABF35A1}"/>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a:extLst>
              <a:ext uri="{FF2B5EF4-FFF2-40B4-BE49-F238E27FC236}">
                <a16:creationId xmlns:a16="http://schemas.microsoft.com/office/drawing/2014/main" id="{B5291F38-37AD-1DA1-938C-5CEABC497F86}"/>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9F1B44D8-7B42-5311-6077-579C9449376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26" name="Rectangle 25">
            <a:extLst>
              <a:ext uri="{FF2B5EF4-FFF2-40B4-BE49-F238E27FC236}">
                <a16:creationId xmlns:a16="http://schemas.microsoft.com/office/drawing/2014/main" id="{11D07B7A-D831-CB6E-2D55-26FD26500C8C}"/>
              </a:ext>
            </a:extLst>
          </p:cNvPr>
          <p:cNvSpPr/>
          <p:nvPr/>
        </p:nvSpPr>
        <p:spPr>
          <a:xfrm>
            <a:off x="7772757" y="2387896"/>
            <a:ext cx="45719" cy="64899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53" name="TextBox 25">
            <a:extLst>
              <a:ext uri="{FF2B5EF4-FFF2-40B4-BE49-F238E27FC236}">
                <a16:creationId xmlns:a16="http://schemas.microsoft.com/office/drawing/2014/main" id="{200461A4-6597-5BD1-38B3-D689563725A8}"/>
              </a:ext>
            </a:extLst>
          </p:cNvPr>
          <p:cNvSpPr txBox="1"/>
          <p:nvPr/>
        </p:nvSpPr>
        <p:spPr>
          <a:xfrm>
            <a:off x="1028700" y="1028700"/>
            <a:ext cx="9568021" cy="109537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Các phân tích chính</a:t>
            </a:r>
          </a:p>
        </p:txBody>
      </p:sp>
      <p:sp>
        <p:nvSpPr>
          <p:cNvPr id="54" name="TextBox 25">
            <a:extLst>
              <a:ext uri="{FF2B5EF4-FFF2-40B4-BE49-F238E27FC236}">
                <a16:creationId xmlns:a16="http://schemas.microsoft.com/office/drawing/2014/main" id="{E54285B7-357A-6EAB-4B72-4443A9CC05AB}"/>
              </a:ext>
            </a:extLst>
          </p:cNvPr>
          <p:cNvSpPr txBox="1"/>
          <p:nvPr/>
        </p:nvSpPr>
        <p:spPr>
          <a:xfrm>
            <a:off x="3342398" y="3426836"/>
            <a:ext cx="4052819" cy="3177152"/>
          </a:xfrm>
          <a:prstGeom prst="rect">
            <a:avLst/>
          </a:prstGeom>
        </p:spPr>
        <p:txBody>
          <a:bodyPr wrap="square" lIns="0" tIns="0" rIns="0" bIns="0" rtlCol="0" anchor="t">
            <a:spAutoFit/>
          </a:bodyPr>
          <a:lstStyle/>
          <a:p>
            <a:pPr marL="0" lvl="0" indent="0" algn="l">
              <a:lnSpc>
                <a:spcPts val="8640"/>
              </a:lnSpc>
              <a:spcBef>
                <a:spcPct val="0"/>
              </a:spcBef>
            </a:pPr>
            <a:r>
              <a:rPr lang="en-US" sz="4800" b="1" spc="-144">
                <a:solidFill>
                  <a:srgbClr val="000000"/>
                </a:solidFill>
                <a:latin typeface="Times New Roman" panose="02020603050405020304" pitchFamily="18" charset="0"/>
                <a:ea typeface="Garet Bold"/>
                <a:cs typeface="Times New Roman" panose="02020603050405020304" pitchFamily="18" charset="0"/>
                <a:sym typeface="Garet Bold"/>
              </a:rPr>
              <a:t>Thống kê các dữ liệu quan trọng từ các giao dịch</a:t>
            </a:r>
          </a:p>
        </p:txBody>
      </p:sp>
      <p:pic>
        <p:nvPicPr>
          <p:cNvPr id="57" name="Picture 56" descr="A screenshot of a computer&#10;&#10;AI-generated content may be incorrect.">
            <a:extLst>
              <a:ext uri="{FF2B5EF4-FFF2-40B4-BE49-F238E27FC236}">
                <a16:creationId xmlns:a16="http://schemas.microsoft.com/office/drawing/2014/main" id="{CDA3E96B-DBF0-84F0-A556-C67181BE4A80}"/>
              </a:ext>
            </a:extLst>
          </p:cNvPr>
          <p:cNvPicPr>
            <a:picLocks noChangeAspect="1"/>
          </p:cNvPicPr>
          <p:nvPr/>
        </p:nvPicPr>
        <p:blipFill>
          <a:blip r:embed="rId3"/>
          <a:stretch>
            <a:fillRect/>
          </a:stretch>
        </p:blipFill>
        <p:spPr>
          <a:xfrm>
            <a:off x="8170616" y="2189648"/>
            <a:ext cx="8784471" cy="6933198"/>
          </a:xfrm>
          <a:prstGeom prst="rect">
            <a:avLst/>
          </a:prstGeom>
        </p:spPr>
      </p:pic>
    </p:spTree>
    <p:extLst>
      <p:ext uri="{BB962C8B-B14F-4D97-AF65-F5344CB8AC3E}">
        <p14:creationId xmlns:p14="http://schemas.microsoft.com/office/powerpoint/2010/main" val="4054739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C4994-1D95-70DD-7F1F-DF60FD011F82}"/>
            </a:ext>
          </a:extLst>
        </p:cNvPr>
        <p:cNvGrpSpPr/>
        <p:nvPr/>
      </p:nvGrpSpPr>
      <p:grpSpPr>
        <a:xfrm>
          <a:off x="0" y="0"/>
          <a:ext cx="0" cy="0"/>
          <a:chOff x="0" y="0"/>
          <a:chExt cx="0" cy="0"/>
        </a:xfrm>
      </p:grpSpPr>
      <p:grpSp>
        <p:nvGrpSpPr>
          <p:cNvPr id="52" name="Group 51">
            <a:extLst>
              <a:ext uri="{FF2B5EF4-FFF2-40B4-BE49-F238E27FC236}">
                <a16:creationId xmlns:a16="http://schemas.microsoft.com/office/drawing/2014/main" id="{DEDA228A-4A71-EB6D-CD73-02BE9074F7C7}"/>
              </a:ext>
            </a:extLst>
          </p:cNvPr>
          <p:cNvGrpSpPr/>
          <p:nvPr/>
        </p:nvGrpSpPr>
        <p:grpSpPr>
          <a:xfrm rot="3600000">
            <a:off x="-2960767" y="2085975"/>
            <a:ext cx="5921534" cy="5922855"/>
            <a:chOff x="4566668" y="2376469"/>
            <a:chExt cx="5921534" cy="5922855"/>
          </a:xfrm>
        </p:grpSpPr>
        <p:grpSp>
          <p:nvGrpSpPr>
            <p:cNvPr id="46" name="Group 45">
              <a:extLst>
                <a:ext uri="{FF2B5EF4-FFF2-40B4-BE49-F238E27FC236}">
                  <a16:creationId xmlns:a16="http://schemas.microsoft.com/office/drawing/2014/main" id="{CBBC1774-05D2-C5BB-8F38-E1F1A12CDB02}"/>
                </a:ext>
              </a:extLst>
            </p:cNvPr>
            <p:cNvGrpSpPr/>
            <p:nvPr/>
          </p:nvGrpSpPr>
          <p:grpSpPr>
            <a:xfrm>
              <a:off x="4566668" y="2376469"/>
              <a:ext cx="5921534" cy="5922855"/>
              <a:chOff x="4566668" y="2376469"/>
              <a:chExt cx="5921534" cy="5922855"/>
            </a:xfrm>
          </p:grpSpPr>
          <p:sp>
            <p:nvSpPr>
              <p:cNvPr id="33" name="Circle: Hollow 32">
                <a:extLst>
                  <a:ext uri="{FF2B5EF4-FFF2-40B4-BE49-F238E27FC236}">
                    <a16:creationId xmlns:a16="http://schemas.microsoft.com/office/drawing/2014/main" id="{5AB2A597-0EE5-161F-73DB-2F7FA33F5526}"/>
                  </a:ext>
                </a:extLst>
              </p:cNvPr>
              <p:cNvSpPr/>
              <p:nvPr/>
            </p:nvSpPr>
            <p:spPr>
              <a:xfrm rot="1800000">
                <a:off x="5151933" y="2962146"/>
                <a:ext cx="4751004" cy="4751004"/>
              </a:xfrm>
              <a:prstGeom prst="donut">
                <a:avLst>
                  <a:gd name="adj" fmla="val 349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Times New Roman" panose="02020603050405020304" pitchFamily="18" charset="0"/>
                  <a:cs typeface="Times New Roman" panose="02020603050405020304" pitchFamily="18" charset="0"/>
                </a:endParaRPr>
              </a:p>
            </p:txBody>
          </p:sp>
          <p:grpSp>
            <p:nvGrpSpPr>
              <p:cNvPr id="36" name="Group 35">
                <a:extLst>
                  <a:ext uri="{FF2B5EF4-FFF2-40B4-BE49-F238E27FC236}">
                    <a16:creationId xmlns:a16="http://schemas.microsoft.com/office/drawing/2014/main" id="{04124DDB-A003-1BD8-25AE-833FD612B33E}"/>
                  </a:ext>
                </a:extLst>
              </p:cNvPr>
              <p:cNvGrpSpPr/>
              <p:nvPr/>
            </p:nvGrpSpPr>
            <p:grpSpPr>
              <a:xfrm rot="1800000">
                <a:off x="6941170" y="2377790"/>
                <a:ext cx="1171481" cy="5921534"/>
                <a:chOff x="7908210" y="2149885"/>
                <a:chExt cx="1371600" cy="6933087"/>
              </a:xfrm>
            </p:grpSpPr>
            <p:sp>
              <p:nvSpPr>
                <p:cNvPr id="34" name="Oval 33">
                  <a:extLst>
                    <a:ext uri="{FF2B5EF4-FFF2-40B4-BE49-F238E27FC236}">
                      <a16:creationId xmlns:a16="http://schemas.microsoft.com/office/drawing/2014/main" id="{CE66914A-BDA8-1D93-2737-41E18E922832}"/>
                    </a:ext>
                  </a:extLst>
                </p:cNvPr>
                <p:cNvSpPr/>
                <p:nvPr/>
              </p:nvSpPr>
              <p:spPr>
                <a:xfrm>
                  <a:off x="7908210" y="2149885"/>
                  <a:ext cx="1371600" cy="1371600"/>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5" name="Oval 34">
                  <a:extLst>
                    <a:ext uri="{FF2B5EF4-FFF2-40B4-BE49-F238E27FC236}">
                      <a16:creationId xmlns:a16="http://schemas.microsoft.com/office/drawing/2014/main" id="{C95FE8DE-46A5-BCFB-0D53-BE32292E812F}"/>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37" name="Group 36">
                <a:extLst>
                  <a:ext uri="{FF2B5EF4-FFF2-40B4-BE49-F238E27FC236}">
                    <a16:creationId xmlns:a16="http://schemas.microsoft.com/office/drawing/2014/main" id="{5FF8B617-AF43-8CBE-A42D-ED583AF53C89}"/>
                  </a:ext>
                </a:extLst>
              </p:cNvPr>
              <p:cNvGrpSpPr/>
              <p:nvPr/>
            </p:nvGrpSpPr>
            <p:grpSpPr>
              <a:xfrm rot="5400000">
                <a:off x="6941695" y="2376880"/>
                <a:ext cx="1171480" cy="5921534"/>
                <a:chOff x="7908210" y="2149885"/>
                <a:chExt cx="1371600" cy="6933087"/>
              </a:xfrm>
            </p:grpSpPr>
            <p:sp>
              <p:nvSpPr>
                <p:cNvPr id="38" name="Oval 37">
                  <a:extLst>
                    <a:ext uri="{FF2B5EF4-FFF2-40B4-BE49-F238E27FC236}">
                      <a16:creationId xmlns:a16="http://schemas.microsoft.com/office/drawing/2014/main" id="{B1A95C3B-7B23-C2EA-3EE0-513ED4E8B917}"/>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9" name="Oval 38">
                  <a:extLst>
                    <a:ext uri="{FF2B5EF4-FFF2-40B4-BE49-F238E27FC236}">
                      <a16:creationId xmlns:a16="http://schemas.microsoft.com/office/drawing/2014/main" id="{D711B0BB-60B9-9183-51B7-C855135C28ED}"/>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nvGrpSpPr>
              <p:cNvPr id="40" name="Group 39">
                <a:extLst>
                  <a:ext uri="{FF2B5EF4-FFF2-40B4-BE49-F238E27FC236}">
                    <a16:creationId xmlns:a16="http://schemas.microsoft.com/office/drawing/2014/main" id="{733D1DA7-F36A-6290-E7F9-6BEED4E5B13E}"/>
                  </a:ext>
                </a:extLst>
              </p:cNvPr>
              <p:cNvGrpSpPr/>
              <p:nvPr/>
            </p:nvGrpSpPr>
            <p:grpSpPr>
              <a:xfrm rot="9000000">
                <a:off x="6941933" y="2376469"/>
                <a:ext cx="1171480" cy="5921534"/>
                <a:chOff x="7908210" y="2149885"/>
                <a:chExt cx="1371600" cy="6933087"/>
              </a:xfrm>
            </p:grpSpPr>
            <p:sp>
              <p:nvSpPr>
                <p:cNvPr id="41" name="Oval 40">
                  <a:extLst>
                    <a:ext uri="{FF2B5EF4-FFF2-40B4-BE49-F238E27FC236}">
                      <a16:creationId xmlns:a16="http://schemas.microsoft.com/office/drawing/2014/main" id="{CB2F2D7B-CDA7-EDB0-3F0A-C7333B279C52}"/>
                    </a:ext>
                  </a:extLst>
                </p:cNvPr>
                <p:cNvSpPr/>
                <p:nvPr/>
              </p:nvSpPr>
              <p:spPr>
                <a:xfrm>
                  <a:off x="7908210" y="2149885"/>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AE362784-485D-D0A9-B8F9-BDCB99786A53}"/>
                    </a:ext>
                  </a:extLst>
                </p:cNvPr>
                <p:cNvSpPr/>
                <p:nvPr/>
              </p:nvSpPr>
              <p:spPr>
                <a:xfrm>
                  <a:off x="7908210" y="7711372"/>
                  <a:ext cx="1371600" cy="13716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sp>
          <p:nvSpPr>
            <p:cNvPr id="43" name="TextBox 42">
              <a:extLst>
                <a:ext uri="{FF2B5EF4-FFF2-40B4-BE49-F238E27FC236}">
                  <a16:creationId xmlns:a16="http://schemas.microsoft.com/office/drawing/2014/main" id="{B9313C8E-9C76-D7E8-0EDC-F295149E9E7F}"/>
                </a:ext>
              </a:extLst>
            </p:cNvPr>
            <p:cNvSpPr txBox="1"/>
            <p:nvPr/>
          </p:nvSpPr>
          <p:spPr>
            <a:xfrm rot="18000000">
              <a:off x="9617768" y="4829815"/>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1</a:t>
              </a:r>
            </a:p>
          </p:txBody>
        </p:sp>
        <p:sp>
          <p:nvSpPr>
            <p:cNvPr id="47" name="TextBox 46">
              <a:extLst>
                <a:ext uri="{FF2B5EF4-FFF2-40B4-BE49-F238E27FC236}">
                  <a16:creationId xmlns:a16="http://schemas.microsoft.com/office/drawing/2014/main" id="{7E1D35E8-0D56-B2AC-978C-DAA016847012}"/>
                </a:ext>
              </a:extLst>
            </p:cNvPr>
            <p:cNvSpPr txBox="1"/>
            <p:nvPr/>
          </p:nvSpPr>
          <p:spPr>
            <a:xfrm rot="18000000">
              <a:off x="8429728"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2</a:t>
              </a:r>
            </a:p>
          </p:txBody>
        </p:sp>
        <p:sp>
          <p:nvSpPr>
            <p:cNvPr id="48" name="TextBox 47">
              <a:extLst>
                <a:ext uri="{FF2B5EF4-FFF2-40B4-BE49-F238E27FC236}">
                  <a16:creationId xmlns:a16="http://schemas.microsoft.com/office/drawing/2014/main" id="{A4120400-0AF1-50EC-1853-4B687C146413}"/>
                </a:ext>
              </a:extLst>
            </p:cNvPr>
            <p:cNvSpPr txBox="1"/>
            <p:nvPr/>
          </p:nvSpPr>
          <p:spPr>
            <a:xfrm rot="18000000">
              <a:off x="6042019" y="6864931"/>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3</a:t>
              </a:r>
            </a:p>
          </p:txBody>
        </p:sp>
        <p:sp>
          <p:nvSpPr>
            <p:cNvPr id="49" name="TextBox 48">
              <a:extLst>
                <a:ext uri="{FF2B5EF4-FFF2-40B4-BE49-F238E27FC236}">
                  <a16:creationId xmlns:a16="http://schemas.microsoft.com/office/drawing/2014/main" id="{2230F68D-A3FE-558A-008E-F03EC37FAB06}"/>
                </a:ext>
              </a:extLst>
            </p:cNvPr>
            <p:cNvSpPr txBox="1"/>
            <p:nvPr/>
          </p:nvSpPr>
          <p:spPr>
            <a:xfrm rot="18000000">
              <a:off x="4850374" y="4780854"/>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4</a:t>
              </a:r>
            </a:p>
          </p:txBody>
        </p:sp>
        <p:sp>
          <p:nvSpPr>
            <p:cNvPr id="50" name="TextBox 49">
              <a:extLst>
                <a:ext uri="{FF2B5EF4-FFF2-40B4-BE49-F238E27FC236}">
                  <a16:creationId xmlns:a16="http://schemas.microsoft.com/office/drawing/2014/main" id="{3F132D91-BBE2-1D7C-8DDB-5923E415C84D}"/>
                </a:ext>
              </a:extLst>
            </p:cNvPr>
            <p:cNvSpPr txBox="1"/>
            <p:nvPr/>
          </p:nvSpPr>
          <p:spPr>
            <a:xfrm rot="18000000">
              <a:off x="6054703" y="2772569"/>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5</a:t>
              </a:r>
            </a:p>
          </p:txBody>
        </p:sp>
        <p:sp>
          <p:nvSpPr>
            <p:cNvPr id="51" name="TextBox 50">
              <a:extLst>
                <a:ext uri="{FF2B5EF4-FFF2-40B4-BE49-F238E27FC236}">
                  <a16:creationId xmlns:a16="http://schemas.microsoft.com/office/drawing/2014/main" id="{7E38BCA6-02BC-5AC0-A09E-2B4FB11D90CE}"/>
                </a:ext>
              </a:extLst>
            </p:cNvPr>
            <p:cNvSpPr txBox="1"/>
            <p:nvPr/>
          </p:nvSpPr>
          <p:spPr>
            <a:xfrm rot="18000000">
              <a:off x="8429729" y="2772570"/>
              <a:ext cx="569387" cy="1015663"/>
            </a:xfrm>
            <a:prstGeom prst="rect">
              <a:avLst/>
            </a:prstGeom>
            <a:noFill/>
          </p:spPr>
          <p:txBody>
            <a:bodyPr wrap="none" rtlCol="0">
              <a:spAutoFit/>
            </a:bodyPr>
            <a:lstStyle/>
            <a:p>
              <a:r>
                <a:rPr lang="en-US" sz="6000">
                  <a:latin typeface="Times New Roman" panose="02020603050405020304" pitchFamily="18" charset="0"/>
                  <a:cs typeface="Times New Roman" panose="02020603050405020304" pitchFamily="18" charset="0"/>
                </a:rPr>
                <a:t>6</a:t>
              </a:r>
            </a:p>
          </p:txBody>
        </p:sp>
      </p:grpSp>
      <p:grpSp>
        <p:nvGrpSpPr>
          <p:cNvPr id="2" name="Group 2">
            <a:extLst>
              <a:ext uri="{FF2B5EF4-FFF2-40B4-BE49-F238E27FC236}">
                <a16:creationId xmlns:a16="http://schemas.microsoft.com/office/drawing/2014/main" id="{256C5734-BCCF-C391-A1AF-6A2691E94387}"/>
              </a:ext>
            </a:extLst>
          </p:cNvPr>
          <p:cNvGrpSpPr/>
          <p:nvPr/>
        </p:nvGrpSpPr>
        <p:grpSpPr>
          <a:xfrm>
            <a:off x="1028700" y="9113698"/>
            <a:ext cx="140028" cy="140028"/>
            <a:chOff x="0" y="0"/>
            <a:chExt cx="6350000" cy="6350000"/>
          </a:xfrm>
        </p:grpSpPr>
        <p:sp>
          <p:nvSpPr>
            <p:cNvPr id="3" name="Freeform 3">
              <a:extLst>
                <a:ext uri="{FF2B5EF4-FFF2-40B4-BE49-F238E27FC236}">
                  <a16:creationId xmlns:a16="http://schemas.microsoft.com/office/drawing/2014/main" id="{CB8CBE85-EFB0-4AA1-692A-22B92F586C4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a:extLst>
              <a:ext uri="{FF2B5EF4-FFF2-40B4-BE49-F238E27FC236}">
                <a16:creationId xmlns:a16="http://schemas.microsoft.com/office/drawing/2014/main" id="{8F075AE2-95A5-06F5-3A10-77C0F62D88FC}"/>
              </a:ext>
            </a:extLst>
          </p:cNvPr>
          <p:cNvGrpSpPr/>
          <p:nvPr/>
        </p:nvGrpSpPr>
        <p:grpSpPr>
          <a:xfrm>
            <a:off x="1359228" y="9113698"/>
            <a:ext cx="140028" cy="140028"/>
            <a:chOff x="0" y="0"/>
            <a:chExt cx="6350000" cy="6350000"/>
          </a:xfrm>
        </p:grpSpPr>
        <p:sp>
          <p:nvSpPr>
            <p:cNvPr id="5" name="Freeform 5">
              <a:extLst>
                <a:ext uri="{FF2B5EF4-FFF2-40B4-BE49-F238E27FC236}">
                  <a16:creationId xmlns:a16="http://schemas.microsoft.com/office/drawing/2014/main" id="{6D8A07BF-3213-4935-6673-66E63ACBC3B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a:extLst>
              <a:ext uri="{FF2B5EF4-FFF2-40B4-BE49-F238E27FC236}">
                <a16:creationId xmlns:a16="http://schemas.microsoft.com/office/drawing/2014/main" id="{A2BC024D-8264-0D27-E0C7-DD7A36D26BDA}"/>
              </a:ext>
            </a:extLst>
          </p:cNvPr>
          <p:cNvGrpSpPr/>
          <p:nvPr/>
        </p:nvGrpSpPr>
        <p:grpSpPr>
          <a:xfrm>
            <a:off x="3011870" y="9113698"/>
            <a:ext cx="140028" cy="140028"/>
            <a:chOff x="0" y="0"/>
            <a:chExt cx="6350000" cy="6350000"/>
          </a:xfrm>
        </p:grpSpPr>
        <p:sp>
          <p:nvSpPr>
            <p:cNvPr id="7" name="Freeform 7">
              <a:extLst>
                <a:ext uri="{FF2B5EF4-FFF2-40B4-BE49-F238E27FC236}">
                  <a16:creationId xmlns:a16="http://schemas.microsoft.com/office/drawing/2014/main" id="{C0E2BFE1-7EA7-584E-5198-F83BC08A9A2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a:extLst>
              <a:ext uri="{FF2B5EF4-FFF2-40B4-BE49-F238E27FC236}">
                <a16:creationId xmlns:a16="http://schemas.microsoft.com/office/drawing/2014/main" id="{30184A3D-D164-8C06-E146-B14911DC0F20}"/>
              </a:ext>
            </a:extLst>
          </p:cNvPr>
          <p:cNvGrpSpPr/>
          <p:nvPr/>
        </p:nvGrpSpPr>
        <p:grpSpPr>
          <a:xfrm>
            <a:off x="2350813" y="9113698"/>
            <a:ext cx="140028" cy="140028"/>
            <a:chOff x="0" y="0"/>
            <a:chExt cx="6350000" cy="6350000"/>
          </a:xfrm>
        </p:grpSpPr>
        <p:sp>
          <p:nvSpPr>
            <p:cNvPr id="9" name="Freeform 9">
              <a:extLst>
                <a:ext uri="{FF2B5EF4-FFF2-40B4-BE49-F238E27FC236}">
                  <a16:creationId xmlns:a16="http://schemas.microsoft.com/office/drawing/2014/main" id="{1F0C5CA5-A374-884B-30F4-0BB9F743855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a:extLst>
              <a:ext uri="{FF2B5EF4-FFF2-40B4-BE49-F238E27FC236}">
                <a16:creationId xmlns:a16="http://schemas.microsoft.com/office/drawing/2014/main" id="{52415105-6417-45A5-B649-DF36A9922E55}"/>
              </a:ext>
            </a:extLst>
          </p:cNvPr>
          <p:cNvGrpSpPr/>
          <p:nvPr/>
        </p:nvGrpSpPr>
        <p:grpSpPr>
          <a:xfrm>
            <a:off x="3342398" y="9113698"/>
            <a:ext cx="140028" cy="140028"/>
            <a:chOff x="0" y="0"/>
            <a:chExt cx="6350000" cy="6350000"/>
          </a:xfrm>
        </p:grpSpPr>
        <p:sp>
          <p:nvSpPr>
            <p:cNvPr id="11" name="Freeform 11">
              <a:extLst>
                <a:ext uri="{FF2B5EF4-FFF2-40B4-BE49-F238E27FC236}">
                  <a16:creationId xmlns:a16="http://schemas.microsoft.com/office/drawing/2014/main" id="{CD10DB4F-93FE-2E0E-D623-2830F000D29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a:extLst>
              <a:ext uri="{FF2B5EF4-FFF2-40B4-BE49-F238E27FC236}">
                <a16:creationId xmlns:a16="http://schemas.microsoft.com/office/drawing/2014/main" id="{E46649D3-4FC0-E208-60A6-DF83E44176CF}"/>
              </a:ext>
            </a:extLst>
          </p:cNvPr>
          <p:cNvGrpSpPr/>
          <p:nvPr/>
        </p:nvGrpSpPr>
        <p:grpSpPr>
          <a:xfrm>
            <a:off x="1689757" y="9113698"/>
            <a:ext cx="140028" cy="140028"/>
            <a:chOff x="0" y="0"/>
            <a:chExt cx="6350000" cy="6350000"/>
          </a:xfrm>
        </p:grpSpPr>
        <p:sp>
          <p:nvSpPr>
            <p:cNvPr id="13" name="Freeform 13">
              <a:extLst>
                <a:ext uri="{FF2B5EF4-FFF2-40B4-BE49-F238E27FC236}">
                  <a16:creationId xmlns:a16="http://schemas.microsoft.com/office/drawing/2014/main" id="{DA9413FE-1360-CB34-5E25-BB61C94E5F0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a:extLst>
              <a:ext uri="{FF2B5EF4-FFF2-40B4-BE49-F238E27FC236}">
                <a16:creationId xmlns:a16="http://schemas.microsoft.com/office/drawing/2014/main" id="{1B024627-A3C4-7250-CF53-070A97C5FEBD}"/>
              </a:ext>
            </a:extLst>
          </p:cNvPr>
          <p:cNvGrpSpPr/>
          <p:nvPr/>
        </p:nvGrpSpPr>
        <p:grpSpPr>
          <a:xfrm>
            <a:off x="2020285" y="9113698"/>
            <a:ext cx="140028" cy="140028"/>
            <a:chOff x="0" y="0"/>
            <a:chExt cx="6350000" cy="6350000"/>
          </a:xfrm>
        </p:grpSpPr>
        <p:sp>
          <p:nvSpPr>
            <p:cNvPr id="15" name="Freeform 15">
              <a:extLst>
                <a:ext uri="{FF2B5EF4-FFF2-40B4-BE49-F238E27FC236}">
                  <a16:creationId xmlns:a16="http://schemas.microsoft.com/office/drawing/2014/main" id="{C109FF94-B876-31F4-523B-A7062B93AC65}"/>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a:extLst>
              <a:ext uri="{FF2B5EF4-FFF2-40B4-BE49-F238E27FC236}">
                <a16:creationId xmlns:a16="http://schemas.microsoft.com/office/drawing/2014/main" id="{E584A089-10B2-E5AF-0935-D5CB4DE6734C}"/>
              </a:ext>
            </a:extLst>
          </p:cNvPr>
          <p:cNvGrpSpPr/>
          <p:nvPr/>
        </p:nvGrpSpPr>
        <p:grpSpPr>
          <a:xfrm>
            <a:off x="2681342" y="9113698"/>
            <a:ext cx="140028" cy="140028"/>
            <a:chOff x="0" y="0"/>
            <a:chExt cx="6350000" cy="6350000"/>
          </a:xfrm>
        </p:grpSpPr>
        <p:sp>
          <p:nvSpPr>
            <p:cNvPr id="17" name="Freeform 17">
              <a:extLst>
                <a:ext uri="{FF2B5EF4-FFF2-40B4-BE49-F238E27FC236}">
                  <a16:creationId xmlns:a16="http://schemas.microsoft.com/office/drawing/2014/main" id="{E114360B-04B5-D547-4F5F-710DA2F79D1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a:extLst>
              <a:ext uri="{FF2B5EF4-FFF2-40B4-BE49-F238E27FC236}">
                <a16:creationId xmlns:a16="http://schemas.microsoft.com/office/drawing/2014/main" id="{A13374CC-44E8-075A-32BD-33F15A1960F6}"/>
              </a:ext>
            </a:extLst>
          </p:cNvPr>
          <p:cNvGrpSpPr/>
          <p:nvPr/>
        </p:nvGrpSpPr>
        <p:grpSpPr>
          <a:xfrm>
            <a:off x="3672927" y="9113698"/>
            <a:ext cx="140028" cy="140028"/>
            <a:chOff x="0" y="0"/>
            <a:chExt cx="6350000" cy="6350000"/>
          </a:xfrm>
        </p:grpSpPr>
        <p:sp>
          <p:nvSpPr>
            <p:cNvPr id="19" name="Freeform 19">
              <a:extLst>
                <a:ext uri="{FF2B5EF4-FFF2-40B4-BE49-F238E27FC236}">
                  <a16:creationId xmlns:a16="http://schemas.microsoft.com/office/drawing/2014/main" id="{F0555ECB-7261-F77F-D0A8-5A83E3658CE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a:extLst>
              <a:ext uri="{FF2B5EF4-FFF2-40B4-BE49-F238E27FC236}">
                <a16:creationId xmlns:a16="http://schemas.microsoft.com/office/drawing/2014/main" id="{798010B4-DF20-E5C0-47D5-2F7C0667767D}"/>
              </a:ext>
            </a:extLst>
          </p:cNvPr>
          <p:cNvGrpSpPr/>
          <p:nvPr/>
        </p:nvGrpSpPr>
        <p:grpSpPr>
          <a:xfrm>
            <a:off x="4003455" y="9113698"/>
            <a:ext cx="140028" cy="140028"/>
            <a:chOff x="0" y="0"/>
            <a:chExt cx="6350000" cy="6350000"/>
          </a:xfrm>
        </p:grpSpPr>
        <p:sp>
          <p:nvSpPr>
            <p:cNvPr id="21" name="Freeform 21">
              <a:extLst>
                <a:ext uri="{FF2B5EF4-FFF2-40B4-BE49-F238E27FC236}">
                  <a16:creationId xmlns:a16="http://schemas.microsoft.com/office/drawing/2014/main" id="{574CB999-D8C3-93B9-8655-BE035ED83B0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a:extLst>
              <a:ext uri="{FF2B5EF4-FFF2-40B4-BE49-F238E27FC236}">
                <a16:creationId xmlns:a16="http://schemas.microsoft.com/office/drawing/2014/main" id="{C17DDD36-3F38-F9C3-D04C-03EE2EC8804A}"/>
              </a:ext>
            </a:extLst>
          </p:cNvPr>
          <p:cNvGrpSpPr/>
          <p:nvPr/>
        </p:nvGrpSpPr>
        <p:grpSpPr>
          <a:xfrm>
            <a:off x="16786804" y="1028700"/>
            <a:ext cx="472496" cy="541606"/>
            <a:chOff x="0" y="0"/>
            <a:chExt cx="1243443" cy="1425315"/>
          </a:xfrm>
        </p:grpSpPr>
        <p:sp>
          <p:nvSpPr>
            <p:cNvPr id="23" name="Freeform 23">
              <a:extLst>
                <a:ext uri="{FF2B5EF4-FFF2-40B4-BE49-F238E27FC236}">
                  <a16:creationId xmlns:a16="http://schemas.microsoft.com/office/drawing/2014/main" id="{9D4507EB-ECCA-12B6-2099-47CE717108BB}"/>
                </a:ext>
              </a:extLst>
            </p:cNvPr>
            <p:cNvSpPr/>
            <p:nvPr/>
          </p:nvSpPr>
          <p:spPr>
            <a:xfrm>
              <a:off x="0" y="0"/>
              <a:ext cx="1243443" cy="1425315"/>
            </a:xfrm>
            <a:custGeom>
              <a:avLst/>
              <a:gdLst/>
              <a:ahLst/>
              <a:cxnLst/>
              <a:rect l="l" t="t" r="r" b="b"/>
              <a:pathLst>
                <a:path w="1243443" h="1425315">
                  <a:moveTo>
                    <a:pt x="621722" y="0"/>
                  </a:moveTo>
                  <a:cubicBezTo>
                    <a:pt x="278354" y="0"/>
                    <a:pt x="0" y="319068"/>
                    <a:pt x="0" y="712658"/>
                  </a:cubicBezTo>
                  <a:cubicBezTo>
                    <a:pt x="0" y="1106247"/>
                    <a:pt x="278354" y="1425315"/>
                    <a:pt x="621722" y="1425315"/>
                  </a:cubicBezTo>
                  <a:cubicBezTo>
                    <a:pt x="965089" y="1425315"/>
                    <a:pt x="1243443" y="1106247"/>
                    <a:pt x="1243443" y="712658"/>
                  </a:cubicBezTo>
                  <a:cubicBezTo>
                    <a:pt x="1243443" y="319068"/>
                    <a:pt x="965089" y="0"/>
                    <a:pt x="621722"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a:extLst>
                <a:ext uri="{FF2B5EF4-FFF2-40B4-BE49-F238E27FC236}">
                  <a16:creationId xmlns:a16="http://schemas.microsoft.com/office/drawing/2014/main" id="{B43BD7AB-F445-8117-9CC3-0E7403CC4A4B}"/>
                </a:ext>
              </a:extLst>
            </p:cNvPr>
            <p:cNvSpPr txBox="1"/>
            <p:nvPr/>
          </p:nvSpPr>
          <p:spPr>
            <a:xfrm>
              <a:off x="116573" y="105048"/>
              <a:ext cx="1010298" cy="1186644"/>
            </a:xfrm>
            <a:prstGeom prst="rect">
              <a:avLst/>
            </a:prstGeom>
          </p:spPr>
          <p:txBody>
            <a:bodyPr lIns="50800" tIns="50800" rIns="50800" bIns="50800" rtlCol="0" anchor="ctr"/>
            <a:lstStyle/>
            <a:p>
              <a:pPr algn="ctr">
                <a:lnSpc>
                  <a:spcPts val="2399"/>
                </a:lnSpc>
              </a:pPr>
              <a:r>
                <a:rPr lang="en-US" sz="1599">
                  <a:solidFill>
                    <a:srgbClr val="000000"/>
                  </a:solidFill>
                  <a:latin typeface="Times New Roman" panose="02020603050405020304" pitchFamily="18" charset="0"/>
                  <a:ea typeface="Garet"/>
                  <a:cs typeface="Times New Roman" panose="02020603050405020304" pitchFamily="18" charset="0"/>
                  <a:sym typeface="Garet"/>
                </a:rPr>
                <a:t>7</a:t>
              </a:r>
            </a:p>
          </p:txBody>
        </p:sp>
      </p:grpSp>
      <p:grpSp>
        <p:nvGrpSpPr>
          <p:cNvPr id="27" name="Group 27">
            <a:extLst>
              <a:ext uri="{FF2B5EF4-FFF2-40B4-BE49-F238E27FC236}">
                <a16:creationId xmlns:a16="http://schemas.microsoft.com/office/drawing/2014/main" id="{B8F5B082-892B-9C51-3F72-E2B91AB903D9}"/>
              </a:ext>
            </a:extLst>
          </p:cNvPr>
          <p:cNvGrpSpPr/>
          <p:nvPr/>
        </p:nvGrpSpPr>
        <p:grpSpPr>
          <a:xfrm>
            <a:off x="4333983" y="9118272"/>
            <a:ext cx="140028" cy="140028"/>
            <a:chOff x="0" y="0"/>
            <a:chExt cx="6350000" cy="6350000"/>
          </a:xfrm>
        </p:grpSpPr>
        <p:sp>
          <p:nvSpPr>
            <p:cNvPr id="28" name="Freeform 28">
              <a:extLst>
                <a:ext uri="{FF2B5EF4-FFF2-40B4-BE49-F238E27FC236}">
                  <a16:creationId xmlns:a16="http://schemas.microsoft.com/office/drawing/2014/main" id="{9613CB4C-4D13-93DF-E5FC-1DB0C3BFEDF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a:extLst>
              <a:ext uri="{FF2B5EF4-FFF2-40B4-BE49-F238E27FC236}">
                <a16:creationId xmlns:a16="http://schemas.microsoft.com/office/drawing/2014/main" id="{0F50DB4A-5C13-96A4-1F54-568DDC7BD153}"/>
              </a:ext>
            </a:extLst>
          </p:cNvPr>
          <p:cNvGrpSpPr/>
          <p:nvPr/>
        </p:nvGrpSpPr>
        <p:grpSpPr>
          <a:xfrm>
            <a:off x="4664512" y="9122846"/>
            <a:ext cx="140028" cy="140028"/>
            <a:chOff x="0" y="0"/>
            <a:chExt cx="6350000" cy="6350000"/>
          </a:xfrm>
        </p:grpSpPr>
        <p:sp>
          <p:nvSpPr>
            <p:cNvPr id="30" name="Freeform 30">
              <a:extLst>
                <a:ext uri="{FF2B5EF4-FFF2-40B4-BE49-F238E27FC236}">
                  <a16:creationId xmlns:a16="http://schemas.microsoft.com/office/drawing/2014/main" id="{45546A08-F193-807D-CEF0-726E5BFBB2F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31" name="Group 31">
            <a:extLst>
              <a:ext uri="{FF2B5EF4-FFF2-40B4-BE49-F238E27FC236}">
                <a16:creationId xmlns:a16="http://schemas.microsoft.com/office/drawing/2014/main" id="{58EE5AD6-EBEE-5E03-AE6A-FAF5C87EB67C}"/>
              </a:ext>
            </a:extLst>
          </p:cNvPr>
          <p:cNvGrpSpPr/>
          <p:nvPr/>
        </p:nvGrpSpPr>
        <p:grpSpPr>
          <a:xfrm>
            <a:off x="4995040" y="9127420"/>
            <a:ext cx="140028" cy="140028"/>
            <a:chOff x="0" y="0"/>
            <a:chExt cx="6350000" cy="6350000"/>
          </a:xfrm>
        </p:grpSpPr>
        <p:sp>
          <p:nvSpPr>
            <p:cNvPr id="32" name="Freeform 32">
              <a:extLst>
                <a:ext uri="{FF2B5EF4-FFF2-40B4-BE49-F238E27FC236}">
                  <a16:creationId xmlns:a16="http://schemas.microsoft.com/office/drawing/2014/main" id="{FE5886D4-2002-3E00-1E93-92F63077FCB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26" name="Rectangle 25">
            <a:extLst>
              <a:ext uri="{FF2B5EF4-FFF2-40B4-BE49-F238E27FC236}">
                <a16:creationId xmlns:a16="http://schemas.microsoft.com/office/drawing/2014/main" id="{E86BC8FC-8D76-1FD4-9720-821EFE496BD9}"/>
              </a:ext>
            </a:extLst>
          </p:cNvPr>
          <p:cNvSpPr/>
          <p:nvPr/>
        </p:nvSpPr>
        <p:spPr>
          <a:xfrm>
            <a:off x="7772757" y="2387896"/>
            <a:ext cx="45719" cy="64899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5" name="TextBox 25">
            <a:extLst>
              <a:ext uri="{FF2B5EF4-FFF2-40B4-BE49-F238E27FC236}">
                <a16:creationId xmlns:a16="http://schemas.microsoft.com/office/drawing/2014/main" id="{CC5FE48A-A3BC-B9E7-1C05-E20E19CC9E0D}"/>
              </a:ext>
            </a:extLst>
          </p:cNvPr>
          <p:cNvSpPr txBox="1"/>
          <p:nvPr/>
        </p:nvSpPr>
        <p:spPr>
          <a:xfrm>
            <a:off x="1028700" y="1028700"/>
            <a:ext cx="9568021" cy="1095375"/>
          </a:xfrm>
          <a:prstGeom prst="rect">
            <a:avLst/>
          </a:prstGeom>
        </p:spPr>
        <p:txBody>
          <a:bodyPr lIns="0" tIns="0" rIns="0" bIns="0" rtlCol="0" anchor="t">
            <a:spAutoFit/>
          </a:bodyPr>
          <a:lstStyle/>
          <a:p>
            <a:pPr marL="0" lvl="0" indent="0"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Các phân tích chính</a:t>
            </a:r>
          </a:p>
        </p:txBody>
      </p:sp>
      <p:sp>
        <p:nvSpPr>
          <p:cNvPr id="53" name="TextBox 25">
            <a:extLst>
              <a:ext uri="{FF2B5EF4-FFF2-40B4-BE49-F238E27FC236}">
                <a16:creationId xmlns:a16="http://schemas.microsoft.com/office/drawing/2014/main" id="{53CED03B-2654-983C-F569-303287423927}"/>
              </a:ext>
            </a:extLst>
          </p:cNvPr>
          <p:cNvSpPr txBox="1"/>
          <p:nvPr/>
        </p:nvSpPr>
        <p:spPr>
          <a:xfrm>
            <a:off x="3342398" y="3426836"/>
            <a:ext cx="4052819" cy="3177152"/>
          </a:xfrm>
          <a:prstGeom prst="rect">
            <a:avLst/>
          </a:prstGeom>
        </p:spPr>
        <p:txBody>
          <a:bodyPr wrap="square" lIns="0" tIns="0" rIns="0" bIns="0" rtlCol="0" anchor="t">
            <a:spAutoFit/>
          </a:bodyPr>
          <a:lstStyle/>
          <a:p>
            <a:pPr marL="0" lvl="0" indent="0" algn="l">
              <a:lnSpc>
                <a:spcPts val="8640"/>
              </a:lnSpc>
              <a:spcBef>
                <a:spcPct val="0"/>
              </a:spcBef>
            </a:pPr>
            <a:r>
              <a:rPr lang="en-US" sz="4800" b="1" spc="-144">
                <a:solidFill>
                  <a:srgbClr val="000000"/>
                </a:solidFill>
                <a:latin typeface="Times New Roman" panose="02020603050405020304" pitchFamily="18" charset="0"/>
                <a:ea typeface="Garet Bold"/>
                <a:cs typeface="Times New Roman" panose="02020603050405020304" pitchFamily="18" charset="0"/>
                <a:sym typeface="Garet Bold"/>
              </a:rPr>
              <a:t>Đưa ra gợi ý cho người dùng các sản phẩm</a:t>
            </a:r>
          </a:p>
        </p:txBody>
      </p:sp>
      <p:pic>
        <p:nvPicPr>
          <p:cNvPr id="58" name="Picture 57" descr="A screenshot of a computer&#10;&#10;AI-generated content may be incorrect.">
            <a:extLst>
              <a:ext uri="{FF2B5EF4-FFF2-40B4-BE49-F238E27FC236}">
                <a16:creationId xmlns:a16="http://schemas.microsoft.com/office/drawing/2014/main" id="{3902FC04-95F5-A043-C744-3A45A9042BDB}"/>
              </a:ext>
            </a:extLst>
          </p:cNvPr>
          <p:cNvPicPr>
            <a:picLocks noChangeAspect="1"/>
          </p:cNvPicPr>
          <p:nvPr/>
        </p:nvPicPr>
        <p:blipFill>
          <a:blip r:embed="rId3"/>
          <a:stretch>
            <a:fillRect/>
          </a:stretch>
        </p:blipFill>
        <p:spPr>
          <a:xfrm>
            <a:off x="8218410" y="2119842"/>
            <a:ext cx="8733222" cy="6993856"/>
          </a:xfrm>
          <a:prstGeom prst="rect">
            <a:avLst/>
          </a:prstGeom>
        </p:spPr>
      </p:pic>
    </p:spTree>
    <p:extLst>
      <p:ext uri="{BB962C8B-B14F-4D97-AF65-F5344CB8AC3E}">
        <p14:creationId xmlns:p14="http://schemas.microsoft.com/office/powerpoint/2010/main" val="1494797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p:cNvGrpSpPr/>
          <p:nvPr/>
        </p:nvGrpSpPr>
        <p:grpSpPr>
          <a:xfrm>
            <a:off x="4333983" y="9127420"/>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p:cNvGrpSpPr/>
          <p:nvPr/>
        </p:nvGrpSpPr>
        <p:grpSpPr>
          <a:xfrm>
            <a:off x="2350813"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p:cNvGrpSpPr/>
          <p:nvPr/>
        </p:nvGrpSpPr>
        <p:grpSpPr>
          <a:xfrm>
            <a:off x="2020285"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p:cNvGrpSpPr/>
          <p:nvPr/>
        </p:nvGrpSpPr>
        <p:grpSpPr>
          <a:xfrm>
            <a:off x="2681342"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p:cNvGrpSpPr/>
          <p:nvPr/>
        </p:nvGrpSpPr>
        <p:grpSpPr>
          <a:xfrm>
            <a:off x="3011870"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p:cNvGrpSpPr/>
          <p:nvPr/>
        </p:nvGrpSpPr>
        <p:grpSpPr>
          <a:xfrm>
            <a:off x="16786201" y="1028700"/>
            <a:ext cx="473099" cy="541606"/>
            <a:chOff x="0" y="0"/>
            <a:chExt cx="1656507" cy="1896376"/>
          </a:xfrm>
        </p:grpSpPr>
        <p:sp>
          <p:nvSpPr>
            <p:cNvPr id="23" name="Freeform 23"/>
            <p:cNvSpPr/>
            <p:nvPr/>
          </p:nvSpPr>
          <p:spPr>
            <a:xfrm>
              <a:off x="0" y="0"/>
              <a:ext cx="1656507" cy="1896376"/>
            </a:xfrm>
            <a:custGeom>
              <a:avLst/>
              <a:gdLst/>
              <a:ahLst/>
              <a:cxnLst/>
              <a:rect l="l" t="t" r="r" b="b"/>
              <a:pathLst>
                <a:path w="1656507" h="1896376">
                  <a:moveTo>
                    <a:pt x="828254" y="0"/>
                  </a:moveTo>
                  <a:cubicBezTo>
                    <a:pt x="370822" y="0"/>
                    <a:pt x="0" y="424518"/>
                    <a:pt x="0" y="948188"/>
                  </a:cubicBezTo>
                  <a:cubicBezTo>
                    <a:pt x="0" y="1471858"/>
                    <a:pt x="370822" y="1896376"/>
                    <a:pt x="828254" y="1896376"/>
                  </a:cubicBezTo>
                  <a:cubicBezTo>
                    <a:pt x="1285685" y="1896376"/>
                    <a:pt x="1656507" y="1471858"/>
                    <a:pt x="1656507" y="948188"/>
                  </a:cubicBezTo>
                  <a:cubicBezTo>
                    <a:pt x="1656507" y="424518"/>
                    <a:pt x="1285685" y="0"/>
                    <a:pt x="828254"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p:cNvSpPr txBox="1"/>
            <p:nvPr/>
          </p:nvSpPr>
          <p:spPr>
            <a:xfrm>
              <a:off x="155298" y="149210"/>
              <a:ext cx="1345912" cy="1569381"/>
            </a:xfrm>
            <a:prstGeom prst="rect">
              <a:avLst/>
            </a:prstGeom>
          </p:spPr>
          <p:txBody>
            <a:bodyPr lIns="50800" tIns="50800" rIns="50800" bIns="50800" rtlCol="0" anchor="ctr"/>
            <a:lstStyle/>
            <a:p>
              <a:pPr algn="ctr">
                <a:lnSpc>
                  <a:spcPts val="2399"/>
                </a:lnSpc>
              </a:pPr>
              <a:r>
                <a:rPr lang="en-US" sz="1599">
                  <a:solidFill>
                    <a:srgbClr val="365B6D"/>
                  </a:solidFill>
                  <a:latin typeface="Garet"/>
                  <a:ea typeface="Garet"/>
                  <a:cs typeface="Garet"/>
                  <a:sym typeface="Garet"/>
                </a:rPr>
                <a:t>9</a:t>
              </a:r>
            </a:p>
          </p:txBody>
        </p:sp>
      </p:grpSp>
      <p:sp>
        <p:nvSpPr>
          <p:cNvPr id="25" name="TextBox 25"/>
          <p:cNvSpPr txBox="1"/>
          <p:nvPr/>
        </p:nvSpPr>
        <p:spPr>
          <a:xfrm>
            <a:off x="6248989" y="4010025"/>
            <a:ext cx="5181012" cy="2169440"/>
          </a:xfrm>
          <a:prstGeom prst="rect">
            <a:avLst/>
          </a:prstGeom>
        </p:spPr>
        <p:txBody>
          <a:bodyPr wrap="square" lIns="0" tIns="0" rIns="0" bIns="0" rtlCol="0" anchor="t">
            <a:spAutoFit/>
          </a:bodyPr>
          <a:lstStyle/>
          <a:p>
            <a:pPr algn="l">
              <a:lnSpc>
                <a:spcPts val="17877"/>
              </a:lnSpc>
              <a:spcBef>
                <a:spcPct val="0"/>
              </a:spcBef>
            </a:pPr>
            <a:r>
              <a:rPr lang="en-US" sz="14898" b="1" spc="-297">
                <a:solidFill>
                  <a:srgbClr val="000000"/>
                </a:solidFill>
                <a:latin typeface="Times New Roman" panose="02020603050405020304" pitchFamily="18" charset="0"/>
                <a:ea typeface="Garet Bold"/>
                <a:cs typeface="Times New Roman" panose="02020603050405020304" pitchFamily="18" charset="0"/>
                <a:sym typeface="Garet Bold"/>
              </a:rPr>
              <a:t>Demo</a:t>
            </a:r>
          </a:p>
        </p:txBody>
      </p:sp>
      <p:grpSp>
        <p:nvGrpSpPr>
          <p:cNvPr id="26" name="Group 26"/>
          <p:cNvGrpSpPr/>
          <p:nvPr/>
        </p:nvGrpSpPr>
        <p:grpSpPr>
          <a:xfrm>
            <a:off x="3672927" y="9127420"/>
            <a:ext cx="140028" cy="140028"/>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8" name="Group 28"/>
          <p:cNvGrpSpPr/>
          <p:nvPr/>
        </p:nvGrpSpPr>
        <p:grpSpPr>
          <a:xfrm>
            <a:off x="4664512" y="9122846"/>
            <a:ext cx="140028" cy="140028"/>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0" name="Group 30"/>
          <p:cNvGrpSpPr/>
          <p:nvPr/>
        </p:nvGrpSpPr>
        <p:grpSpPr>
          <a:xfrm>
            <a:off x="4995040" y="9127420"/>
            <a:ext cx="140028" cy="140028"/>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6" name="Group 6"/>
          <p:cNvGrpSpPr/>
          <p:nvPr/>
        </p:nvGrpSpPr>
        <p:grpSpPr>
          <a:xfrm>
            <a:off x="4664512" y="9127420"/>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8" name="Group 8"/>
          <p:cNvGrpSpPr/>
          <p:nvPr/>
        </p:nvGrpSpPr>
        <p:grpSpPr>
          <a:xfrm>
            <a:off x="2350813"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4" name="Group 14"/>
          <p:cNvGrpSpPr/>
          <p:nvPr/>
        </p:nvGrpSpPr>
        <p:grpSpPr>
          <a:xfrm>
            <a:off x="2020285"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6" name="Group 16"/>
          <p:cNvGrpSpPr/>
          <p:nvPr/>
        </p:nvGrpSpPr>
        <p:grpSpPr>
          <a:xfrm>
            <a:off x="2681342"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18" name="Group 18"/>
          <p:cNvGrpSpPr/>
          <p:nvPr/>
        </p:nvGrpSpPr>
        <p:grpSpPr>
          <a:xfrm>
            <a:off x="3011870"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0" name="Group 20"/>
          <p:cNvGrpSpPr/>
          <p:nvPr/>
        </p:nvGrpSpPr>
        <p:grpSpPr>
          <a:xfrm>
            <a:off x="4003455"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2" name="Group 22"/>
          <p:cNvGrpSpPr/>
          <p:nvPr/>
        </p:nvGrpSpPr>
        <p:grpSpPr>
          <a:xfrm>
            <a:off x="16786201" y="1028700"/>
            <a:ext cx="473099" cy="541606"/>
            <a:chOff x="0" y="0"/>
            <a:chExt cx="1656507" cy="1896376"/>
          </a:xfrm>
        </p:grpSpPr>
        <p:sp>
          <p:nvSpPr>
            <p:cNvPr id="23" name="Freeform 23"/>
            <p:cNvSpPr/>
            <p:nvPr/>
          </p:nvSpPr>
          <p:spPr>
            <a:xfrm>
              <a:off x="0" y="0"/>
              <a:ext cx="1656507" cy="1896376"/>
            </a:xfrm>
            <a:custGeom>
              <a:avLst/>
              <a:gdLst/>
              <a:ahLst/>
              <a:cxnLst/>
              <a:rect l="l" t="t" r="r" b="b"/>
              <a:pathLst>
                <a:path w="1656507" h="1896376">
                  <a:moveTo>
                    <a:pt x="828254" y="0"/>
                  </a:moveTo>
                  <a:cubicBezTo>
                    <a:pt x="370822" y="0"/>
                    <a:pt x="0" y="424518"/>
                    <a:pt x="0" y="948188"/>
                  </a:cubicBezTo>
                  <a:cubicBezTo>
                    <a:pt x="0" y="1471858"/>
                    <a:pt x="370822" y="1896376"/>
                    <a:pt x="828254" y="1896376"/>
                  </a:cubicBezTo>
                  <a:cubicBezTo>
                    <a:pt x="1285685" y="1896376"/>
                    <a:pt x="1656507" y="1471858"/>
                    <a:pt x="1656507" y="948188"/>
                  </a:cubicBezTo>
                  <a:cubicBezTo>
                    <a:pt x="1656507" y="424518"/>
                    <a:pt x="1285685" y="0"/>
                    <a:pt x="828254" y="0"/>
                  </a:cubicBezTo>
                  <a:close/>
                </a:path>
              </a:pathLst>
            </a:custGeom>
            <a:solidFill>
              <a:srgbClr val="000000">
                <a:alpha val="0"/>
              </a:srgbClr>
            </a:solidFill>
            <a:ln w="19050" cap="sq">
              <a:solidFill>
                <a:srgbClr val="000000"/>
              </a:solid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24" name="TextBox 24"/>
            <p:cNvSpPr txBox="1"/>
            <p:nvPr/>
          </p:nvSpPr>
          <p:spPr>
            <a:xfrm>
              <a:off x="155298" y="149210"/>
              <a:ext cx="1345912" cy="1569381"/>
            </a:xfrm>
            <a:prstGeom prst="rect">
              <a:avLst/>
            </a:prstGeom>
          </p:spPr>
          <p:txBody>
            <a:bodyPr lIns="50800" tIns="50800" rIns="50800" bIns="50800" rtlCol="0" anchor="ctr"/>
            <a:lstStyle/>
            <a:p>
              <a:pPr algn="ctr">
                <a:lnSpc>
                  <a:spcPts val="2399"/>
                </a:lnSpc>
              </a:pPr>
              <a:r>
                <a:rPr lang="en-US" sz="1599">
                  <a:solidFill>
                    <a:srgbClr val="365B6D"/>
                  </a:solidFill>
                  <a:latin typeface="Times New Roman" panose="02020603050405020304" pitchFamily="18" charset="0"/>
                  <a:ea typeface="Garet"/>
                  <a:cs typeface="Times New Roman" panose="02020603050405020304" pitchFamily="18" charset="0"/>
                  <a:sym typeface="Garet"/>
                </a:rPr>
                <a:t>9</a:t>
              </a:r>
            </a:p>
          </p:txBody>
        </p:sp>
      </p:grpSp>
      <p:grpSp>
        <p:nvGrpSpPr>
          <p:cNvPr id="25" name="Group 25"/>
          <p:cNvGrpSpPr/>
          <p:nvPr/>
        </p:nvGrpSpPr>
        <p:grpSpPr>
          <a:xfrm>
            <a:off x="4333983" y="9118272"/>
            <a:ext cx="140028" cy="140028"/>
            <a:chOff x="0" y="0"/>
            <a:chExt cx="6350000" cy="6350000"/>
          </a:xfrm>
        </p:grpSpPr>
        <p:sp>
          <p:nvSpPr>
            <p:cNvPr id="26" name="Freeform 2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7" name="Group 27"/>
          <p:cNvGrpSpPr/>
          <p:nvPr/>
        </p:nvGrpSpPr>
        <p:grpSpPr>
          <a:xfrm>
            <a:off x="3672927" y="9127420"/>
            <a:ext cx="140028" cy="140028"/>
            <a:chOff x="0" y="0"/>
            <a:chExt cx="6350000" cy="6350000"/>
          </a:xfrm>
        </p:grpSpPr>
        <p:sp>
          <p:nvSpPr>
            <p:cNvPr id="28" name="Freeform 2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grpSp>
        <p:nvGrpSpPr>
          <p:cNvPr id="29" name="Group 29"/>
          <p:cNvGrpSpPr/>
          <p:nvPr/>
        </p:nvGrpSpPr>
        <p:grpSpPr>
          <a:xfrm>
            <a:off x="4995040" y="9127420"/>
            <a:ext cx="140028" cy="140028"/>
            <a:chOff x="0" y="0"/>
            <a:chExt cx="6350000" cy="6350000"/>
          </a:xfrm>
        </p:grpSpPr>
        <p:sp>
          <p:nvSpPr>
            <p:cNvPr id="30" name="Freeform 3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31" name="Freeform 31"/>
          <p:cNvSpPr/>
          <p:nvPr/>
        </p:nvSpPr>
        <p:spPr>
          <a:xfrm>
            <a:off x="11074509" y="3052114"/>
            <a:ext cx="7213491" cy="6215334"/>
          </a:xfrm>
          <a:custGeom>
            <a:avLst/>
            <a:gdLst/>
            <a:ahLst/>
            <a:cxnLst/>
            <a:rect l="l" t="t" r="r" b="b"/>
            <a:pathLst>
              <a:path w="7213491" h="6215334">
                <a:moveTo>
                  <a:pt x="0" y="0"/>
                </a:moveTo>
                <a:lnTo>
                  <a:pt x="7213491" y="0"/>
                </a:lnTo>
                <a:lnTo>
                  <a:pt x="7213491" y="6215334"/>
                </a:lnTo>
                <a:lnTo>
                  <a:pt x="0" y="6215334"/>
                </a:lnTo>
                <a:lnTo>
                  <a:pt x="0" y="0"/>
                </a:lnTo>
                <a:close/>
              </a:path>
            </a:pathLst>
          </a:custGeom>
          <a:blipFill>
            <a:blip r:embed="rId3"/>
            <a:stretch>
              <a:fillRect/>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32" name="TextBox 32"/>
          <p:cNvSpPr txBox="1"/>
          <p:nvPr/>
        </p:nvSpPr>
        <p:spPr>
          <a:xfrm>
            <a:off x="1028700" y="1028700"/>
            <a:ext cx="9738025" cy="2190750"/>
          </a:xfrm>
          <a:prstGeom prst="rect">
            <a:avLst/>
          </a:prstGeom>
        </p:spPr>
        <p:txBody>
          <a:bodyPr lIns="0" tIns="0" rIns="0" bIns="0" rtlCol="0" anchor="t">
            <a:spAutoFit/>
          </a:bodyPr>
          <a:lstStyle/>
          <a:p>
            <a:pPr algn="l">
              <a:lnSpc>
                <a:spcPts val="8640"/>
              </a:lnSpc>
              <a:spcBef>
                <a:spcPct val="0"/>
              </a:spcBef>
            </a:pPr>
            <a:r>
              <a:rPr lang="en-US" sz="9000" b="1" spc="-144">
                <a:solidFill>
                  <a:srgbClr val="000000"/>
                </a:solidFill>
                <a:latin typeface="Times New Roman" panose="02020603050405020304" pitchFamily="18" charset="0"/>
                <a:ea typeface="Garet Bold"/>
                <a:cs typeface="Times New Roman" panose="02020603050405020304" pitchFamily="18" charset="0"/>
                <a:sym typeface="Garet Bold"/>
              </a:rPr>
              <a:t>Tổng kết &amp; Định hướng phát triển</a:t>
            </a:r>
          </a:p>
        </p:txBody>
      </p:sp>
      <p:sp>
        <p:nvSpPr>
          <p:cNvPr id="33" name="TextBox 33"/>
          <p:cNvSpPr txBox="1"/>
          <p:nvPr/>
        </p:nvSpPr>
        <p:spPr>
          <a:xfrm>
            <a:off x="1028700" y="3975789"/>
            <a:ext cx="8390827" cy="4869731"/>
          </a:xfrm>
          <a:prstGeom prst="rect">
            <a:avLst/>
          </a:prstGeom>
        </p:spPr>
        <p:txBody>
          <a:bodyPr lIns="0" tIns="0" rIns="0" bIns="0" rtlCol="0" anchor="t">
            <a:spAutoFit/>
          </a:bodyPr>
          <a:lstStyle/>
          <a:p>
            <a:pPr algn="l">
              <a:lnSpc>
                <a:spcPts val="4800"/>
              </a:lnSpc>
            </a:pPr>
            <a:r>
              <a:rPr lang="en-US" sz="3300">
                <a:solidFill>
                  <a:srgbClr val="A6A6A6"/>
                </a:solidFill>
                <a:latin typeface="Times New Roman" panose="02020603050405020304" pitchFamily="18" charset="0"/>
                <a:ea typeface="Garet"/>
                <a:cs typeface="Times New Roman" panose="02020603050405020304" pitchFamily="18" charset="0"/>
                <a:sym typeface="Garet"/>
              </a:rPr>
              <a:t>Tổng kết:</a:t>
            </a:r>
          </a:p>
          <a:p>
            <a:pPr marL="518160" lvl="1" indent="-259080" algn="l">
              <a:lnSpc>
                <a:spcPts val="48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Áp dụng thành công kiến trúc và sử dụng các công nghệ big data</a:t>
            </a:r>
          </a:p>
          <a:p>
            <a:pPr marL="518160" lvl="1" indent="-259080" algn="l">
              <a:lnSpc>
                <a:spcPts val="48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Mô phỏng pipeline thực tế doanh nghiệp</a:t>
            </a:r>
          </a:p>
          <a:p>
            <a:pPr algn="l">
              <a:lnSpc>
                <a:spcPts val="4800"/>
              </a:lnSpc>
            </a:pPr>
            <a:r>
              <a:rPr lang="en-US" sz="3300">
                <a:solidFill>
                  <a:srgbClr val="A6A6A6"/>
                </a:solidFill>
                <a:latin typeface="Times New Roman" panose="02020603050405020304" pitchFamily="18" charset="0"/>
                <a:ea typeface="Garet"/>
                <a:cs typeface="Times New Roman" panose="02020603050405020304" pitchFamily="18" charset="0"/>
                <a:sym typeface="Garet"/>
              </a:rPr>
              <a:t>Định hướng:</a:t>
            </a:r>
          </a:p>
          <a:p>
            <a:pPr marL="518160" lvl="1" indent="-259080" algn="l">
              <a:lnSpc>
                <a:spcPts val="48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Mở rộng khả năng xử lý dữ liệu đa dạng</a:t>
            </a:r>
          </a:p>
          <a:p>
            <a:pPr marL="518160" lvl="1" indent="-259080" algn="l">
              <a:lnSpc>
                <a:spcPts val="48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Xử lý realtime</a:t>
            </a:r>
          </a:p>
          <a:p>
            <a:pPr marL="518160" lvl="1" indent="-259080" algn="l">
              <a:lnSpc>
                <a:spcPts val="4800"/>
              </a:lnSpc>
              <a:buFont typeface="Arial"/>
              <a:buChar char="•"/>
            </a:pPr>
            <a:r>
              <a:rPr lang="en-US" sz="3300">
                <a:solidFill>
                  <a:srgbClr val="A6A6A6"/>
                </a:solidFill>
                <a:latin typeface="Times New Roman" panose="02020603050405020304" pitchFamily="18" charset="0"/>
                <a:ea typeface="Garet"/>
                <a:cs typeface="Times New Roman" panose="02020603050405020304" pitchFamily="18" charset="0"/>
                <a:sym typeface="Garet"/>
              </a:rPr>
              <a:t>Ứng dụng Machine Learning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9113698"/>
            <a:ext cx="140028" cy="140028"/>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4" name="Group 4"/>
          <p:cNvGrpSpPr/>
          <p:nvPr/>
        </p:nvGrpSpPr>
        <p:grpSpPr>
          <a:xfrm>
            <a:off x="1359228" y="9113698"/>
            <a:ext cx="140028" cy="140028"/>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6" name="Group 6"/>
          <p:cNvGrpSpPr/>
          <p:nvPr/>
        </p:nvGrpSpPr>
        <p:grpSpPr>
          <a:xfrm>
            <a:off x="4995040" y="9122846"/>
            <a:ext cx="140028" cy="140028"/>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en-US"/>
            </a:p>
          </p:txBody>
        </p:sp>
      </p:grpSp>
      <p:grpSp>
        <p:nvGrpSpPr>
          <p:cNvPr id="8" name="Group 8"/>
          <p:cNvGrpSpPr/>
          <p:nvPr/>
        </p:nvGrpSpPr>
        <p:grpSpPr>
          <a:xfrm>
            <a:off x="2350813" y="9113698"/>
            <a:ext cx="140028" cy="140028"/>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0" name="Group 10"/>
          <p:cNvGrpSpPr/>
          <p:nvPr/>
        </p:nvGrpSpPr>
        <p:grpSpPr>
          <a:xfrm>
            <a:off x="3342398" y="9113698"/>
            <a:ext cx="140028" cy="140028"/>
            <a:chOff x="0" y="0"/>
            <a:chExt cx="6350000" cy="6350000"/>
          </a:xfrm>
        </p:grpSpPr>
        <p:sp>
          <p:nvSpPr>
            <p:cNvPr id="11" name="Freeform 1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2" name="Group 12"/>
          <p:cNvGrpSpPr/>
          <p:nvPr/>
        </p:nvGrpSpPr>
        <p:grpSpPr>
          <a:xfrm>
            <a:off x="1689757" y="9113698"/>
            <a:ext cx="140028" cy="140028"/>
            <a:chOff x="0" y="0"/>
            <a:chExt cx="6350000" cy="6350000"/>
          </a:xfrm>
        </p:grpSpPr>
        <p:sp>
          <p:nvSpPr>
            <p:cNvPr id="13" name="Freeform 1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4" name="Group 14"/>
          <p:cNvGrpSpPr/>
          <p:nvPr/>
        </p:nvGrpSpPr>
        <p:grpSpPr>
          <a:xfrm>
            <a:off x="2020285" y="9113698"/>
            <a:ext cx="140028" cy="140028"/>
            <a:chOff x="0" y="0"/>
            <a:chExt cx="6350000" cy="6350000"/>
          </a:xfrm>
        </p:grpSpPr>
        <p:sp>
          <p:nvSpPr>
            <p:cNvPr id="15" name="Freeform 1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6" name="Group 16"/>
          <p:cNvGrpSpPr/>
          <p:nvPr/>
        </p:nvGrpSpPr>
        <p:grpSpPr>
          <a:xfrm>
            <a:off x="2681342" y="9113698"/>
            <a:ext cx="140028" cy="140028"/>
            <a:chOff x="0" y="0"/>
            <a:chExt cx="6350000" cy="6350000"/>
          </a:xfrm>
        </p:grpSpPr>
        <p:sp>
          <p:nvSpPr>
            <p:cNvPr id="17" name="Freeform 1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18" name="Group 18"/>
          <p:cNvGrpSpPr/>
          <p:nvPr/>
        </p:nvGrpSpPr>
        <p:grpSpPr>
          <a:xfrm>
            <a:off x="3672927" y="9113698"/>
            <a:ext cx="140028" cy="140028"/>
            <a:chOff x="0" y="0"/>
            <a:chExt cx="6350000" cy="6350000"/>
          </a:xfrm>
        </p:grpSpPr>
        <p:sp>
          <p:nvSpPr>
            <p:cNvPr id="19" name="Freeform 1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0" name="Group 20"/>
          <p:cNvGrpSpPr/>
          <p:nvPr/>
        </p:nvGrpSpPr>
        <p:grpSpPr>
          <a:xfrm>
            <a:off x="3011870" y="9113698"/>
            <a:ext cx="140028" cy="140028"/>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2" name="Group 22"/>
          <p:cNvGrpSpPr/>
          <p:nvPr/>
        </p:nvGrpSpPr>
        <p:grpSpPr>
          <a:xfrm>
            <a:off x="16785803" y="1028700"/>
            <a:ext cx="473497" cy="541606"/>
            <a:chOff x="0" y="0"/>
            <a:chExt cx="1408785" cy="1611429"/>
          </a:xfrm>
        </p:grpSpPr>
        <p:sp>
          <p:nvSpPr>
            <p:cNvPr id="23" name="Freeform 23"/>
            <p:cNvSpPr/>
            <p:nvPr/>
          </p:nvSpPr>
          <p:spPr>
            <a:xfrm>
              <a:off x="0" y="0"/>
              <a:ext cx="1408785" cy="1611429"/>
            </a:xfrm>
            <a:custGeom>
              <a:avLst/>
              <a:gdLst/>
              <a:ahLst/>
              <a:cxnLst/>
              <a:rect l="l" t="t" r="r" b="b"/>
              <a:pathLst>
                <a:path w="1408785" h="1611429">
                  <a:moveTo>
                    <a:pt x="704393" y="0"/>
                  </a:moveTo>
                  <a:cubicBezTo>
                    <a:pt x="315367" y="0"/>
                    <a:pt x="0" y="360731"/>
                    <a:pt x="0" y="805715"/>
                  </a:cubicBezTo>
                  <a:cubicBezTo>
                    <a:pt x="0" y="1250699"/>
                    <a:pt x="315367" y="1611429"/>
                    <a:pt x="704393" y="1611429"/>
                  </a:cubicBezTo>
                  <a:cubicBezTo>
                    <a:pt x="1093418" y="1611429"/>
                    <a:pt x="1408785" y="1250699"/>
                    <a:pt x="1408785" y="805715"/>
                  </a:cubicBezTo>
                  <a:cubicBezTo>
                    <a:pt x="1408785" y="360731"/>
                    <a:pt x="1093418" y="0"/>
                    <a:pt x="704393" y="0"/>
                  </a:cubicBezTo>
                  <a:close/>
                </a:path>
              </a:pathLst>
            </a:custGeom>
            <a:solidFill>
              <a:srgbClr val="000000">
                <a:alpha val="0"/>
              </a:srgbClr>
            </a:solidFill>
            <a:ln w="19050" cap="sq">
              <a:solidFill>
                <a:srgbClr val="000000"/>
              </a:solidFill>
              <a:prstDash val="solid"/>
              <a:miter/>
            </a:ln>
          </p:spPr>
          <p:txBody>
            <a:bodyPr/>
            <a:lstStyle/>
            <a:p>
              <a:endParaRPr lang="en-US"/>
            </a:p>
          </p:txBody>
        </p:sp>
        <p:sp>
          <p:nvSpPr>
            <p:cNvPr id="24" name="TextBox 24"/>
            <p:cNvSpPr txBox="1"/>
            <p:nvPr/>
          </p:nvSpPr>
          <p:spPr>
            <a:xfrm>
              <a:off x="132074" y="122497"/>
              <a:ext cx="1144638" cy="1337861"/>
            </a:xfrm>
            <a:prstGeom prst="rect">
              <a:avLst/>
            </a:prstGeom>
          </p:spPr>
          <p:txBody>
            <a:bodyPr lIns="50800" tIns="50800" rIns="50800" bIns="50800" rtlCol="0" anchor="ctr"/>
            <a:lstStyle/>
            <a:p>
              <a:pPr algn="ctr">
                <a:lnSpc>
                  <a:spcPts val="2399"/>
                </a:lnSpc>
              </a:pPr>
              <a:r>
                <a:rPr lang="en-US" sz="1599">
                  <a:solidFill>
                    <a:srgbClr val="000000"/>
                  </a:solidFill>
                  <a:latin typeface="Garet"/>
                  <a:ea typeface="Garet"/>
                  <a:cs typeface="Garet"/>
                  <a:sym typeface="Garet"/>
                </a:rPr>
                <a:t>10</a:t>
              </a:r>
            </a:p>
          </p:txBody>
        </p:sp>
      </p:grpSp>
      <p:sp>
        <p:nvSpPr>
          <p:cNvPr id="25" name="TextBox 25"/>
          <p:cNvSpPr txBox="1"/>
          <p:nvPr/>
        </p:nvSpPr>
        <p:spPr>
          <a:xfrm>
            <a:off x="4856809" y="3819525"/>
            <a:ext cx="8574383" cy="2725105"/>
          </a:xfrm>
          <a:prstGeom prst="rect">
            <a:avLst/>
          </a:prstGeom>
        </p:spPr>
        <p:txBody>
          <a:bodyPr lIns="0" tIns="0" rIns="0" bIns="0" rtlCol="0" anchor="t">
            <a:spAutoFit/>
          </a:bodyPr>
          <a:lstStyle/>
          <a:p>
            <a:pPr marL="0" lvl="0" indent="0" algn="l">
              <a:lnSpc>
                <a:spcPts val="10559"/>
              </a:lnSpc>
              <a:spcBef>
                <a:spcPct val="0"/>
              </a:spcBef>
            </a:pPr>
            <a:r>
              <a:rPr lang="en-US" sz="9000" b="1" u="none" strike="noStrike" spc="-175">
                <a:solidFill>
                  <a:srgbClr val="000000"/>
                </a:solidFill>
                <a:latin typeface="Garet Bold"/>
                <a:ea typeface="Garet Bold"/>
                <a:cs typeface="Garet Bold"/>
                <a:sym typeface="Garet Bold"/>
              </a:rPr>
              <a:t>Thank you for your attention</a:t>
            </a:r>
          </a:p>
        </p:txBody>
      </p:sp>
      <p:grpSp>
        <p:nvGrpSpPr>
          <p:cNvPr id="26" name="Group 26"/>
          <p:cNvGrpSpPr/>
          <p:nvPr/>
        </p:nvGrpSpPr>
        <p:grpSpPr>
          <a:xfrm>
            <a:off x="4333983" y="9118272"/>
            <a:ext cx="140028" cy="140028"/>
            <a:chOff x="0" y="0"/>
            <a:chExt cx="6350000" cy="6350000"/>
          </a:xfrm>
        </p:grpSpPr>
        <p:sp>
          <p:nvSpPr>
            <p:cNvPr id="27" name="Freeform 2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28" name="Group 28"/>
          <p:cNvGrpSpPr/>
          <p:nvPr/>
        </p:nvGrpSpPr>
        <p:grpSpPr>
          <a:xfrm>
            <a:off x="4664512" y="9122846"/>
            <a:ext cx="140028" cy="140028"/>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grpSp>
        <p:nvGrpSpPr>
          <p:cNvPr id="30" name="Group 30"/>
          <p:cNvGrpSpPr/>
          <p:nvPr/>
        </p:nvGrpSpPr>
        <p:grpSpPr>
          <a:xfrm>
            <a:off x="4003455" y="9122846"/>
            <a:ext cx="140028" cy="140028"/>
            <a:chOff x="0" y="0"/>
            <a:chExt cx="6350000" cy="6350000"/>
          </a:xfrm>
        </p:grpSpPr>
        <p:sp>
          <p:nvSpPr>
            <p:cNvPr id="31" name="Freeform 3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9D9D9">
                <a:alpha val="49804"/>
              </a:srgbClr>
            </a:solid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1624</TotalTime>
  <Words>2433</Words>
  <Application>Microsoft Office PowerPoint</Application>
  <PresentationFormat>Custom</PresentationFormat>
  <Paragraphs>298</Paragraphs>
  <Slides>19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Arial</vt:lpstr>
      <vt:lpstr>Garet Bold</vt:lpstr>
      <vt:lpstr>Garet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hệ thống phân loại cảm xúc</dc:title>
  <dc:creator>vu tinh</dc:creator>
  <cp:lastModifiedBy>VŨ VĂN TỈNH</cp:lastModifiedBy>
  <cp:revision>12</cp:revision>
  <dcterms:created xsi:type="dcterms:W3CDTF">2006-08-16T00:00:00Z</dcterms:created>
  <dcterms:modified xsi:type="dcterms:W3CDTF">2025-12-28T15:10:33Z</dcterms:modified>
  <dc:identifier>DAG7tgLj7Lw</dc:identifier>
</cp:coreProperties>
</file>