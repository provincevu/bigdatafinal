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74" r:id="rId3"/>
    <p:sldId id="257" r:id="rId4"/>
    <p:sldId id="258" r:id="rId5"/>
    <p:sldId id="259" r:id="rId6"/>
    <p:sldId id="260" r:id="rId7"/>
    <p:sldId id="261" r:id="rId8"/>
    <p:sldId id="262" r:id="rId9"/>
    <p:sldId id="269" r:id="rId10"/>
    <p:sldId id="270" r:id="rId11"/>
    <p:sldId id="271" r:id="rId12"/>
    <p:sldId id="272" r:id="rId13"/>
    <p:sldId id="273" r:id="rId14"/>
    <p:sldId id="263" r:id="rId15"/>
    <p:sldId id="264" r:id="rId16"/>
    <p:sldId id="265" r:id="rId17"/>
    <p:sldId id="266" r:id="rId18"/>
    <p:sldId id="267" r:id="rId19"/>
    <p:sldId id="268" r:id="rId20"/>
  </p:sldIdLst>
  <p:sldSz cx="18288000" cy="10287000"/>
  <p:notesSz cx="6858000" cy="9144000"/>
  <p:embeddedFontLst>
    <p:embeddedFont>
      <p:font typeface="Garet" panose="020B0604020202020204" charset="0"/>
      <p:regular r:id="rId22"/>
    </p:embeddedFont>
    <p:embeddedFont>
      <p:font typeface="Garet Bold" panose="020B0604020202020204" charset="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49412" autoAdjust="0"/>
  </p:normalViewPr>
  <p:slideViewPr>
    <p:cSldViewPr>
      <p:cViewPr varScale="1">
        <p:scale>
          <a:sx n="27" d="100"/>
          <a:sy n="27" d="100"/>
        </p:scale>
        <p:origin x="2429"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26.12.2025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227A-0821-DE5B-CEC8-A34D94436F0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0B99161-64A8-1CAC-7DF3-1B16BA8158B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8FD7B2A-A033-7727-4D40-E22B4675080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6BC7460-5A8B-595F-7960-299891D7B26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DDA0764-E16F-E9D8-FC69-140807DF3779}"/>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Phân tích dữ liệu bán lẻ giúp doanh nghiệp hiểu rõ hành vi của khách hàng thông qua việc theo dõi thói quen mua sắm, tần suất giao dịch và mức chi tiêu, </a:t>
            </a:r>
            <a:endParaRPr lang="en-US"/>
          </a:p>
          <a:p>
            <a:endParaRPr lang="en-US"/>
          </a:p>
          <a:p>
            <a:r>
              <a:rPr lang="vi-VN"/>
              <a:t>từ đó nhận diện được nhu cầu và sự thay đổi trong hành vi tiêu dùng. </a:t>
            </a:r>
            <a:endParaRPr lang="en-US"/>
          </a:p>
          <a:p>
            <a:endParaRPr lang="en-US"/>
          </a:p>
          <a:p>
            <a:r>
              <a:rPr lang="vi-VN"/>
              <a:t>Trên cơ sở đó, doanh nghiệp có thể tối ưu hóa doanh thu và lợi nhuận bằng cách tập trung vào các nhóm khách hàng và sản phẩm mang lại giá trị cao. </a:t>
            </a:r>
            <a:endParaRPr lang="en-US"/>
          </a:p>
          <a:p>
            <a:endParaRPr lang="en-US"/>
          </a:p>
          <a:p>
            <a:r>
              <a:rPr lang="vi-VN"/>
              <a:t>Dữ liệu cũng đóng vai trò quan trọng trong việc hỗ trợ đưa ra các quyết định kinh doanh chính xác và có cơ sở, như xây dựng chiến lược giá, khuyến mãi hay phân bổ nguồn lực. </a:t>
            </a:r>
            <a:endParaRPr lang="en-US"/>
          </a:p>
          <a:p>
            <a:endParaRPr lang="en-US"/>
          </a:p>
          <a:p>
            <a:r>
              <a:rPr lang="vi-VN"/>
              <a:t>Bên cạnh đó, việc phân tích dữ liệu theo thời gian cho phép dự đoán xu hướng thị trường và nhu cầu trong tương lai, giúp doanh nghiệp chủ động trong kế hoạch kinh doanh. </a:t>
            </a:r>
            <a:endParaRPr lang="en-US"/>
          </a:p>
          <a:p>
            <a:endParaRPr lang="en-US"/>
          </a:p>
          <a:p>
            <a:r>
              <a:rPr lang="vi-VN"/>
              <a:t>Cuối cùng, những hiểu biết thu được từ dữ liệu góp phần nâng cao trải nghiệm khách hàng thông qua việc cá nhân hóa dịch vụ và cung cấp các sản phẩm phù hợp hơn với từng đối tượng.</a:t>
            </a:r>
          </a:p>
        </p:txBody>
      </p:sp>
      <p:sp>
        <p:nvSpPr>
          <p:cNvPr id="6" name="Footer Placeholder 5">
            <a:extLst>
              <a:ext uri="{FF2B5EF4-FFF2-40B4-BE49-F238E27FC236}">
                <a16:creationId xmlns:a16="http://schemas.microsoft.com/office/drawing/2014/main" id="{E5333EE1-8B35-5E0F-1675-88A13C69080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0DDC650-5ED9-1E57-ADC6-FC0A4164908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0970217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Mục tiêu cốt lõi của pipeline xử lý dữ liệu bán lẻ trong bối cảnh dữ liệu lớn là khả năng xử lý hiệu quả khối lượng dữ liệu rất lớn và phát sinh liên tục theo thời gian.</a:t>
            </a:r>
            <a:endParaRPr lang="en-US"/>
          </a:p>
          <a:p>
            <a:endParaRPr lang="en-US"/>
          </a:p>
          <a:p>
            <a:r>
              <a:rPr lang="vi-VN"/>
              <a:t> Để đạt được điều này, hệ thống cần tận dụng sức mạnh của xử lý song song và phân tán, </a:t>
            </a:r>
            <a:endParaRPr lang="en-US"/>
          </a:p>
          <a:p>
            <a:r>
              <a:rPr lang="vi-VN"/>
              <a:t>cho phép chia nhỏ dữ liệu và thực thi đồng thời trên nhiều node nhằm rút ngắn thời gian xử lý.</a:t>
            </a:r>
            <a:endParaRPr lang="en-US"/>
          </a:p>
          <a:p>
            <a:endParaRPr lang="en-US"/>
          </a:p>
          <a:p>
            <a:r>
              <a:rPr lang="vi-VN"/>
              <a:t> Bên cạnh hiệu năng, pipeline phải có khả năng chịu lỗi để đảm bảo dữ liệu và quá trình xử lý không bị gián đoạn khi một thành phần trong hệ thống gặp sự cố. </a:t>
            </a:r>
            <a:endParaRPr lang="en-US"/>
          </a:p>
          <a:p>
            <a:endParaRPr lang="en-US"/>
          </a:p>
          <a:p>
            <a:r>
              <a:rPr lang="vi-VN"/>
              <a:t>Đồng thời, kiến trúc được thiết kế theo hướng mở rộng linh hoạt, cho phép bổ sung tài nguyên trong tương lai khi quy mô dữ liệu tăng lên mà không cần thay đổi cấu trúc tổng thể. </a:t>
            </a:r>
            <a:endParaRPr lang="en-US"/>
          </a:p>
          <a:p>
            <a:endParaRPr lang="en-US"/>
          </a:p>
          <a:p>
            <a:r>
              <a:rPr lang="vi-VN"/>
              <a:t>Cuối cùng, toàn bộ quy trình cần được tự động hóa nhằm đảm bảo tính ổn định, lặp lại và giảm thiểu sự can thiệp thủ công trong quá trình vận hành.</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vi-VN"/>
              <a:t>Hệ thống được thiết kế theo kiến trúc xử lý dữ liệu lớn phân tán, </a:t>
            </a:r>
            <a:endParaRPr lang="en-US"/>
          </a:p>
          <a:p>
            <a:endParaRPr lang="en-US"/>
          </a:p>
          <a:p>
            <a:r>
              <a:rPr lang="vi-VN"/>
              <a:t>bao gồm các thành phần chính: </a:t>
            </a:r>
            <a:endParaRPr lang="en-US"/>
          </a:p>
          <a:p>
            <a:r>
              <a:rPr lang="vi-VN"/>
              <a:t>HDFS dùng để lưu trữ dữ liệu thô và dữ liệu trung gian, </a:t>
            </a:r>
            <a:endParaRPr lang="en-US"/>
          </a:p>
          <a:p>
            <a:r>
              <a:rPr lang="vi-VN"/>
              <a:t>Apache Spark đảm nhiệm xử lý song song, </a:t>
            </a:r>
            <a:endParaRPr lang="en-US"/>
          </a:p>
          <a:p>
            <a:r>
              <a:rPr lang="vi-VN"/>
              <a:t>và MongoDB dùng để lưu trữ dữ liệu đã xử lý phục vụ phân tích và trực quan hóa.</a:t>
            </a:r>
            <a:endParaRPr lang="en-US"/>
          </a:p>
          <a:p>
            <a:endParaRPr lang="en-US"/>
          </a:p>
          <a:p>
            <a:r>
              <a:rPr lang="en-US"/>
              <a:t>-------------</a:t>
            </a:r>
          </a:p>
          <a:p>
            <a:r>
              <a:rPr lang="vi-VN"/>
              <a:t>Cụm HDFS gồm một NameNode quản lý metadata và hai DataNode lưu trữ các block dữ liệu. </a:t>
            </a:r>
            <a:endParaRPr lang="en-US"/>
          </a:p>
          <a:p>
            <a:r>
              <a:rPr lang="vi-VN"/>
              <a:t>Cơ chế phân tán của HDFS cho phép dữ liệu được chia nhỏ và lưu trữ trên nhiều DataNode</a:t>
            </a:r>
            <a:endParaRPr lang="en-US"/>
          </a:p>
          <a:p>
            <a:endParaRPr lang="en-US"/>
          </a:p>
          <a:p>
            <a:endParaRPr lang="en-US"/>
          </a:p>
          <a:p>
            <a:r>
              <a:rPr lang="en-US"/>
              <a:t>Cụm Spark gồm </a:t>
            </a:r>
            <a:r>
              <a:rPr lang="vi-VN"/>
              <a:t>một Spark Master và hai Spark Worker. Spark Master chịu trách nhiệm điều phối tài nguyên và phân phối công việc, </a:t>
            </a:r>
            <a:endParaRPr lang="en-US"/>
          </a:p>
          <a:p>
            <a:r>
              <a:rPr lang="vi-VN"/>
              <a:t>trong khi các Worker thực thi các task xử lý dữ liệu song song trên các </a:t>
            </a:r>
            <a:r>
              <a:rPr lang="en-US"/>
              <a:t>phân vùng</a:t>
            </a:r>
            <a:r>
              <a:rPr lang="vi-VN"/>
              <a:t> được đọc từ HDFS.</a:t>
            </a:r>
            <a:endParaRPr lang="en-US"/>
          </a:p>
          <a:p>
            <a:endParaRPr lang="en-US"/>
          </a:p>
          <a:p>
            <a:r>
              <a:rPr lang="vi-VN"/>
              <a:t>Spark tận dụng nguyên lý </a:t>
            </a:r>
            <a:r>
              <a:rPr lang="vi-VN" i="1"/>
              <a:t>bring computation to data</a:t>
            </a:r>
            <a:r>
              <a:rPr lang="vi-VN"/>
              <a:t>, tức là ưu tiên đưa tác vụ xử lý đến nơi dữ liệu đang được lưu trữ trên các DataNode, </a:t>
            </a:r>
            <a:endParaRPr lang="en-US"/>
          </a:p>
          <a:p>
            <a:r>
              <a:rPr lang="vi-VN"/>
              <a:t>thay vì di chuyển toàn bộ dữ liệu qua mạng. Cơ chế này giúp giảm chi phí truyền dữ liệu và tăng hiệu năng xử lý.</a:t>
            </a:r>
            <a:endParaRPr lang="en-US"/>
          </a:p>
          <a:p>
            <a:endParaRPr lang="en-US"/>
          </a:p>
          <a:p>
            <a:endParaRPr lang="en-US"/>
          </a:p>
          <a:p>
            <a:endParaRPr lang="en-US"/>
          </a:p>
          <a:p>
            <a:r>
              <a:rPr lang="vi-VN"/>
              <a:t>Sau khi xử lý và tổng hợp, dữ liệu kết quả được các Spark executor ghi trực tiếp vào MongoDB theo cách phân tán. </a:t>
            </a:r>
            <a:endParaRPr lang="en-US"/>
          </a:p>
          <a:p>
            <a:r>
              <a:rPr lang="vi-VN"/>
              <a:t>MongoDB đóng vai trò là hệ cơ sở dữ liệu NoSQL, phù hợp cho việc lưu trữ dữ liệu phân tích và phục vụ truy vấn nhanh cho tầng ứng dụng</a:t>
            </a:r>
            <a:endParaRPr lang="en-US"/>
          </a:p>
          <a:p>
            <a:endParaRPr lang="en-US"/>
          </a:p>
          <a:p>
            <a:endParaRPr lang="en-US"/>
          </a:p>
        </p:txBody>
      </p:sp>
      <p:sp>
        <p:nvSpPr>
          <p:cNvPr id="4" name="Slide Number Placeholder 3"/>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1454437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Dữ liệu được thu thập từ các bình luận trên Youtube thông qua Youtube Data API v3 mà Google cung cấp. </a:t>
            </a:r>
          </a:p>
          <a:p>
            <a:endParaRPr lang="en-US"/>
          </a:p>
          <a:p>
            <a:endParaRPr lang="en-US"/>
          </a:p>
          <a:p>
            <a:r>
              <a:rPr lang="en-US"/>
              <a:t>Vì chủ đề trên Youtube rất đa dạng, không phải lúc nào các video cũng có các ý kiến đa chiều về cảm xúc, ví dụ như các video mang tính giải trí thì các ý kiến chủ yếu là tích cực, các video về chủ đề gây tranh cãi thì lại nặng tính trung lập và tiêu cực. </a:t>
            </a:r>
          </a:p>
          <a:p>
            <a:endParaRPr lang="en-US"/>
          </a:p>
          <a:p>
            <a:r>
              <a:rPr lang="en-US"/>
              <a:t>Chính vì vậy, nhóm đã quyết định lựa chọn video về chủ đề review công nghệ bởi đây là thể loại nội dung thường thu hút đa dạng ý kiến đánh giá từ người xem. các video này thì sẽ có đa dạng cảm xúc vì lúc này mọi người sẽ bày tỏ cảm xúc của mình qua các trải nghiệm khác nhau</a:t>
            </a:r>
          </a:p>
          <a:p>
            <a:endParaRPr lang="en-US"/>
          </a:p>
          <a:p>
            <a:endParaRPr lang="en-US"/>
          </a:p>
          <a:p>
            <a:r>
              <a:rPr lang="en-US"/>
              <a:t>Vì số lượng dữ liệu thu thập quá lớn, nhóm đã quyết định gán nhãn tự động cho dữ liệu, sử dụng mô hình phân loại cảm xúc Tiếng Việt visobert - đây là mô hình dựa trên kiến trúc transformer, cho phép phân loại cảm xúc của văn bản với độ chính xác cao</a:t>
            </a:r>
          </a:p>
          <a:p>
            <a:endParaRPr lang="en-US"/>
          </a:p>
          <a:p>
            <a:endParaRPr lang="en-US"/>
          </a:p>
          <a:p>
            <a:r>
              <a:rPr lang="en-US"/>
              <a:t>để đảm bảo tính tin cậy, nhóm đã lấy ngẫu nhiên 10% dữ liệu đã gán nhãn và kiểm tra lại thủ công, kết quả cho thấy:</a:t>
            </a:r>
          </a:p>
          <a:p>
            <a:r>
              <a:rPr lang="en-US"/>
              <a:t>- độ chính xác đạt trên 91%, đây là độ chính xác cao vì:</a:t>
            </a:r>
          </a:p>
          <a:p>
            <a:r>
              <a:rPr lang="en-US"/>
              <a:t>- các nhãn sai chủ yếu đến từ comment đề cập tới các nội dung trong video, nên mô hình không có đầy đủ ngữ cảnh để phân loại chính xác.</a:t>
            </a:r>
          </a:p>
          <a:p>
            <a:endParaRPr lang="en-US"/>
          </a:p>
          <a:p>
            <a:endParaRPr lang="en-US"/>
          </a:p>
          <a:p>
            <a:r>
              <a:rPr lang="en-US"/>
              <a:t>chính vì thế nhóm đã đưa ra kết luận là dữ liệu này đủ tin cậy để tiếp tục sử dụng trong việc xây dựng mô hình phân loại cảm xúc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Các vấn đề: ngôn ngữ tự nhiên, từ lóng, emoji,…</a:t>
            </a:r>
          </a:p>
          <a:p>
            <a:r>
              <a:rPr lang="en-US"/>
              <a:t>Các lớp cảm xúc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Chuẩn hóa ký tự, unicode, bỏ ký tự thừa</a:t>
            </a:r>
          </a:p>
          <a:p>
            <a:r>
              <a:rPr lang="en-US"/>
              <a:t>Loại bỏ stopword, xử lý emoji/url...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657F2-643E-5E1B-E636-80603F04218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B1608C-516F-43AC-6708-1280EE0B829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F49D8AD-1F96-3335-F18B-1DAA266B1D6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436CC52B-BD19-41AE-C851-D1E2B5624F7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A83AAB8-7B0A-9951-F99F-1B3095BC237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Kéo dài ký thể thể hiện rằng cảm xúc của câu đó mạnh hơn so với bình thường</a:t>
            </a:r>
          </a:p>
        </p:txBody>
      </p:sp>
      <p:sp>
        <p:nvSpPr>
          <p:cNvPr id="6" name="Footer Placeholder 5">
            <a:extLst>
              <a:ext uri="{FF2B5EF4-FFF2-40B4-BE49-F238E27FC236}">
                <a16:creationId xmlns:a16="http://schemas.microsoft.com/office/drawing/2014/main" id="{A4466ABC-BBC0-EE1F-01D1-45DFD82699A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7FFE6B4-9A52-D15D-77EA-920A8EDBC55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70785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E8D80-050F-5234-C361-F408D641069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2D38027-32C0-A0FA-2C37-85BB57303E6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344DA4F-6D13-46E0-3041-EAB057C53FF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0F2C29B-081B-C698-C431-D17D611E149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D44E441-30D3-DD38-6B85-5B136EF6998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99F7B947-0A4A-4A6B-8084-3A5ED778C70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0012E45-BC68-3072-9662-6FE5FA24448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0420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D97E6-5499-1EA5-2D15-CADCF8BF322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DE8E8BD-F86C-3FE7-F0ED-574C8019810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E35066A-4133-5CF0-AF48-B5BBF348A6E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F0E2A12-CC9D-438D-BC39-CBFC2C90102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185BEBB-4D8B-0D6E-45B4-B4A2DC713E0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Chuẩn hóa ký tự, unicode, bỏ ký tự thừa</a:t>
            </a:r>
          </a:p>
          <a:p>
            <a:r>
              <a:rPr lang="en-US"/>
              <a:t>Loại bỏ stopword, xử lý emoji/url...</a:t>
            </a:r>
          </a:p>
        </p:txBody>
      </p:sp>
      <p:sp>
        <p:nvSpPr>
          <p:cNvPr id="6" name="Footer Placeholder 5">
            <a:extLst>
              <a:ext uri="{FF2B5EF4-FFF2-40B4-BE49-F238E27FC236}">
                <a16:creationId xmlns:a16="http://schemas.microsoft.com/office/drawing/2014/main" id="{F29DB9CA-FD39-C773-5F28-B3F24AC247E1}"/>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6DE5FF0-AC48-1F04-7F80-3740EFFAE7A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501983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BE774-7684-77FD-60F1-ACFFCC2AF2B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A3FFD75-7005-E0D7-82BF-10AB043BCE4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0A1880A-B6BE-935A-A5B5-88B6739487D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8155C3F-E8F6-CB08-50A5-7EC0D382618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FF62EE9-D1FF-9D8E-1F8A-1B350E1252C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Chuẩn hóa ký tự, unicode, bỏ ký tự thừa</a:t>
            </a:r>
          </a:p>
          <a:p>
            <a:r>
              <a:rPr lang="en-US"/>
              <a:t>Loại bỏ stopword, xử lý emoji/url...</a:t>
            </a:r>
          </a:p>
        </p:txBody>
      </p:sp>
      <p:sp>
        <p:nvSpPr>
          <p:cNvPr id="6" name="Footer Placeholder 5">
            <a:extLst>
              <a:ext uri="{FF2B5EF4-FFF2-40B4-BE49-F238E27FC236}">
                <a16:creationId xmlns:a16="http://schemas.microsoft.com/office/drawing/2014/main" id="{62DB1B07-DBC7-47E6-E787-D96FB33D2A8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6715171-99A8-AB68-A820-13C950F176A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4505884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3B941-7693-1DC8-5CF0-1A22BC959E5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8028019-BB29-F725-ED39-84F441A715E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E706FF8-84C0-4167-C455-7CF99A0EFC6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16258CD-7E0B-E0F9-8FC4-3A1D80BBAA5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4A4B85A-BAE1-13F6-2D22-4BE2AD84B869}"/>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Chuẩn hóa ký tự, unicode, bỏ ký tự thừa</a:t>
            </a:r>
          </a:p>
          <a:p>
            <a:r>
              <a:rPr lang="en-US"/>
              <a:t>Loại bỏ stopword, xử lý emoji/url...</a:t>
            </a:r>
          </a:p>
        </p:txBody>
      </p:sp>
      <p:sp>
        <p:nvSpPr>
          <p:cNvPr id="6" name="Footer Placeholder 5">
            <a:extLst>
              <a:ext uri="{FF2B5EF4-FFF2-40B4-BE49-F238E27FC236}">
                <a16:creationId xmlns:a16="http://schemas.microsoft.com/office/drawing/2014/main" id="{DF62B954-2B24-4542-6CB2-8E9301FC690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90926CB-B8A4-1D9F-382F-09D6F3D8E96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438952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Vì sao chọn TF-IDF kết hợp N-gram?</a:t>
            </a:r>
          </a:p>
          <a:p>
            <a:endParaRPr lang="en-US"/>
          </a:p>
          <a:p>
            <a:r>
              <a:rPr lang="en-US"/>
              <a:t>Hiệu quả với câu ngắn, văn bản ngắn trên mạng xã hội.</a:t>
            </a:r>
          </a:p>
          <a:p>
            <a:endParaRPr lang="en-US"/>
          </a:p>
          <a:p>
            <a:r>
              <a:rPr lang="en-US"/>
              <a:t>Tốc độ tính toán nhanh, dễ triển khai.</a:t>
            </a:r>
          </a:p>
          <a:p>
            <a:endParaRPr lang="en-US"/>
          </a:p>
          <a:p>
            <a:r>
              <a:rPr lang="en-US"/>
              <a:t>Giảm nhiễu từ các từ phổ biến nhờ IDF.</a:t>
            </a:r>
          </a:p>
          <a:p>
            <a:endParaRPr lang="en-US"/>
          </a:p>
          <a:p>
            <a:r>
              <a:rPr lang="en-US"/>
              <a:t>N-gram giúp mô hình nhận diện các cụm từ đặc trưng cho cảm xúc (ví dụ: "không hài lòng", "tuyệt vời", "đáng thất vọng"), không bỏ sót ý nghĩa khi các cảm xúc được biểu đạt bằng nhiều từ đi liền nhau.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Sử dụng logistic regression vì đáp ứng được mục tiêu của nhóm đã đề ra là đơn giản nhưng phải hiệu quả. Logistic regression xử lý tốt với các dữ liệu mà có các đặc trưng rất thưa và nó tốn rất ít tài nguyên phần cứng</a:t>
            </a:r>
          </a:p>
          <a:p>
            <a:endParaRPr lang="en-US"/>
          </a:p>
          <a:p>
            <a:r>
              <a:rPr lang="en-US"/>
              <a:t>hơn nữa là nó giúp dễ dàng hiểu được trọng số của từng đặc trưng để có thể chỉnh sửa lại cách tiền xử lý hoặc là tinh chỉnh mô hình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Bảng/chụp màn hình classification report</a:t>
            </a:r>
          </a:p>
          <a:p>
            <a:r>
              <a:rPr lang="en-US"/>
              <a:t>Các chỉ số: Accuracy, Precision, Recall, F1</a:t>
            </a:r>
          </a:p>
          <a:p>
            <a:r>
              <a:rPr lang="en-US"/>
              <a:t>Slide 13: Phân tích kết quả</a:t>
            </a:r>
          </a:p>
          <a:p>
            <a:endParaRPr lang="en-US"/>
          </a:p>
          <a:p>
            <a:r>
              <a:rPr lang="en-US"/>
              <a:t>Nhận xét mạnh/yếu từng lớp</a:t>
            </a:r>
          </a:p>
          <a:p>
            <a:r>
              <a:rPr lang="en-US"/>
              <a:t>Nêu cụ thể lớp phân loại tốt/khó</a:t>
            </a:r>
          </a:p>
          <a:p>
            <a:r>
              <a:rPr lang="en-US"/>
              <a:t>Có thể minh họa 1-2 câu nhầm lẫn tiêu biểu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Demo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nhóm đã Xây dựng thành công hệ thống phân loại cảm xúc bình luận tiếng Việt trên mạng xã hội</a:t>
            </a:r>
          </a:p>
          <a:p>
            <a:endParaRPr lang="en-US"/>
          </a:p>
          <a:p>
            <a:r>
              <a:rPr lang="en-US"/>
              <a:t>đã áp dụng các bước tiền xử lý kỹ lưỡng, giúp giảm kích thước của từ điển xuống rõ rệt, đồng thời nâng cao độ chính xác</a:t>
            </a:r>
          </a:p>
          <a:p>
            <a:endParaRPr lang="en-US"/>
          </a:p>
          <a:p>
            <a:endParaRPr lang="en-US"/>
          </a:p>
          <a:p>
            <a:r>
              <a:rPr lang="en-US"/>
              <a:t>----------------------------------------</a:t>
            </a:r>
          </a:p>
          <a:p>
            <a:endParaRPr lang="en-US"/>
          </a:p>
          <a:p>
            <a:r>
              <a:rPr lang="en-US"/>
              <a:t>hướng phát triển:</a:t>
            </a:r>
          </a:p>
          <a:p>
            <a:endParaRPr lang="en-US"/>
          </a:p>
          <a:p>
            <a:r>
              <a:rPr lang="en-US"/>
              <a:t>- mở rộng dữ liệu hơn, sử dụng từ nhiều nguồn như facebook, tiktok, các diễn đàn</a:t>
            </a:r>
          </a:p>
          <a:p>
            <a:endParaRPr lang="en-US"/>
          </a:p>
          <a:p>
            <a:r>
              <a:rPr lang="en-US"/>
              <a:t>- sử dụng các mô hình hiện đại hơn như transformers, giúp tăng độ chính xác trong các trường hợp cấu trúc câu phức tạp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2681342"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020285"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3011870"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350813"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3752" y="1028700"/>
            <a:ext cx="475548" cy="545104"/>
            <a:chOff x="0" y="0"/>
            <a:chExt cx="1236250" cy="1417069"/>
          </a:xfrm>
        </p:grpSpPr>
        <p:sp>
          <p:nvSpPr>
            <p:cNvPr id="23" name="Freeform 23"/>
            <p:cNvSpPr/>
            <p:nvPr/>
          </p:nvSpPr>
          <p:spPr>
            <a:xfrm>
              <a:off x="0" y="0"/>
              <a:ext cx="1236250" cy="1417069"/>
            </a:xfrm>
            <a:custGeom>
              <a:avLst/>
              <a:gdLst/>
              <a:ahLst/>
              <a:cxnLst/>
              <a:rect l="l" t="t" r="r" b="b"/>
              <a:pathLst>
                <a:path w="1236250" h="1417069">
                  <a:moveTo>
                    <a:pt x="618125" y="0"/>
                  </a:moveTo>
                  <a:cubicBezTo>
                    <a:pt x="276744" y="0"/>
                    <a:pt x="0" y="317222"/>
                    <a:pt x="0" y="708535"/>
                  </a:cubicBezTo>
                  <a:cubicBezTo>
                    <a:pt x="0" y="1099848"/>
                    <a:pt x="276744" y="1417069"/>
                    <a:pt x="618125" y="1417069"/>
                  </a:cubicBezTo>
                  <a:cubicBezTo>
                    <a:pt x="959506" y="1417069"/>
                    <a:pt x="1236250" y="1099848"/>
                    <a:pt x="1236250" y="708535"/>
                  </a:cubicBezTo>
                  <a:cubicBezTo>
                    <a:pt x="1236250" y="317222"/>
                    <a:pt x="959506" y="0"/>
                    <a:pt x="618125"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15898" y="104275"/>
              <a:ext cx="1004453" cy="11799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1</a:t>
              </a:r>
            </a:p>
          </p:txBody>
        </p:sp>
      </p:grpSp>
      <p:sp>
        <p:nvSpPr>
          <p:cNvPr id="25" name="TextBox 25"/>
          <p:cNvSpPr txBox="1"/>
          <p:nvPr/>
        </p:nvSpPr>
        <p:spPr>
          <a:xfrm>
            <a:off x="1028700" y="1219200"/>
            <a:ext cx="9816444" cy="3847207"/>
          </a:xfrm>
          <a:prstGeom prst="rect">
            <a:avLst/>
          </a:prstGeom>
        </p:spPr>
        <p:txBody>
          <a:bodyPr wrap="square" lIns="0" tIns="0" rIns="0" bIns="0" rtlCol="0" anchor="t">
            <a:spAutoFit/>
          </a:bodyPr>
          <a:lstStyle/>
          <a:p>
            <a:pPr algn="l">
              <a:lnSpc>
                <a:spcPts val="9999"/>
              </a:lnSpc>
            </a:pPr>
            <a:r>
              <a:rPr lang="en-US" sz="9000" b="1" spc="-199">
                <a:solidFill>
                  <a:srgbClr val="000000"/>
                </a:solidFill>
                <a:latin typeface="Times New Roman" panose="02020603050405020304" pitchFamily="18" charset="0"/>
                <a:ea typeface="Garet Bold"/>
                <a:cs typeface="Times New Roman" panose="02020603050405020304" pitchFamily="18" charset="0"/>
                <a:sym typeface="Garet Bold"/>
              </a:rPr>
              <a:t>Xây dựng pipepline xử lý dữ liệu của doanh nghiệp bán lẻ</a:t>
            </a:r>
          </a:p>
        </p:txBody>
      </p:sp>
      <p:sp>
        <p:nvSpPr>
          <p:cNvPr id="26" name="TextBox 26"/>
          <p:cNvSpPr txBox="1"/>
          <p:nvPr/>
        </p:nvSpPr>
        <p:spPr>
          <a:xfrm>
            <a:off x="1098714" y="5746869"/>
            <a:ext cx="7304301" cy="2644955"/>
          </a:xfrm>
          <a:prstGeom prst="rect">
            <a:avLst/>
          </a:prstGeom>
        </p:spPr>
        <p:txBody>
          <a:bodyPr lIns="0" tIns="0" rIns="0" bIns="0" rtlCol="0" anchor="t">
            <a:spAutoFit/>
          </a:bodyPr>
          <a:lstStyle/>
          <a:p>
            <a:pPr algn="l">
              <a:lnSpc>
                <a:spcPts val="5279"/>
              </a:lnSpc>
            </a:pPr>
            <a:r>
              <a:rPr lang="en-US" sz="3800" b="1" spc="-31">
                <a:solidFill>
                  <a:srgbClr val="A6A6A6"/>
                </a:solidFill>
                <a:latin typeface="Times New Roman" panose="02020603050405020304" pitchFamily="18" charset="0"/>
                <a:ea typeface="Garet Bold"/>
                <a:cs typeface="Times New Roman" panose="02020603050405020304" pitchFamily="18" charset="0"/>
                <a:sym typeface="Garet Bold"/>
              </a:rPr>
              <a:t>Thành viên nhóm</a:t>
            </a:r>
          </a:p>
          <a:p>
            <a:pPr algn="l">
              <a:lnSpc>
                <a:spcPts val="5279"/>
              </a:lnSpc>
            </a:pPr>
            <a:r>
              <a:rPr lang="en-US" sz="3800" spc="-31">
                <a:solidFill>
                  <a:srgbClr val="A6A6A6"/>
                </a:solidFill>
                <a:latin typeface="Times New Roman" panose="02020603050405020304" pitchFamily="18" charset="0"/>
                <a:ea typeface="Garet"/>
                <a:cs typeface="Times New Roman" panose="02020603050405020304" pitchFamily="18" charset="0"/>
                <a:sym typeface="Garet"/>
              </a:rPr>
              <a:t>Chương Công Trương - 2221050390</a:t>
            </a:r>
          </a:p>
          <a:p>
            <a:pPr algn="l">
              <a:lnSpc>
                <a:spcPts val="5279"/>
              </a:lnSpc>
            </a:pPr>
            <a:r>
              <a:rPr lang="en-US" sz="3800" spc="-31">
                <a:solidFill>
                  <a:srgbClr val="A6A6A6"/>
                </a:solidFill>
                <a:latin typeface="Times New Roman" panose="02020603050405020304" pitchFamily="18" charset="0"/>
                <a:ea typeface="Garet"/>
                <a:cs typeface="Times New Roman" panose="02020603050405020304" pitchFamily="18" charset="0"/>
                <a:sym typeface="Garet"/>
              </a:rPr>
              <a:t>Nguyễn Tùng Khánh - 2221050723</a:t>
            </a:r>
          </a:p>
          <a:p>
            <a:pPr marL="0" lvl="0" indent="0" algn="l">
              <a:lnSpc>
                <a:spcPts val="5279"/>
              </a:lnSpc>
            </a:pPr>
            <a:r>
              <a:rPr lang="en-US" sz="3800" spc="-31">
                <a:solidFill>
                  <a:srgbClr val="A6A6A6"/>
                </a:solidFill>
                <a:latin typeface="Times New Roman" panose="02020603050405020304" pitchFamily="18" charset="0"/>
                <a:ea typeface="Garet"/>
                <a:cs typeface="Times New Roman" panose="02020603050405020304" pitchFamily="18" charset="0"/>
                <a:sym typeface="Garet"/>
              </a:rPr>
              <a:t>Vũ Văn Tỉnh - 2221050517</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78DEC-8B78-87EE-90CE-9B62B3AE576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F5508C9-8908-8FE0-D7F8-6092B72A9DD1}"/>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8A6522A2-9B74-6DD4-D9A3-A504CF4754B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F4A462B9-799E-CEC3-229B-8DC57B1C466B}"/>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3DE142B1-AF31-8306-56D9-8C2B806C75F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08673A69-A057-6BEC-5167-FBF9776EFD77}"/>
              </a:ext>
            </a:extLst>
          </p:cNvPr>
          <p:cNvGrpSpPr/>
          <p:nvPr/>
        </p:nvGrpSpPr>
        <p:grpSpPr>
          <a:xfrm>
            <a:off x="2681342" y="9113698"/>
            <a:ext cx="140028" cy="140028"/>
            <a:chOff x="0" y="0"/>
            <a:chExt cx="6350000" cy="6350000"/>
          </a:xfrm>
        </p:grpSpPr>
        <p:sp>
          <p:nvSpPr>
            <p:cNvPr id="7" name="Freeform 7">
              <a:extLst>
                <a:ext uri="{FF2B5EF4-FFF2-40B4-BE49-F238E27FC236}">
                  <a16:creationId xmlns:a16="http://schemas.microsoft.com/office/drawing/2014/main" id="{6FA514F7-DD43-137E-8F1D-AEB07E7175B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9D6483CA-C59B-81C6-3EEE-75D29F12E7C7}"/>
              </a:ext>
            </a:extLst>
          </p:cNvPr>
          <p:cNvGrpSpPr/>
          <p:nvPr/>
        </p:nvGrpSpPr>
        <p:grpSpPr>
          <a:xfrm>
            <a:off x="2020285" y="9113698"/>
            <a:ext cx="140028" cy="140028"/>
            <a:chOff x="0" y="0"/>
            <a:chExt cx="6350000" cy="6350000"/>
          </a:xfrm>
        </p:grpSpPr>
        <p:sp>
          <p:nvSpPr>
            <p:cNvPr id="9" name="Freeform 9">
              <a:extLst>
                <a:ext uri="{FF2B5EF4-FFF2-40B4-BE49-F238E27FC236}">
                  <a16:creationId xmlns:a16="http://schemas.microsoft.com/office/drawing/2014/main" id="{6B3E7249-3D2C-AF2D-DE06-3DB0CE12EAB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FAE93CAE-21BE-8D9B-26A8-4333E1B8A590}"/>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653FA58A-E835-5FF6-ACA9-808C132D6EA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C992E915-04CE-F82F-64BD-C4E1B5D6DF31}"/>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6C501C07-9D37-20C3-A056-67C43ADBE13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12CC345D-3BAF-CAEA-ADEA-F2FDA33E999B}"/>
              </a:ext>
            </a:extLst>
          </p:cNvPr>
          <p:cNvGrpSpPr/>
          <p:nvPr/>
        </p:nvGrpSpPr>
        <p:grpSpPr>
          <a:xfrm>
            <a:off x="3011870" y="9113698"/>
            <a:ext cx="140028" cy="140028"/>
            <a:chOff x="0" y="0"/>
            <a:chExt cx="6350000" cy="6350000"/>
          </a:xfrm>
        </p:grpSpPr>
        <p:sp>
          <p:nvSpPr>
            <p:cNvPr id="15" name="Freeform 15">
              <a:extLst>
                <a:ext uri="{FF2B5EF4-FFF2-40B4-BE49-F238E27FC236}">
                  <a16:creationId xmlns:a16="http://schemas.microsoft.com/office/drawing/2014/main" id="{2B69A33A-B3D5-7AB6-83C6-A3C5E08DBA6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5A3048A2-7773-FECD-A6E3-E312665B3FA7}"/>
              </a:ext>
            </a:extLst>
          </p:cNvPr>
          <p:cNvGrpSpPr/>
          <p:nvPr/>
        </p:nvGrpSpPr>
        <p:grpSpPr>
          <a:xfrm>
            <a:off x="2350813" y="9113698"/>
            <a:ext cx="140028" cy="140028"/>
            <a:chOff x="0" y="0"/>
            <a:chExt cx="6350000" cy="6350000"/>
          </a:xfrm>
        </p:grpSpPr>
        <p:sp>
          <p:nvSpPr>
            <p:cNvPr id="17" name="Freeform 17">
              <a:extLst>
                <a:ext uri="{FF2B5EF4-FFF2-40B4-BE49-F238E27FC236}">
                  <a16:creationId xmlns:a16="http://schemas.microsoft.com/office/drawing/2014/main" id="{A5A6EC95-4443-D6BC-35CB-269B1061252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36F8DF4D-02C7-032E-0BE7-240813B2A7FE}"/>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653A5D28-620D-C428-05DC-169349C9E15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F6DF883A-C001-89DD-C583-C73E6C227699}"/>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83752E45-554A-3653-3B83-F255B89BA30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28C02413-B97F-7989-BA8D-83C87A74A27B}"/>
              </a:ext>
            </a:extLst>
          </p:cNvPr>
          <p:cNvGrpSpPr/>
          <p:nvPr/>
        </p:nvGrpSpPr>
        <p:grpSpPr>
          <a:xfrm>
            <a:off x="17435536" y="250632"/>
            <a:ext cx="472496" cy="541606"/>
            <a:chOff x="0" y="0"/>
            <a:chExt cx="1078838" cy="1236634"/>
          </a:xfrm>
        </p:grpSpPr>
        <p:sp>
          <p:nvSpPr>
            <p:cNvPr id="23" name="Freeform 23">
              <a:extLst>
                <a:ext uri="{FF2B5EF4-FFF2-40B4-BE49-F238E27FC236}">
                  <a16:creationId xmlns:a16="http://schemas.microsoft.com/office/drawing/2014/main" id="{20AE7B58-E10A-BA8D-08B4-6196B8F30EE9}"/>
                </a:ext>
              </a:extLst>
            </p:cNvPr>
            <p:cNvSpPr/>
            <p:nvPr/>
          </p:nvSpPr>
          <p:spPr>
            <a:xfrm>
              <a:off x="0" y="0"/>
              <a:ext cx="1078838" cy="1236634"/>
            </a:xfrm>
            <a:custGeom>
              <a:avLst/>
              <a:gdLst/>
              <a:ahLst/>
              <a:cxnLst/>
              <a:rect l="l" t="t" r="r" b="b"/>
              <a:pathLst>
                <a:path w="1078838" h="1236634">
                  <a:moveTo>
                    <a:pt x="539419" y="0"/>
                  </a:moveTo>
                  <a:cubicBezTo>
                    <a:pt x="241506" y="0"/>
                    <a:pt x="0" y="276830"/>
                    <a:pt x="0" y="618317"/>
                  </a:cubicBezTo>
                  <a:cubicBezTo>
                    <a:pt x="0" y="959804"/>
                    <a:pt x="241506" y="1236634"/>
                    <a:pt x="539419" y="1236634"/>
                  </a:cubicBezTo>
                  <a:cubicBezTo>
                    <a:pt x="837332" y="1236634"/>
                    <a:pt x="1078838" y="959804"/>
                    <a:pt x="1078838" y="618317"/>
                  </a:cubicBezTo>
                  <a:cubicBezTo>
                    <a:pt x="1078838" y="276830"/>
                    <a:pt x="837332" y="0"/>
                    <a:pt x="539419"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311B17FB-E32B-F0C2-16E3-C1FD62E6A153}"/>
                </a:ext>
              </a:extLst>
            </p:cNvPr>
            <p:cNvSpPr txBox="1"/>
            <p:nvPr/>
          </p:nvSpPr>
          <p:spPr>
            <a:xfrm>
              <a:off x="101141" y="87359"/>
              <a:ext cx="876556" cy="1033340"/>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2</a:t>
              </a:r>
            </a:p>
          </p:txBody>
        </p:sp>
      </p:grpSp>
      <p:sp>
        <p:nvSpPr>
          <p:cNvPr id="25" name="TextBox 25">
            <a:extLst>
              <a:ext uri="{FF2B5EF4-FFF2-40B4-BE49-F238E27FC236}">
                <a16:creationId xmlns:a16="http://schemas.microsoft.com/office/drawing/2014/main" id="{2BEE719D-D04E-F188-6721-41F2CFF23569}"/>
              </a:ext>
            </a:extLst>
          </p:cNvPr>
          <p:cNvSpPr txBox="1"/>
          <p:nvPr/>
        </p:nvSpPr>
        <p:spPr>
          <a:xfrm>
            <a:off x="1028700" y="1028700"/>
            <a:ext cx="10172700" cy="2205732"/>
          </a:xfrm>
          <a:prstGeom prst="rect">
            <a:avLst/>
          </a:prstGeom>
        </p:spPr>
        <p:txBody>
          <a:bodyPr wrap="square"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Vai trò của phân tích dữ liệu bán lẻ</a:t>
            </a:r>
          </a:p>
        </p:txBody>
      </p:sp>
      <p:sp>
        <p:nvSpPr>
          <p:cNvPr id="26" name="TextBox 26">
            <a:extLst>
              <a:ext uri="{FF2B5EF4-FFF2-40B4-BE49-F238E27FC236}">
                <a16:creationId xmlns:a16="http://schemas.microsoft.com/office/drawing/2014/main" id="{0C7890BA-6CC4-A4CB-86B7-81ECB1A5C99E}"/>
              </a:ext>
            </a:extLst>
          </p:cNvPr>
          <p:cNvSpPr txBox="1"/>
          <p:nvPr/>
        </p:nvSpPr>
        <p:spPr>
          <a:xfrm>
            <a:off x="900549" y="4269767"/>
            <a:ext cx="7710051" cy="3333670"/>
          </a:xfrm>
          <a:prstGeom prst="rect">
            <a:avLst/>
          </a:prstGeom>
        </p:spPr>
        <p:txBody>
          <a:bodyPr wrap="square" lIns="0" tIns="0" rIns="0" bIns="0" rtlCol="0" anchor="t">
            <a:spAutoFit/>
          </a:bodyPr>
          <a:lstStyle/>
          <a:p>
            <a:pPr marL="575190" lvl="1" indent="-287595" algn="l">
              <a:lnSpc>
                <a:spcPts val="5328"/>
              </a:lnSpc>
              <a:buFont typeface="Arial"/>
              <a:buChar char="•"/>
            </a:pPr>
            <a:r>
              <a:rPr lang="en-US" sz="3500">
                <a:solidFill>
                  <a:srgbClr val="A6A6A6"/>
                </a:solidFill>
                <a:latin typeface="Times New Roman" panose="02020603050405020304" pitchFamily="18" charset="0"/>
                <a:ea typeface="Garet"/>
                <a:cs typeface="Times New Roman" panose="02020603050405020304" pitchFamily="18" charset="0"/>
                <a:sym typeface="Garet"/>
              </a:rPr>
              <a:t>Hiểu hành vi của khách hàng</a:t>
            </a:r>
          </a:p>
          <a:p>
            <a:pPr marL="575190" lvl="1" indent="-287595" algn="l">
              <a:lnSpc>
                <a:spcPts val="5328"/>
              </a:lnSpc>
              <a:buFont typeface="Arial"/>
              <a:buChar char="•"/>
            </a:pPr>
            <a:r>
              <a:rPr lang="en-US" sz="3500">
                <a:solidFill>
                  <a:srgbClr val="A6A6A6"/>
                </a:solidFill>
                <a:latin typeface="Times New Roman" panose="02020603050405020304" pitchFamily="18" charset="0"/>
                <a:ea typeface="Garet"/>
                <a:cs typeface="Times New Roman" panose="02020603050405020304" pitchFamily="18" charset="0"/>
                <a:sym typeface="Garet"/>
              </a:rPr>
              <a:t>Tối ưu hóa doanh thu &amp; lợi nhuận</a:t>
            </a:r>
          </a:p>
          <a:p>
            <a:pPr marL="575190" lvl="1" indent="-287595" algn="l">
              <a:lnSpc>
                <a:spcPts val="5328"/>
              </a:lnSpc>
              <a:buFont typeface="Arial"/>
              <a:buChar char="•"/>
            </a:pPr>
            <a:r>
              <a:rPr lang="en-US" sz="3500">
                <a:solidFill>
                  <a:srgbClr val="A6A6A6"/>
                </a:solidFill>
                <a:latin typeface="Times New Roman" panose="02020603050405020304" pitchFamily="18" charset="0"/>
                <a:ea typeface="Garet"/>
                <a:cs typeface="Times New Roman" panose="02020603050405020304" pitchFamily="18" charset="0"/>
                <a:sym typeface="Garet"/>
              </a:rPr>
              <a:t>Hỗ trợ đưa ra quyết định kinh doanh</a:t>
            </a:r>
          </a:p>
          <a:p>
            <a:pPr marL="575190" lvl="1" indent="-287595" algn="l">
              <a:lnSpc>
                <a:spcPts val="5328"/>
              </a:lnSpc>
              <a:buFont typeface="Arial"/>
              <a:buChar char="•"/>
            </a:pPr>
            <a:r>
              <a:rPr lang="en-US" sz="3500">
                <a:solidFill>
                  <a:srgbClr val="A6A6A6"/>
                </a:solidFill>
                <a:latin typeface="Times New Roman" panose="02020603050405020304" pitchFamily="18" charset="0"/>
                <a:ea typeface="Garet"/>
                <a:cs typeface="Times New Roman" panose="02020603050405020304" pitchFamily="18" charset="0"/>
                <a:sym typeface="Garet"/>
              </a:rPr>
              <a:t>Dự đoán xu hướng của thị trường</a:t>
            </a:r>
          </a:p>
          <a:p>
            <a:pPr marL="575190" lvl="1" indent="-287595" algn="l">
              <a:lnSpc>
                <a:spcPts val="5328"/>
              </a:lnSpc>
              <a:buFont typeface="Arial"/>
              <a:buChar char="•"/>
            </a:pPr>
            <a:r>
              <a:rPr lang="en-US" sz="3500">
                <a:solidFill>
                  <a:srgbClr val="A6A6A6"/>
                </a:solidFill>
                <a:latin typeface="Times New Roman" panose="02020603050405020304" pitchFamily="18" charset="0"/>
                <a:ea typeface="Garet"/>
                <a:cs typeface="Times New Roman" panose="02020603050405020304" pitchFamily="18" charset="0"/>
                <a:sym typeface="Garet"/>
              </a:rPr>
              <a:t>Nâng cao trải nghiệm khách hàng</a:t>
            </a:r>
          </a:p>
        </p:txBody>
      </p:sp>
      <p:grpSp>
        <p:nvGrpSpPr>
          <p:cNvPr id="39" name="Group 39">
            <a:extLst>
              <a:ext uri="{FF2B5EF4-FFF2-40B4-BE49-F238E27FC236}">
                <a16:creationId xmlns:a16="http://schemas.microsoft.com/office/drawing/2014/main" id="{4D348871-BB04-7BB3-5029-10661FDD52B6}"/>
              </a:ext>
            </a:extLst>
          </p:cNvPr>
          <p:cNvGrpSpPr/>
          <p:nvPr/>
        </p:nvGrpSpPr>
        <p:grpSpPr>
          <a:xfrm>
            <a:off x="4333983" y="9118272"/>
            <a:ext cx="140028" cy="140028"/>
            <a:chOff x="0" y="0"/>
            <a:chExt cx="6350000" cy="6350000"/>
          </a:xfrm>
        </p:grpSpPr>
        <p:sp>
          <p:nvSpPr>
            <p:cNvPr id="40" name="Freeform 40">
              <a:extLst>
                <a:ext uri="{FF2B5EF4-FFF2-40B4-BE49-F238E27FC236}">
                  <a16:creationId xmlns:a16="http://schemas.microsoft.com/office/drawing/2014/main" id="{0576F0F7-B4C4-792B-97BC-005C8BABF4C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1" name="Group 41">
            <a:extLst>
              <a:ext uri="{FF2B5EF4-FFF2-40B4-BE49-F238E27FC236}">
                <a16:creationId xmlns:a16="http://schemas.microsoft.com/office/drawing/2014/main" id="{5D9B382E-9DDF-3C46-DA92-355FD43FFEF0}"/>
              </a:ext>
            </a:extLst>
          </p:cNvPr>
          <p:cNvGrpSpPr/>
          <p:nvPr/>
        </p:nvGrpSpPr>
        <p:grpSpPr>
          <a:xfrm>
            <a:off x="4664512" y="9122846"/>
            <a:ext cx="140028" cy="140028"/>
            <a:chOff x="0" y="0"/>
            <a:chExt cx="6350000" cy="6350000"/>
          </a:xfrm>
        </p:grpSpPr>
        <p:sp>
          <p:nvSpPr>
            <p:cNvPr id="42" name="Freeform 42">
              <a:extLst>
                <a:ext uri="{FF2B5EF4-FFF2-40B4-BE49-F238E27FC236}">
                  <a16:creationId xmlns:a16="http://schemas.microsoft.com/office/drawing/2014/main" id="{288C91D6-2F7A-56C1-732C-36F9A8A1EFB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3" name="Group 43">
            <a:extLst>
              <a:ext uri="{FF2B5EF4-FFF2-40B4-BE49-F238E27FC236}">
                <a16:creationId xmlns:a16="http://schemas.microsoft.com/office/drawing/2014/main" id="{EFEF27D0-9B71-E52D-DB10-8FF3DD1AC4DE}"/>
              </a:ext>
            </a:extLst>
          </p:cNvPr>
          <p:cNvGrpSpPr/>
          <p:nvPr/>
        </p:nvGrpSpPr>
        <p:grpSpPr>
          <a:xfrm>
            <a:off x="4995040" y="9127420"/>
            <a:ext cx="140028" cy="140028"/>
            <a:chOff x="0" y="0"/>
            <a:chExt cx="6350000" cy="6350000"/>
          </a:xfrm>
        </p:grpSpPr>
        <p:sp>
          <p:nvSpPr>
            <p:cNvPr id="44" name="Freeform 44">
              <a:extLst>
                <a:ext uri="{FF2B5EF4-FFF2-40B4-BE49-F238E27FC236}">
                  <a16:creationId xmlns:a16="http://schemas.microsoft.com/office/drawing/2014/main" id="{D599C85E-CE66-1C8E-E225-E49351E5856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pic>
        <p:nvPicPr>
          <p:cNvPr id="1026" name="Picture 2" descr="Retail Marketing: Key Components and Types">
            <a:extLst>
              <a:ext uri="{FF2B5EF4-FFF2-40B4-BE49-F238E27FC236}">
                <a16:creationId xmlns:a16="http://schemas.microsoft.com/office/drawing/2014/main" id="{CDDA287E-CAB9-B17C-1BA3-04E19C151A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215" t="12013" r="7504" b="21307"/>
          <a:stretch>
            <a:fillRect/>
          </a:stretch>
        </p:blipFill>
        <p:spPr bwMode="auto">
          <a:xfrm>
            <a:off x="8913982" y="3234432"/>
            <a:ext cx="8757801" cy="54424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6687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2681342"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020285"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3011870"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350813"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7435536" y="250632"/>
            <a:ext cx="472496" cy="541606"/>
            <a:chOff x="0" y="0"/>
            <a:chExt cx="1078838" cy="1236634"/>
          </a:xfrm>
        </p:grpSpPr>
        <p:sp>
          <p:nvSpPr>
            <p:cNvPr id="23" name="Freeform 23"/>
            <p:cNvSpPr/>
            <p:nvPr/>
          </p:nvSpPr>
          <p:spPr>
            <a:xfrm>
              <a:off x="0" y="0"/>
              <a:ext cx="1078838" cy="1236634"/>
            </a:xfrm>
            <a:custGeom>
              <a:avLst/>
              <a:gdLst/>
              <a:ahLst/>
              <a:cxnLst/>
              <a:rect l="l" t="t" r="r" b="b"/>
              <a:pathLst>
                <a:path w="1078838" h="1236634">
                  <a:moveTo>
                    <a:pt x="539419" y="0"/>
                  </a:moveTo>
                  <a:cubicBezTo>
                    <a:pt x="241506" y="0"/>
                    <a:pt x="0" y="276830"/>
                    <a:pt x="0" y="618317"/>
                  </a:cubicBezTo>
                  <a:cubicBezTo>
                    <a:pt x="0" y="959804"/>
                    <a:pt x="241506" y="1236634"/>
                    <a:pt x="539419" y="1236634"/>
                  </a:cubicBezTo>
                  <a:cubicBezTo>
                    <a:pt x="837332" y="1236634"/>
                    <a:pt x="1078838" y="959804"/>
                    <a:pt x="1078838" y="618317"/>
                  </a:cubicBezTo>
                  <a:cubicBezTo>
                    <a:pt x="1078838" y="276830"/>
                    <a:pt x="837332" y="0"/>
                    <a:pt x="539419"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01141" y="87359"/>
              <a:ext cx="876556" cy="1033340"/>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2</a:t>
              </a:r>
            </a:p>
          </p:txBody>
        </p:sp>
      </p:grpSp>
      <p:sp>
        <p:nvSpPr>
          <p:cNvPr id="25" name="TextBox 25"/>
          <p:cNvSpPr txBox="1"/>
          <p:nvPr/>
        </p:nvSpPr>
        <p:spPr>
          <a:xfrm>
            <a:off x="1028700" y="1028700"/>
            <a:ext cx="7505700" cy="1102866"/>
          </a:xfrm>
          <a:prstGeom prst="rect">
            <a:avLst/>
          </a:prstGeom>
        </p:spPr>
        <p:txBody>
          <a:bodyPr wrap="square"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Mục tiêu đề tài</a:t>
            </a:r>
          </a:p>
        </p:txBody>
      </p:sp>
      <p:sp>
        <p:nvSpPr>
          <p:cNvPr id="27" name="TextBox 27"/>
          <p:cNvSpPr txBox="1"/>
          <p:nvPr/>
        </p:nvSpPr>
        <p:spPr>
          <a:xfrm>
            <a:off x="1028700" y="3003105"/>
            <a:ext cx="11088623" cy="4280787"/>
          </a:xfrm>
          <a:prstGeom prst="rect">
            <a:avLst/>
          </a:prstGeom>
        </p:spPr>
        <p:txBody>
          <a:bodyPr wrap="square" lIns="0" tIns="0" rIns="0" bIns="0" rtlCol="0" anchor="t">
            <a:spAutoFit/>
          </a:bodyPr>
          <a:lstStyle/>
          <a:p>
            <a:pPr marL="575190" lvl="1" indent="-287595" algn="l">
              <a:lnSpc>
                <a:spcPct val="150000"/>
              </a:lnSpc>
              <a:buFont typeface="Arial"/>
              <a:buChar char="•"/>
            </a:pPr>
            <a:r>
              <a:rPr lang="en-US" sz="3800">
                <a:solidFill>
                  <a:srgbClr val="A6A6A6"/>
                </a:solidFill>
                <a:latin typeface="Times New Roman" panose="02020603050405020304" pitchFamily="18" charset="0"/>
                <a:ea typeface="Garet"/>
                <a:cs typeface="Times New Roman" panose="02020603050405020304" pitchFamily="18" charset="0"/>
                <a:sym typeface="Garet"/>
              </a:rPr>
              <a:t>Có khả năng xử lý khối lượng dữ liệu lớn và liên tục</a:t>
            </a:r>
          </a:p>
          <a:p>
            <a:pPr marL="575190" lvl="1" indent="-287595">
              <a:lnSpc>
                <a:spcPct val="150000"/>
              </a:lnSpc>
              <a:buFont typeface="Arial"/>
              <a:buChar char="•"/>
            </a:pPr>
            <a:r>
              <a:rPr lang="en-US" sz="3800">
                <a:solidFill>
                  <a:srgbClr val="A6A6A6"/>
                </a:solidFill>
                <a:latin typeface="Times New Roman" panose="02020603050405020304" pitchFamily="18" charset="0"/>
                <a:ea typeface="Garet"/>
                <a:cs typeface="Times New Roman" panose="02020603050405020304" pitchFamily="18" charset="0"/>
                <a:sym typeface="Garet"/>
              </a:rPr>
              <a:t>Tận dụng sức mạnh của xử lý song song và phân tán</a:t>
            </a:r>
          </a:p>
          <a:p>
            <a:pPr marL="575190" lvl="1" indent="-287595" algn="l">
              <a:lnSpc>
                <a:spcPct val="150000"/>
              </a:lnSpc>
              <a:buFont typeface="Arial"/>
              <a:buChar char="•"/>
            </a:pPr>
            <a:r>
              <a:rPr lang="en-US" sz="3800">
                <a:solidFill>
                  <a:srgbClr val="A6A6A6"/>
                </a:solidFill>
                <a:latin typeface="Times New Roman" panose="02020603050405020304" pitchFamily="18" charset="0"/>
                <a:ea typeface="Garet"/>
                <a:cs typeface="Times New Roman" panose="02020603050405020304" pitchFamily="18" charset="0"/>
                <a:sym typeface="Garet"/>
              </a:rPr>
              <a:t>Có khả năng chịu lỗi</a:t>
            </a:r>
          </a:p>
          <a:p>
            <a:pPr marL="575190" lvl="1" indent="-287595" algn="l">
              <a:lnSpc>
                <a:spcPct val="150000"/>
              </a:lnSpc>
              <a:buFont typeface="Arial"/>
              <a:buChar char="•"/>
            </a:pPr>
            <a:r>
              <a:rPr lang="en-US" sz="3800">
                <a:solidFill>
                  <a:srgbClr val="A6A6A6"/>
                </a:solidFill>
                <a:latin typeface="Times New Roman" panose="02020603050405020304" pitchFamily="18" charset="0"/>
                <a:ea typeface="Garet"/>
                <a:cs typeface="Times New Roman" panose="02020603050405020304" pitchFamily="18" charset="0"/>
                <a:sym typeface="Garet"/>
              </a:rPr>
              <a:t>Có khả năng mở rộng cho tương lai</a:t>
            </a:r>
          </a:p>
          <a:p>
            <a:pPr marL="575190" lvl="1" indent="-287595" algn="l">
              <a:lnSpc>
                <a:spcPct val="150000"/>
              </a:lnSpc>
              <a:buFont typeface="Arial"/>
              <a:buChar char="•"/>
            </a:pPr>
            <a:r>
              <a:rPr lang="en-US" sz="3800">
                <a:solidFill>
                  <a:srgbClr val="A6A6A6"/>
                </a:solidFill>
                <a:latin typeface="Times New Roman" panose="02020603050405020304" pitchFamily="18" charset="0"/>
                <a:ea typeface="Garet"/>
                <a:cs typeface="Times New Roman" panose="02020603050405020304" pitchFamily="18" charset="0"/>
                <a:sym typeface="Garet"/>
              </a:rPr>
              <a:t>Tự động hóa quy trình</a:t>
            </a:r>
          </a:p>
        </p:txBody>
      </p:sp>
      <p:grpSp>
        <p:nvGrpSpPr>
          <p:cNvPr id="39" name="Group 39"/>
          <p:cNvGrpSpPr/>
          <p:nvPr/>
        </p:nvGrpSpPr>
        <p:grpSpPr>
          <a:xfrm>
            <a:off x="4333983" y="9118272"/>
            <a:ext cx="140028" cy="140028"/>
            <a:chOff x="0" y="0"/>
            <a:chExt cx="6350000" cy="6350000"/>
          </a:xfrm>
        </p:grpSpPr>
        <p:sp>
          <p:nvSpPr>
            <p:cNvPr id="40" name="Freeform 4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1" name="Group 41"/>
          <p:cNvGrpSpPr/>
          <p:nvPr/>
        </p:nvGrpSpPr>
        <p:grpSpPr>
          <a:xfrm>
            <a:off x="4664512" y="9122846"/>
            <a:ext cx="140028" cy="140028"/>
            <a:chOff x="0" y="0"/>
            <a:chExt cx="6350000" cy="6350000"/>
          </a:xfrm>
        </p:grpSpPr>
        <p:sp>
          <p:nvSpPr>
            <p:cNvPr id="42" name="Freeform 4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3" name="Group 43"/>
          <p:cNvGrpSpPr/>
          <p:nvPr/>
        </p:nvGrpSpPr>
        <p:grpSpPr>
          <a:xfrm>
            <a:off x="4995040" y="9127420"/>
            <a:ext cx="140028" cy="140028"/>
            <a:chOff x="0" y="0"/>
            <a:chExt cx="6350000" cy="6350000"/>
          </a:xfrm>
        </p:grpSpPr>
        <p:sp>
          <p:nvSpPr>
            <p:cNvPr id="44" name="Freeform 44"/>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pic>
        <p:nvPicPr>
          <p:cNvPr id="1028" name="Picture 4" descr="Arrow target icon 18923665 PNG">
            <a:extLst>
              <a:ext uri="{FF2B5EF4-FFF2-40B4-BE49-F238E27FC236}">
                <a16:creationId xmlns:a16="http://schemas.microsoft.com/office/drawing/2014/main" id="{8A00E822-8B5D-B491-E7EB-EF036CE5C2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667983" y="2571749"/>
            <a:ext cx="5022850"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1689757"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8" name="Group 8"/>
          <p:cNvGrpSpPr/>
          <p:nvPr/>
        </p:nvGrpSpPr>
        <p:grpSpPr>
          <a:xfrm>
            <a:off x="2681342"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0" name="Group 10"/>
          <p:cNvGrpSpPr/>
          <p:nvPr/>
        </p:nvGrpSpPr>
        <p:grpSpPr>
          <a:xfrm>
            <a:off x="2020285"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3342398"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3011870"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2350813"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2089" y="1028700"/>
            <a:ext cx="477211" cy="541606"/>
            <a:chOff x="0" y="0"/>
            <a:chExt cx="1245863" cy="1413979"/>
          </a:xfrm>
        </p:grpSpPr>
        <p:sp>
          <p:nvSpPr>
            <p:cNvPr id="23" name="Freeform 23"/>
            <p:cNvSpPr/>
            <p:nvPr/>
          </p:nvSpPr>
          <p:spPr>
            <a:xfrm>
              <a:off x="0" y="0"/>
              <a:ext cx="1245863" cy="1413979"/>
            </a:xfrm>
            <a:custGeom>
              <a:avLst/>
              <a:gdLst/>
              <a:ahLst/>
              <a:cxnLst/>
              <a:rect l="l" t="t" r="r" b="b"/>
              <a:pathLst>
                <a:path w="1245863" h="1413979">
                  <a:moveTo>
                    <a:pt x="622932" y="0"/>
                  </a:moveTo>
                  <a:cubicBezTo>
                    <a:pt x="278896" y="0"/>
                    <a:pt x="0" y="316530"/>
                    <a:pt x="0" y="706990"/>
                  </a:cubicBezTo>
                  <a:cubicBezTo>
                    <a:pt x="0" y="1097449"/>
                    <a:pt x="278896" y="1413979"/>
                    <a:pt x="622932" y="1413979"/>
                  </a:cubicBezTo>
                  <a:cubicBezTo>
                    <a:pt x="966967" y="1413979"/>
                    <a:pt x="1245863" y="1097449"/>
                    <a:pt x="1245863" y="706990"/>
                  </a:cubicBezTo>
                  <a:cubicBezTo>
                    <a:pt x="1245863" y="316530"/>
                    <a:pt x="966967" y="0"/>
                    <a:pt x="622932"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16800" y="103986"/>
              <a:ext cx="1012264" cy="1177433"/>
            </a:xfrm>
            <a:prstGeom prst="rect">
              <a:avLst/>
            </a:prstGeom>
          </p:spPr>
          <p:txBody>
            <a:bodyPr lIns="50800" tIns="50800" rIns="50800" bIns="50800" rtlCol="0" anchor="ctr"/>
            <a:lstStyle/>
            <a:p>
              <a:pPr algn="ctr">
                <a:lnSpc>
                  <a:spcPts val="2399"/>
                </a:lnSpc>
              </a:pPr>
              <a:r>
                <a:rPr lang="en-US" sz="1599">
                  <a:solidFill>
                    <a:srgbClr val="000000"/>
                  </a:solidFill>
                  <a:latin typeface="Garet"/>
                  <a:ea typeface="Garet"/>
                  <a:cs typeface="Garet"/>
                  <a:sym typeface="Garet"/>
                </a:rPr>
                <a:t>3</a:t>
              </a:r>
            </a:p>
          </p:txBody>
        </p:sp>
      </p:grpSp>
      <p:sp>
        <p:nvSpPr>
          <p:cNvPr id="26" name="TextBox 26"/>
          <p:cNvSpPr txBox="1"/>
          <p:nvPr/>
        </p:nvSpPr>
        <p:spPr>
          <a:xfrm>
            <a:off x="1028700" y="1028700"/>
            <a:ext cx="5219700" cy="2205732"/>
          </a:xfrm>
          <a:prstGeom prst="rect">
            <a:avLst/>
          </a:prstGeom>
        </p:spPr>
        <p:txBody>
          <a:bodyPr wrap="square"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Kiến trúc hệ thống</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pic>
        <p:nvPicPr>
          <p:cNvPr id="34" name="Picture 33" descr="A diagram of a computer server&#10;&#10;AI-generated content may be incorrect.">
            <a:extLst>
              <a:ext uri="{FF2B5EF4-FFF2-40B4-BE49-F238E27FC236}">
                <a16:creationId xmlns:a16="http://schemas.microsoft.com/office/drawing/2014/main" id="{9AEB7250-97FC-40EF-246B-FFF43038F6C4}"/>
              </a:ext>
            </a:extLst>
          </p:cNvPr>
          <p:cNvPicPr>
            <a:picLocks noChangeAspect="1"/>
          </p:cNvPicPr>
          <p:nvPr/>
        </p:nvPicPr>
        <p:blipFill>
          <a:blip r:embed="rId3"/>
          <a:stretch>
            <a:fillRect/>
          </a:stretch>
        </p:blipFill>
        <p:spPr>
          <a:xfrm>
            <a:off x="7270638" y="1366572"/>
            <a:ext cx="9183078" cy="804007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2681342"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020285"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3011870"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350813"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6735" y="1028700"/>
            <a:ext cx="472565" cy="541606"/>
            <a:chOff x="0" y="0"/>
            <a:chExt cx="1248138" cy="1430489"/>
          </a:xfrm>
        </p:grpSpPr>
        <p:sp>
          <p:nvSpPr>
            <p:cNvPr id="23" name="Freeform 23"/>
            <p:cNvSpPr/>
            <p:nvPr/>
          </p:nvSpPr>
          <p:spPr>
            <a:xfrm>
              <a:off x="0" y="0"/>
              <a:ext cx="1248138" cy="1430489"/>
            </a:xfrm>
            <a:custGeom>
              <a:avLst/>
              <a:gdLst/>
              <a:ahLst/>
              <a:cxnLst/>
              <a:rect l="l" t="t" r="r" b="b"/>
              <a:pathLst>
                <a:path w="1248138" h="1430489">
                  <a:moveTo>
                    <a:pt x="624069" y="0"/>
                  </a:moveTo>
                  <a:cubicBezTo>
                    <a:pt x="279405" y="0"/>
                    <a:pt x="0" y="320226"/>
                    <a:pt x="0" y="715244"/>
                  </a:cubicBezTo>
                  <a:cubicBezTo>
                    <a:pt x="0" y="1110263"/>
                    <a:pt x="279405" y="1430489"/>
                    <a:pt x="624069" y="1430489"/>
                  </a:cubicBezTo>
                  <a:cubicBezTo>
                    <a:pt x="968733" y="1430489"/>
                    <a:pt x="1248138" y="1110263"/>
                    <a:pt x="1248138" y="715244"/>
                  </a:cubicBezTo>
                  <a:cubicBezTo>
                    <a:pt x="1248138" y="320226"/>
                    <a:pt x="968733" y="0"/>
                    <a:pt x="624069"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17013" y="105533"/>
              <a:ext cx="1014112" cy="1190847"/>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4</a:t>
              </a:r>
            </a:p>
          </p:txBody>
        </p:sp>
      </p:grpSp>
      <p:sp>
        <p:nvSpPr>
          <p:cNvPr id="25" name="Freeform 25"/>
          <p:cNvSpPr/>
          <p:nvPr/>
        </p:nvSpPr>
        <p:spPr>
          <a:xfrm>
            <a:off x="10664642" y="2809632"/>
            <a:ext cx="7088729" cy="3987410"/>
          </a:xfrm>
          <a:custGeom>
            <a:avLst/>
            <a:gdLst/>
            <a:ahLst/>
            <a:cxnLst/>
            <a:rect l="l" t="t" r="r" b="b"/>
            <a:pathLst>
              <a:path w="7088729" h="3987410">
                <a:moveTo>
                  <a:pt x="0" y="0"/>
                </a:moveTo>
                <a:lnTo>
                  <a:pt x="7088729" y="0"/>
                </a:lnTo>
                <a:lnTo>
                  <a:pt x="7088729" y="3987410"/>
                </a:lnTo>
                <a:lnTo>
                  <a:pt x="0" y="3987410"/>
                </a:lnTo>
                <a:lnTo>
                  <a:pt x="0" y="0"/>
                </a:lnTo>
                <a:close/>
              </a:path>
            </a:pathLst>
          </a:custGeom>
          <a:blipFill>
            <a:blip r:embed="rId3"/>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26" name="TextBox 26"/>
          <p:cNvSpPr txBox="1"/>
          <p:nvPr/>
        </p:nvSpPr>
        <p:spPr>
          <a:xfrm>
            <a:off x="1028700" y="1028700"/>
            <a:ext cx="5148575" cy="112774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Dữ liệu</a:t>
            </a:r>
          </a:p>
        </p:txBody>
      </p:sp>
      <p:sp>
        <p:nvSpPr>
          <p:cNvPr id="27" name="TextBox 27"/>
          <p:cNvSpPr txBox="1"/>
          <p:nvPr/>
        </p:nvSpPr>
        <p:spPr>
          <a:xfrm>
            <a:off x="1028700" y="2305882"/>
            <a:ext cx="9366735" cy="6002734"/>
          </a:xfrm>
          <a:prstGeom prst="rect">
            <a:avLst/>
          </a:prstGeom>
        </p:spPr>
        <p:txBody>
          <a:bodyPr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Được thu thập bằng Youtube Data API v3</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Dữ liệu thu thập từ các video review công nghệ</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Đánh nhãn tự động bằng </a:t>
            </a:r>
            <a:r>
              <a:rPr lang="en-US" sz="3300" b="1">
                <a:solidFill>
                  <a:srgbClr val="A6A6A6"/>
                </a:solidFill>
                <a:latin typeface="Times New Roman" panose="02020603050405020304" pitchFamily="18" charset="0"/>
                <a:ea typeface="Garet Bold"/>
                <a:cs typeface="Times New Roman" panose="02020603050405020304" pitchFamily="18" charset="0"/>
                <a:sym typeface="Garet Bold"/>
              </a:rPr>
              <a:t>ViSoBERT</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Kiểm tra ngẫu nhiên 10% dữ liệu sau khi đánh nhãn cho thấy:</a:t>
            </a:r>
          </a:p>
          <a:p>
            <a:pPr marL="1036320" lvl="2" indent="-34544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độ chính xác đạt &gt; 91%</a:t>
            </a:r>
          </a:p>
          <a:p>
            <a:pPr marL="1036320" lvl="2" indent="-34544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các nhãn sai chủ yếu đến từ những comment đề cập về nội dung trong video (&gt; 87%)</a:t>
            </a:r>
          </a:p>
        </p:txBody>
      </p:sp>
      <p:grpSp>
        <p:nvGrpSpPr>
          <p:cNvPr id="28" name="Group 28"/>
          <p:cNvGrpSpPr/>
          <p:nvPr/>
        </p:nvGrpSpPr>
        <p:grpSpPr>
          <a:xfrm>
            <a:off x="4333983" y="9118272"/>
            <a:ext cx="140028" cy="140028"/>
            <a:chOff x="0" y="0"/>
            <a:chExt cx="6350000" cy="6350000"/>
          </a:xfrm>
        </p:grpSpPr>
        <p:sp>
          <p:nvSpPr>
            <p:cNvPr id="29" name="Freeform 2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0" name="Group 30"/>
          <p:cNvGrpSpPr/>
          <p:nvPr/>
        </p:nvGrpSpPr>
        <p:grpSpPr>
          <a:xfrm>
            <a:off x="4664512" y="9122846"/>
            <a:ext cx="140028" cy="140028"/>
            <a:chOff x="0" y="0"/>
            <a:chExt cx="6350000" cy="6350000"/>
          </a:xfrm>
        </p:grpSpPr>
        <p:sp>
          <p:nvSpPr>
            <p:cNvPr id="31" name="Freeform 3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2" name="Group 32"/>
          <p:cNvGrpSpPr/>
          <p:nvPr/>
        </p:nvGrpSpPr>
        <p:grpSpPr>
          <a:xfrm>
            <a:off x="4995040" y="9127420"/>
            <a:ext cx="140028" cy="140028"/>
            <a:chOff x="0" y="0"/>
            <a:chExt cx="6350000" cy="6350000"/>
          </a:xfrm>
        </p:grpSpPr>
        <p:sp>
          <p:nvSpPr>
            <p:cNvPr id="33" name="Freeform 3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2681342"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3011870"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6576" y="1028700"/>
            <a:ext cx="472724" cy="541606"/>
            <a:chOff x="0" y="0"/>
            <a:chExt cx="1439871" cy="1649679"/>
          </a:xfrm>
        </p:grpSpPr>
        <p:sp>
          <p:nvSpPr>
            <p:cNvPr id="23" name="Freeform 23"/>
            <p:cNvSpPr/>
            <p:nvPr/>
          </p:nvSpPr>
          <p:spPr>
            <a:xfrm>
              <a:off x="0" y="0"/>
              <a:ext cx="1439871" cy="1649679"/>
            </a:xfrm>
            <a:custGeom>
              <a:avLst/>
              <a:gdLst/>
              <a:ahLst/>
              <a:cxnLst/>
              <a:rect l="l" t="t" r="r" b="b"/>
              <a:pathLst>
                <a:path w="1439871" h="1649679">
                  <a:moveTo>
                    <a:pt x="719936" y="0"/>
                  </a:moveTo>
                  <a:cubicBezTo>
                    <a:pt x="322326" y="0"/>
                    <a:pt x="0" y="369293"/>
                    <a:pt x="0" y="824839"/>
                  </a:cubicBezTo>
                  <a:cubicBezTo>
                    <a:pt x="0" y="1280386"/>
                    <a:pt x="322326" y="1649679"/>
                    <a:pt x="719936" y="1649679"/>
                  </a:cubicBezTo>
                  <a:cubicBezTo>
                    <a:pt x="1117545" y="1649679"/>
                    <a:pt x="1439871" y="1280386"/>
                    <a:pt x="1439871" y="824839"/>
                  </a:cubicBezTo>
                  <a:cubicBezTo>
                    <a:pt x="1439871" y="369293"/>
                    <a:pt x="1117545" y="0"/>
                    <a:pt x="719936"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34988" y="126082"/>
              <a:ext cx="1169896" cy="1368939"/>
            </a:xfrm>
            <a:prstGeom prst="rect">
              <a:avLst/>
            </a:prstGeom>
          </p:spPr>
          <p:txBody>
            <a:bodyPr lIns="50800" tIns="50800" rIns="50800" bIns="50800" rtlCol="0" anchor="ctr"/>
            <a:lstStyle/>
            <a:p>
              <a:pPr algn="ctr">
                <a:lnSpc>
                  <a:spcPts val="2399"/>
                </a:lnSpc>
              </a:pPr>
              <a:r>
                <a:rPr lang="en-US" sz="1599">
                  <a:solidFill>
                    <a:srgbClr val="000000"/>
                  </a:solidFill>
                  <a:latin typeface="Garet"/>
                  <a:ea typeface="Garet"/>
                  <a:cs typeface="Garet"/>
                  <a:sym typeface="Garet"/>
                </a:rPr>
                <a:t>5</a:t>
              </a:r>
            </a:p>
          </p:txBody>
        </p:sp>
      </p:grpSp>
      <p:sp>
        <p:nvSpPr>
          <p:cNvPr id="25" name="Freeform 25"/>
          <p:cNvSpPr/>
          <p:nvPr/>
        </p:nvSpPr>
        <p:spPr>
          <a:xfrm>
            <a:off x="3009412" y="3360130"/>
            <a:ext cx="12266230" cy="5638358"/>
          </a:xfrm>
          <a:custGeom>
            <a:avLst/>
            <a:gdLst/>
            <a:ahLst/>
            <a:cxnLst/>
            <a:rect l="l" t="t" r="r" b="b"/>
            <a:pathLst>
              <a:path w="10975350" h="6074697">
                <a:moveTo>
                  <a:pt x="0" y="0"/>
                </a:moveTo>
                <a:lnTo>
                  <a:pt x="10975350" y="0"/>
                </a:lnTo>
                <a:lnTo>
                  <a:pt x="10975350" y="6074697"/>
                </a:lnTo>
                <a:lnTo>
                  <a:pt x="0" y="6074697"/>
                </a:lnTo>
                <a:lnTo>
                  <a:pt x="0" y="0"/>
                </a:lnTo>
                <a:close/>
              </a:path>
            </a:pathLst>
          </a:custGeom>
          <a:blipFill>
            <a:blip r:embed="rId2"/>
            <a:stretch>
              <a:fillRect l="-1637" t="-14041" b="-8073"/>
            </a:stretch>
          </a:blipFill>
        </p:spPr>
        <p:txBody>
          <a:bodyPr/>
          <a:lstStyle/>
          <a:p>
            <a:endParaRPr lang="en-US"/>
          </a:p>
        </p:txBody>
      </p:sp>
      <p:sp>
        <p:nvSpPr>
          <p:cNvPr id="26" name="TextBox 26"/>
          <p:cNvSpPr txBox="1"/>
          <p:nvPr/>
        </p:nvSpPr>
        <p:spPr>
          <a:xfrm>
            <a:off x="1028700" y="474931"/>
            <a:ext cx="7505700" cy="2769989"/>
          </a:xfrm>
          <a:prstGeom prst="rect">
            <a:avLst/>
          </a:prstGeom>
        </p:spPr>
        <p:txBody>
          <a:bodyPr wrap="square" lIns="0" tIns="0" rIns="0" bIns="0" rtlCol="0" anchor="t">
            <a:spAutoFit/>
          </a:bodyPr>
          <a:lstStyle/>
          <a:p>
            <a:pPr marL="0" lvl="0" indent="0" algn="l">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Số lượng &amp; phân phối nhãn</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2681342"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3011870"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6435" y="1028700"/>
            <a:ext cx="472865" cy="541606"/>
            <a:chOff x="0" y="0"/>
            <a:chExt cx="1234626" cy="1414106"/>
          </a:xfrm>
        </p:grpSpPr>
        <p:sp>
          <p:nvSpPr>
            <p:cNvPr id="23" name="Freeform 23"/>
            <p:cNvSpPr/>
            <p:nvPr/>
          </p:nvSpPr>
          <p:spPr>
            <a:xfrm>
              <a:off x="0" y="0"/>
              <a:ext cx="1234626" cy="1414106"/>
            </a:xfrm>
            <a:custGeom>
              <a:avLst/>
              <a:gdLst/>
              <a:ahLst/>
              <a:cxnLst/>
              <a:rect l="l" t="t" r="r" b="b"/>
              <a:pathLst>
                <a:path w="1234626" h="1414106">
                  <a:moveTo>
                    <a:pt x="617313" y="0"/>
                  </a:moveTo>
                  <a:cubicBezTo>
                    <a:pt x="276381" y="0"/>
                    <a:pt x="0" y="316558"/>
                    <a:pt x="0" y="707053"/>
                  </a:cubicBezTo>
                  <a:cubicBezTo>
                    <a:pt x="0" y="1097548"/>
                    <a:pt x="276381" y="1414106"/>
                    <a:pt x="617313" y="1414106"/>
                  </a:cubicBezTo>
                  <a:cubicBezTo>
                    <a:pt x="958246" y="1414106"/>
                    <a:pt x="1234626" y="1097548"/>
                    <a:pt x="1234626" y="707053"/>
                  </a:cubicBezTo>
                  <a:cubicBezTo>
                    <a:pt x="1234626" y="316558"/>
                    <a:pt x="958246" y="0"/>
                    <a:pt x="617313"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15746" y="103997"/>
              <a:ext cx="1003134" cy="1177536"/>
            </a:xfrm>
            <a:prstGeom prst="rect">
              <a:avLst/>
            </a:prstGeom>
          </p:spPr>
          <p:txBody>
            <a:bodyPr lIns="50800" tIns="50800" rIns="50800" bIns="50800" rtlCol="0" anchor="ctr"/>
            <a:lstStyle/>
            <a:p>
              <a:pPr algn="ctr">
                <a:lnSpc>
                  <a:spcPts val="2399"/>
                </a:lnSpc>
              </a:pPr>
              <a:r>
                <a:rPr lang="en-US" sz="1599">
                  <a:solidFill>
                    <a:srgbClr val="000000"/>
                  </a:solidFill>
                  <a:latin typeface="Garet"/>
                  <a:ea typeface="Garet"/>
                  <a:cs typeface="Garet"/>
                  <a:sym typeface="Garet"/>
                </a:rPr>
                <a:t>6</a:t>
              </a:r>
            </a:p>
          </p:txBody>
        </p:sp>
      </p:grpSp>
      <p:sp>
        <p:nvSpPr>
          <p:cNvPr id="25" name="Freeform 25"/>
          <p:cNvSpPr/>
          <p:nvPr/>
        </p:nvSpPr>
        <p:spPr>
          <a:xfrm>
            <a:off x="824662" y="2872448"/>
            <a:ext cx="8971388" cy="5034576"/>
          </a:xfrm>
          <a:custGeom>
            <a:avLst/>
            <a:gdLst/>
            <a:ahLst/>
            <a:cxnLst/>
            <a:rect l="l" t="t" r="r" b="b"/>
            <a:pathLst>
              <a:path w="8971388" h="5034576">
                <a:moveTo>
                  <a:pt x="0" y="0"/>
                </a:moveTo>
                <a:lnTo>
                  <a:pt x="8971388" y="0"/>
                </a:lnTo>
                <a:lnTo>
                  <a:pt x="8971388" y="5034576"/>
                </a:lnTo>
                <a:lnTo>
                  <a:pt x="0" y="5034576"/>
                </a:lnTo>
                <a:lnTo>
                  <a:pt x="0" y="0"/>
                </a:lnTo>
                <a:close/>
              </a:path>
            </a:pathLst>
          </a:custGeom>
          <a:blipFill>
            <a:blip r:embed="rId3"/>
            <a:stretch>
              <a:fillRect/>
            </a:stretch>
          </a:blipFill>
        </p:spPr>
        <p:txBody>
          <a:bodyPr/>
          <a:lstStyle/>
          <a:p>
            <a:endParaRPr lang="en-US"/>
          </a:p>
        </p:txBody>
      </p:sp>
      <p:sp>
        <p:nvSpPr>
          <p:cNvPr id="26" name="TextBox 26"/>
          <p:cNvSpPr txBox="1"/>
          <p:nvPr/>
        </p:nvSpPr>
        <p:spPr>
          <a:xfrm>
            <a:off x="10198977" y="1777073"/>
            <a:ext cx="7403223" cy="1102866"/>
          </a:xfrm>
          <a:prstGeom prst="rect">
            <a:avLst/>
          </a:prstGeom>
        </p:spPr>
        <p:txBody>
          <a:bodyPr wrap="square"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Đặc thù dữ liệu</a:t>
            </a:r>
          </a:p>
        </p:txBody>
      </p:sp>
      <p:sp>
        <p:nvSpPr>
          <p:cNvPr id="27" name="TextBox 27"/>
          <p:cNvSpPr txBox="1"/>
          <p:nvPr/>
        </p:nvSpPr>
        <p:spPr>
          <a:xfrm>
            <a:off x="10198977" y="3371916"/>
            <a:ext cx="7555623" cy="3907929"/>
          </a:xfrm>
          <a:prstGeom prst="rect">
            <a:avLst/>
          </a:prstGeom>
        </p:spPr>
        <p:txBody>
          <a:bodyPr wrap="square" lIns="0" tIns="0" rIns="0" bIns="0" rtlCol="0" anchor="t">
            <a:spAutoFit/>
          </a:bodyPr>
          <a:lstStyle/>
          <a:p>
            <a:pPr marL="518160" lvl="1" indent="-259080" algn="l">
              <a:lnSpc>
                <a:spcPct val="20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Chứa các từ không tuân thủ chính tả</a:t>
            </a:r>
          </a:p>
          <a:p>
            <a:pPr marL="518160" lvl="1" indent="-259080" algn="l">
              <a:lnSpc>
                <a:spcPct val="20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Nội dung ngắn, rời rạc</a:t>
            </a:r>
          </a:p>
          <a:p>
            <a:pPr marL="518160" lvl="1" indent="-259080" algn="l">
              <a:lnSpc>
                <a:spcPct val="20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Chứa các bình luận quảng cáo, chứa link</a:t>
            </a:r>
          </a:p>
          <a:p>
            <a:pPr marL="518160" lvl="1" indent="-259080" algn="l">
              <a:lnSpc>
                <a:spcPct val="20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Chứa các emoji, mang nhiều cảm xúc </a:t>
            </a:r>
          </a:p>
        </p:txBody>
      </p:sp>
      <p:grpSp>
        <p:nvGrpSpPr>
          <p:cNvPr id="28" name="Group 28"/>
          <p:cNvGrpSpPr/>
          <p:nvPr/>
        </p:nvGrpSpPr>
        <p:grpSpPr>
          <a:xfrm>
            <a:off x="4333983" y="9118272"/>
            <a:ext cx="140028" cy="140028"/>
            <a:chOff x="0" y="0"/>
            <a:chExt cx="6350000" cy="6350000"/>
          </a:xfrm>
        </p:grpSpPr>
        <p:sp>
          <p:nvSpPr>
            <p:cNvPr id="29" name="Freeform 2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0" name="Group 30"/>
          <p:cNvGrpSpPr/>
          <p:nvPr/>
        </p:nvGrpSpPr>
        <p:grpSpPr>
          <a:xfrm>
            <a:off x="4664512" y="9122846"/>
            <a:ext cx="140028" cy="140028"/>
            <a:chOff x="0" y="0"/>
            <a:chExt cx="6350000" cy="6350000"/>
          </a:xfrm>
        </p:grpSpPr>
        <p:sp>
          <p:nvSpPr>
            <p:cNvPr id="31" name="Freeform 3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2" name="Group 32"/>
          <p:cNvGrpSpPr/>
          <p:nvPr/>
        </p:nvGrpSpPr>
        <p:grpSpPr>
          <a:xfrm>
            <a:off x="4995040" y="9127420"/>
            <a:ext cx="140028" cy="140028"/>
            <a:chOff x="0" y="0"/>
            <a:chExt cx="6350000" cy="6350000"/>
          </a:xfrm>
        </p:grpSpPr>
        <p:sp>
          <p:nvSpPr>
            <p:cNvPr id="33" name="Freeform 3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04BEA3FD-4FE7-EE06-4418-EC7252F6629E}"/>
              </a:ext>
            </a:extLst>
          </p:cNvPr>
          <p:cNvGrpSpPr/>
          <p:nvPr/>
        </p:nvGrpSpPr>
        <p:grpSpPr>
          <a:xfrm>
            <a:off x="-2960767" y="2085975"/>
            <a:ext cx="5921534" cy="5922855"/>
            <a:chOff x="4566668" y="2376469"/>
            <a:chExt cx="5921534" cy="5922855"/>
          </a:xfrm>
        </p:grpSpPr>
        <p:grpSp>
          <p:nvGrpSpPr>
            <p:cNvPr id="46" name="Group 45">
              <a:extLst>
                <a:ext uri="{FF2B5EF4-FFF2-40B4-BE49-F238E27FC236}">
                  <a16:creationId xmlns:a16="http://schemas.microsoft.com/office/drawing/2014/main" id="{1118DBFE-BB71-582D-1925-C03853A85D34}"/>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C535C806-9139-1855-3694-203F76589042}"/>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394E4FFC-9EC2-75CA-AB4A-EC7524DCDE16}"/>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9BC9C227-5D30-F41D-F22D-192F51282C88}"/>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A06ABA0B-3C35-0A98-EDC0-653E7D0FEF1D}"/>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075A4E85-7255-FE43-BF84-D0EE62200F5A}"/>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B16A5157-D164-BBA3-D512-9734EB630A62}"/>
                    </a:ext>
                  </a:extLst>
                </p:cNvPr>
                <p:cNvSpPr/>
                <p:nvPr/>
              </p:nvSpPr>
              <p:spPr>
                <a:xfrm>
                  <a:off x="7908210" y="2149885"/>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A6864F4D-7E90-50AE-16C7-4167D879293B}"/>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44A80937-85D1-A56F-1875-BD4115BAC3A3}"/>
                  </a:ext>
                </a:extLst>
              </p:cNvPr>
              <p:cNvGrpSpPr/>
              <p:nvPr/>
            </p:nvGrpSpPr>
            <p:grpSpPr>
              <a:xfrm rot="9000000">
                <a:off x="6941933" y="2376469"/>
                <a:ext cx="1171480" cy="5921533"/>
                <a:chOff x="7908210" y="2149886"/>
                <a:chExt cx="1371600" cy="6933086"/>
              </a:xfrm>
            </p:grpSpPr>
            <p:sp>
              <p:nvSpPr>
                <p:cNvPr id="41" name="Oval 40">
                  <a:extLst>
                    <a:ext uri="{FF2B5EF4-FFF2-40B4-BE49-F238E27FC236}">
                      <a16:creationId xmlns:a16="http://schemas.microsoft.com/office/drawing/2014/main" id="{29C6996D-4A45-2A28-1BC5-86C627AEEE09}"/>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AAA4A89-955E-F0CD-D49B-65DCE9704042}"/>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C3E32FF3-6628-2EAE-4402-1761742788BB}"/>
                </a:ext>
              </a:extLst>
            </p:cNvPr>
            <p:cNvSpPr txBox="1"/>
            <p:nvPr/>
          </p:nvSpPr>
          <p:spPr>
            <a:xfrm>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A7EDA4D7-9D6E-2538-D118-0CF3C7A07B2C}"/>
                </a:ext>
              </a:extLst>
            </p:cNvPr>
            <p:cNvSpPr txBox="1"/>
            <p:nvPr/>
          </p:nvSpPr>
          <p:spPr>
            <a:xfrm>
              <a:off x="8429728"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F8537209-1BFE-DD3E-1644-0C4F5A406581}"/>
                </a:ext>
              </a:extLst>
            </p:cNvPr>
            <p:cNvSpPr txBox="1"/>
            <p:nvPr/>
          </p:nvSpPr>
          <p:spPr>
            <a:xfrm>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33726CEC-F2FA-8A6E-91DB-EFF5D1AAD504}"/>
                </a:ext>
              </a:extLst>
            </p:cNvPr>
            <p:cNvSpPr txBox="1"/>
            <p:nvPr/>
          </p:nvSpPr>
          <p:spPr>
            <a:xfrm>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73EA5AA3-CA2E-80AB-AD34-7751B8911B8E}"/>
                </a:ext>
              </a:extLst>
            </p:cNvPr>
            <p:cNvSpPr txBox="1"/>
            <p:nvPr/>
          </p:nvSpPr>
          <p:spPr>
            <a:xfrm>
              <a:off x="6054703"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A10C3353-5CC5-6553-9B06-81A0E89CB861}"/>
                </a:ext>
              </a:extLst>
            </p:cNvPr>
            <p:cNvSpPr txBox="1"/>
            <p:nvPr/>
          </p:nvSpPr>
          <p:spPr>
            <a:xfrm>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3011870"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6804" y="1028700"/>
            <a:ext cx="472496" cy="541606"/>
            <a:chOff x="0" y="0"/>
            <a:chExt cx="1243443" cy="1425315"/>
          </a:xfrm>
        </p:grpSpPr>
        <p:sp>
          <p:nvSpPr>
            <p:cNvPr id="23" name="Freeform 23"/>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26" name="TextBox 27">
            <a:extLst>
              <a:ext uri="{FF2B5EF4-FFF2-40B4-BE49-F238E27FC236}">
                <a16:creationId xmlns:a16="http://schemas.microsoft.com/office/drawing/2014/main" id="{5DE0A388-4166-FD3F-242D-9E684E049E95}"/>
              </a:ext>
            </a:extLst>
          </p:cNvPr>
          <p:cNvSpPr txBox="1"/>
          <p:nvPr/>
        </p:nvSpPr>
        <p:spPr>
          <a:xfrm>
            <a:off x="8009722" y="5713607"/>
            <a:ext cx="9547347" cy="2193999"/>
          </a:xfrm>
          <a:prstGeom prst="rect">
            <a:avLst/>
          </a:prstGeom>
        </p:spPr>
        <p:txBody>
          <a:bodyPr wrap="square"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Đảm bảo tính nhất quán</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Loại bỏ sự khác biệt không cần thiết (không - Không)</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Giảm dư thừa trong vector đặc trưng</a:t>
            </a:r>
          </a:p>
        </p:txBody>
      </p:sp>
      <p:pic>
        <p:nvPicPr>
          <p:cNvPr id="44" name="Picture 43" descr="A screenshot of a computer code&#10;&#10;AI-generated content may be incorrect.">
            <a:extLst>
              <a:ext uri="{FF2B5EF4-FFF2-40B4-BE49-F238E27FC236}">
                <a16:creationId xmlns:a16="http://schemas.microsoft.com/office/drawing/2014/main" id="{3A27EC9E-6514-F758-D185-E17BF1CCBFE7}"/>
              </a:ext>
            </a:extLst>
          </p:cNvPr>
          <p:cNvPicPr>
            <a:picLocks noChangeAspect="1"/>
          </p:cNvPicPr>
          <p:nvPr/>
        </p:nvPicPr>
        <p:blipFill>
          <a:blip r:embed="rId3"/>
          <a:stretch>
            <a:fillRect/>
          </a:stretch>
        </p:blipFill>
        <p:spPr>
          <a:xfrm>
            <a:off x="8353037" y="2342029"/>
            <a:ext cx="8860718" cy="3072909"/>
          </a:xfrm>
          <a:prstGeom prst="rect">
            <a:avLst/>
          </a:prstGeom>
        </p:spPr>
      </p:pic>
      <p:sp>
        <p:nvSpPr>
          <p:cNvPr id="54" name="Rectangle 53">
            <a:extLst>
              <a:ext uri="{FF2B5EF4-FFF2-40B4-BE49-F238E27FC236}">
                <a16:creationId xmlns:a16="http://schemas.microsoft.com/office/drawing/2014/main" id="{F657A72D-C31C-D9C5-CD2C-C1CBD507C3FD}"/>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5" name="TextBox 25">
            <a:extLst>
              <a:ext uri="{FF2B5EF4-FFF2-40B4-BE49-F238E27FC236}">
                <a16:creationId xmlns:a16="http://schemas.microsoft.com/office/drawing/2014/main" id="{CF48BC3F-4258-AE08-115A-F56FC9B37DC8}"/>
              </a:ext>
            </a:extLst>
          </p:cNvPr>
          <p:cNvSpPr txBox="1"/>
          <p:nvPr/>
        </p:nvSpPr>
        <p:spPr>
          <a:xfrm>
            <a:off x="3342398" y="3426836"/>
            <a:ext cx="4052819" cy="2092304"/>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Chuyển thành chữ thường</a:t>
            </a: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1EAFC-F3EB-FC10-7235-F827DC260F95}"/>
            </a:ext>
          </a:extLst>
        </p:cNvPr>
        <p:cNvGrpSpPr/>
        <p:nvPr/>
      </p:nvGrpSpPr>
      <p:grpSpPr>
        <a:xfrm>
          <a:off x="0" y="0"/>
          <a:ext cx="0" cy="0"/>
          <a:chOff x="0" y="0"/>
          <a:chExt cx="0" cy="0"/>
        </a:xfrm>
      </p:grpSpPr>
      <p:grpSp>
        <p:nvGrpSpPr>
          <p:cNvPr id="52" name="Group 51">
            <a:extLst>
              <a:ext uri="{FF2B5EF4-FFF2-40B4-BE49-F238E27FC236}">
                <a16:creationId xmlns:a16="http://schemas.microsoft.com/office/drawing/2014/main" id="{E9595804-480B-689C-75ED-4E7E2FB2B7EB}"/>
              </a:ext>
            </a:extLst>
          </p:cNvPr>
          <p:cNvGrpSpPr/>
          <p:nvPr/>
        </p:nvGrpSpPr>
        <p:grpSpPr>
          <a:xfrm rot="18000000">
            <a:off x="-2960767" y="2085975"/>
            <a:ext cx="5921534" cy="5922855"/>
            <a:chOff x="4566668" y="2376469"/>
            <a:chExt cx="5921534" cy="5922855"/>
          </a:xfrm>
        </p:grpSpPr>
        <p:grpSp>
          <p:nvGrpSpPr>
            <p:cNvPr id="46" name="Group 45">
              <a:extLst>
                <a:ext uri="{FF2B5EF4-FFF2-40B4-BE49-F238E27FC236}">
                  <a16:creationId xmlns:a16="http://schemas.microsoft.com/office/drawing/2014/main" id="{CAFF0B58-D134-2A41-9460-C843972EB6DD}"/>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B0074DE9-DCEA-B164-5508-AB86DFA5C358}"/>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A839BD0F-7812-A8AF-95DB-CE525E7FEB41}"/>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A1B105BA-CB31-48CA-B331-3E591E42A9C3}"/>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C7A00CF5-76CB-B90D-C2A3-9BCAE7D6EC99}"/>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FD8AFAA2-15BD-BA9D-01B0-F4BBC0249CFF}"/>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A4624477-5A41-067D-145C-8440A94981EC}"/>
                    </a:ext>
                  </a:extLst>
                </p:cNvPr>
                <p:cNvSpPr/>
                <p:nvPr/>
              </p:nvSpPr>
              <p:spPr>
                <a:xfrm>
                  <a:off x="7908210" y="2149885"/>
                  <a:ext cx="1371600" cy="13716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13ED9C7B-AAD1-3AA4-A792-FFF6DB4ACACA}"/>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CFD74BEC-E880-371D-E143-143615C8C636}"/>
                  </a:ext>
                </a:extLst>
              </p:cNvPr>
              <p:cNvGrpSpPr/>
              <p:nvPr/>
            </p:nvGrpSpPr>
            <p:grpSpPr>
              <a:xfrm rot="9000000">
                <a:off x="6941933" y="2376469"/>
                <a:ext cx="1171480" cy="5921534"/>
                <a:chOff x="7908210" y="2149885"/>
                <a:chExt cx="1371600" cy="6933087"/>
              </a:xfrm>
            </p:grpSpPr>
            <p:sp>
              <p:nvSpPr>
                <p:cNvPr id="41" name="Oval 40">
                  <a:extLst>
                    <a:ext uri="{FF2B5EF4-FFF2-40B4-BE49-F238E27FC236}">
                      <a16:creationId xmlns:a16="http://schemas.microsoft.com/office/drawing/2014/main" id="{292D1D7F-14C3-A8FA-B46C-84B2645736B5}"/>
                    </a:ext>
                  </a:extLst>
                </p:cNvPr>
                <p:cNvSpPr/>
                <p:nvPr/>
              </p:nvSpPr>
              <p:spPr>
                <a:xfrm>
                  <a:off x="7908210" y="2149885"/>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410E19C5-5202-7E6B-4873-FA9BB343FA4D}"/>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51D041FC-B557-8B54-2CD1-68BCA66ACC89}"/>
                </a:ext>
              </a:extLst>
            </p:cNvPr>
            <p:cNvSpPr txBox="1"/>
            <p:nvPr/>
          </p:nvSpPr>
          <p:spPr>
            <a:xfrm rot="3600000">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43E34BA8-99AA-B4E8-D91E-D5D205FE2D04}"/>
                </a:ext>
              </a:extLst>
            </p:cNvPr>
            <p:cNvSpPr txBox="1"/>
            <p:nvPr/>
          </p:nvSpPr>
          <p:spPr>
            <a:xfrm rot="3600000">
              <a:off x="8429727"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C3B8883D-DFC3-BBC8-8C92-94218A2452C3}"/>
                </a:ext>
              </a:extLst>
            </p:cNvPr>
            <p:cNvSpPr txBox="1"/>
            <p:nvPr/>
          </p:nvSpPr>
          <p:spPr>
            <a:xfrm rot="3600000">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71562B96-92BF-40CA-70EE-C575278F3E95}"/>
                </a:ext>
              </a:extLst>
            </p:cNvPr>
            <p:cNvSpPr txBox="1"/>
            <p:nvPr/>
          </p:nvSpPr>
          <p:spPr>
            <a:xfrm rot="3600000">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0A5DA81A-7192-E32E-F42E-1D0604238F71}"/>
                </a:ext>
              </a:extLst>
            </p:cNvPr>
            <p:cNvSpPr txBox="1"/>
            <p:nvPr/>
          </p:nvSpPr>
          <p:spPr>
            <a:xfrm rot="3600000">
              <a:off x="6054702"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44900BCC-949E-5EFA-1985-174226812DEC}"/>
                </a:ext>
              </a:extLst>
            </p:cNvPr>
            <p:cNvSpPr txBox="1"/>
            <p:nvPr/>
          </p:nvSpPr>
          <p:spPr>
            <a:xfrm rot="3600000">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a:extLst>
              <a:ext uri="{FF2B5EF4-FFF2-40B4-BE49-F238E27FC236}">
                <a16:creationId xmlns:a16="http://schemas.microsoft.com/office/drawing/2014/main" id="{FDD74B8F-C6EE-497D-3977-95C1BB156255}"/>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113F9214-BEDF-F2C8-A76D-CC15BC83195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760A9010-9E39-150D-EE35-54F0EC46DB4C}"/>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9227BE6D-0069-F32D-ECB4-185D6296F22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ED7CE98B-6CD3-16F5-01EC-BBC3688500AD}"/>
              </a:ext>
            </a:extLst>
          </p:cNvPr>
          <p:cNvGrpSpPr/>
          <p:nvPr/>
        </p:nvGrpSpPr>
        <p:grpSpPr>
          <a:xfrm>
            <a:off x="3011870" y="9113698"/>
            <a:ext cx="140028" cy="140028"/>
            <a:chOff x="0" y="0"/>
            <a:chExt cx="6350000" cy="6350000"/>
          </a:xfrm>
        </p:grpSpPr>
        <p:sp>
          <p:nvSpPr>
            <p:cNvPr id="7" name="Freeform 7">
              <a:extLst>
                <a:ext uri="{FF2B5EF4-FFF2-40B4-BE49-F238E27FC236}">
                  <a16:creationId xmlns:a16="http://schemas.microsoft.com/office/drawing/2014/main" id="{F0AEDB8F-7C5F-FF5A-66CA-158EADD5319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78DFA92B-8001-0BE5-C8E3-A8F01744EF57}"/>
              </a:ext>
            </a:extLst>
          </p:cNvPr>
          <p:cNvGrpSpPr/>
          <p:nvPr/>
        </p:nvGrpSpPr>
        <p:grpSpPr>
          <a:xfrm>
            <a:off x="2350813" y="9113698"/>
            <a:ext cx="140028" cy="140028"/>
            <a:chOff x="0" y="0"/>
            <a:chExt cx="6350000" cy="6350000"/>
          </a:xfrm>
        </p:grpSpPr>
        <p:sp>
          <p:nvSpPr>
            <p:cNvPr id="9" name="Freeform 9">
              <a:extLst>
                <a:ext uri="{FF2B5EF4-FFF2-40B4-BE49-F238E27FC236}">
                  <a16:creationId xmlns:a16="http://schemas.microsoft.com/office/drawing/2014/main" id="{9B85120A-0E2C-0060-0BC2-C795659F6FF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A3F95EF7-715F-CB09-45F1-5B55F79C93FF}"/>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5840B4CB-7DF2-B8B8-1180-50EC32C77EA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1D2DCC06-6F79-8959-8BC0-260E99F6FE35}"/>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FEFABB39-606F-1A54-9DDF-A91AB39AA2B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375452C6-4F4D-A1FE-7FF6-36C758C0BBD2}"/>
              </a:ext>
            </a:extLst>
          </p:cNvPr>
          <p:cNvGrpSpPr/>
          <p:nvPr/>
        </p:nvGrpSpPr>
        <p:grpSpPr>
          <a:xfrm>
            <a:off x="2020285" y="9113698"/>
            <a:ext cx="140028" cy="140028"/>
            <a:chOff x="0" y="0"/>
            <a:chExt cx="6350000" cy="6350000"/>
          </a:xfrm>
        </p:grpSpPr>
        <p:sp>
          <p:nvSpPr>
            <p:cNvPr id="15" name="Freeform 15">
              <a:extLst>
                <a:ext uri="{FF2B5EF4-FFF2-40B4-BE49-F238E27FC236}">
                  <a16:creationId xmlns:a16="http://schemas.microsoft.com/office/drawing/2014/main" id="{DC06BB44-30F6-CD0A-1043-AD9C67F954E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420FDC35-4C4B-DCF8-1789-E52E36D8418C}"/>
              </a:ext>
            </a:extLst>
          </p:cNvPr>
          <p:cNvGrpSpPr/>
          <p:nvPr/>
        </p:nvGrpSpPr>
        <p:grpSpPr>
          <a:xfrm>
            <a:off x="2681342" y="9113698"/>
            <a:ext cx="140028" cy="140028"/>
            <a:chOff x="0" y="0"/>
            <a:chExt cx="6350000" cy="6350000"/>
          </a:xfrm>
        </p:grpSpPr>
        <p:sp>
          <p:nvSpPr>
            <p:cNvPr id="17" name="Freeform 17">
              <a:extLst>
                <a:ext uri="{FF2B5EF4-FFF2-40B4-BE49-F238E27FC236}">
                  <a16:creationId xmlns:a16="http://schemas.microsoft.com/office/drawing/2014/main" id="{67D8AE78-7159-BB67-602C-A65791D388D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E2259F7C-53FF-2BC9-6A5D-E6C75F78F900}"/>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27C36F8A-FDD2-BFB5-68D2-981DC056E20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41391437-6340-CA99-7CAC-D3E611BF5AAD}"/>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AFC3E332-0092-AFF3-4655-A33620E35F8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BCA0772D-DFD3-B16B-D1EE-AC07821D0520}"/>
              </a:ext>
            </a:extLst>
          </p:cNvPr>
          <p:cNvGrpSpPr/>
          <p:nvPr/>
        </p:nvGrpSpPr>
        <p:grpSpPr>
          <a:xfrm>
            <a:off x="16786804" y="1028700"/>
            <a:ext cx="472496" cy="541606"/>
            <a:chOff x="0" y="0"/>
            <a:chExt cx="1243443" cy="1425315"/>
          </a:xfrm>
        </p:grpSpPr>
        <p:sp>
          <p:nvSpPr>
            <p:cNvPr id="23" name="Freeform 23">
              <a:extLst>
                <a:ext uri="{FF2B5EF4-FFF2-40B4-BE49-F238E27FC236}">
                  <a16:creationId xmlns:a16="http://schemas.microsoft.com/office/drawing/2014/main" id="{2B1AAED6-6733-C2F3-B23B-4BA6F657872D}"/>
                </a:ext>
              </a:extLst>
            </p:cNvPr>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99B536E2-352B-D616-B9B0-2E154F26D1B0}"/>
                </a:ext>
              </a:extLst>
            </p:cNvPr>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a:extLst>
              <a:ext uri="{FF2B5EF4-FFF2-40B4-BE49-F238E27FC236}">
                <a16:creationId xmlns:a16="http://schemas.microsoft.com/office/drawing/2014/main" id="{82E0962A-7256-1B61-331A-B93843A09606}"/>
              </a:ext>
            </a:extLst>
          </p:cNvPr>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a:extLst>
              <a:ext uri="{FF2B5EF4-FFF2-40B4-BE49-F238E27FC236}">
                <a16:creationId xmlns:a16="http://schemas.microsoft.com/office/drawing/2014/main" id="{138A419D-244F-699A-4871-332241118840}"/>
              </a:ext>
            </a:extLst>
          </p:cNvPr>
          <p:cNvGrpSpPr/>
          <p:nvPr/>
        </p:nvGrpSpPr>
        <p:grpSpPr>
          <a:xfrm>
            <a:off x="4333983" y="9118272"/>
            <a:ext cx="140028" cy="140028"/>
            <a:chOff x="0" y="0"/>
            <a:chExt cx="6350000" cy="6350000"/>
          </a:xfrm>
        </p:grpSpPr>
        <p:sp>
          <p:nvSpPr>
            <p:cNvPr id="28" name="Freeform 28">
              <a:extLst>
                <a:ext uri="{FF2B5EF4-FFF2-40B4-BE49-F238E27FC236}">
                  <a16:creationId xmlns:a16="http://schemas.microsoft.com/office/drawing/2014/main" id="{D60C4F5F-408A-C078-58EB-D9B5BDFA357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a:extLst>
              <a:ext uri="{FF2B5EF4-FFF2-40B4-BE49-F238E27FC236}">
                <a16:creationId xmlns:a16="http://schemas.microsoft.com/office/drawing/2014/main" id="{D5AAD1D3-17DB-EF42-9613-8F95CC883048}"/>
              </a:ext>
            </a:extLst>
          </p:cNvPr>
          <p:cNvGrpSpPr/>
          <p:nvPr/>
        </p:nvGrpSpPr>
        <p:grpSpPr>
          <a:xfrm>
            <a:off x="4664512" y="9122846"/>
            <a:ext cx="140028" cy="140028"/>
            <a:chOff x="0" y="0"/>
            <a:chExt cx="6350000" cy="6350000"/>
          </a:xfrm>
        </p:grpSpPr>
        <p:sp>
          <p:nvSpPr>
            <p:cNvPr id="30" name="Freeform 30">
              <a:extLst>
                <a:ext uri="{FF2B5EF4-FFF2-40B4-BE49-F238E27FC236}">
                  <a16:creationId xmlns:a16="http://schemas.microsoft.com/office/drawing/2014/main" id="{48B49338-0697-D2F7-B4F0-DBD25FED591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a:extLst>
              <a:ext uri="{FF2B5EF4-FFF2-40B4-BE49-F238E27FC236}">
                <a16:creationId xmlns:a16="http://schemas.microsoft.com/office/drawing/2014/main" id="{5F39CFA9-1E8E-F1FB-5043-1E1CBB685320}"/>
              </a:ext>
            </a:extLst>
          </p:cNvPr>
          <p:cNvGrpSpPr/>
          <p:nvPr/>
        </p:nvGrpSpPr>
        <p:grpSpPr>
          <a:xfrm>
            <a:off x="4995040" y="9127420"/>
            <a:ext cx="140028" cy="140028"/>
            <a:chOff x="0" y="0"/>
            <a:chExt cx="6350000" cy="6350000"/>
          </a:xfrm>
        </p:grpSpPr>
        <p:sp>
          <p:nvSpPr>
            <p:cNvPr id="32" name="Freeform 32">
              <a:extLst>
                <a:ext uri="{FF2B5EF4-FFF2-40B4-BE49-F238E27FC236}">
                  <a16:creationId xmlns:a16="http://schemas.microsoft.com/office/drawing/2014/main" id="{34E3B3AC-E350-94CE-5FCF-C97E8FEA61B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44" name="Rectangle 43">
            <a:extLst>
              <a:ext uri="{FF2B5EF4-FFF2-40B4-BE49-F238E27FC236}">
                <a16:creationId xmlns:a16="http://schemas.microsoft.com/office/drawing/2014/main" id="{9D0FB627-B26D-2061-04DB-98E72AB987CF}"/>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5" name="TextBox 25">
            <a:extLst>
              <a:ext uri="{FF2B5EF4-FFF2-40B4-BE49-F238E27FC236}">
                <a16:creationId xmlns:a16="http://schemas.microsoft.com/office/drawing/2014/main" id="{19A8C9D5-2393-D269-E20E-BAAFF9B14FFC}"/>
              </a:ext>
            </a:extLst>
          </p:cNvPr>
          <p:cNvSpPr txBox="1"/>
          <p:nvPr/>
        </p:nvSpPr>
        <p:spPr>
          <a:xfrm>
            <a:off x="3314916" y="3977983"/>
            <a:ext cx="4052819" cy="2137765"/>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Chuẩn hóa lặp ký tự</a:t>
            </a:r>
          </a:p>
        </p:txBody>
      </p:sp>
      <p:pic>
        <p:nvPicPr>
          <p:cNvPr id="53" name="Picture 52" descr="A white background with black and red text&#10;&#10;AI-generated content may be incorrect.">
            <a:extLst>
              <a:ext uri="{FF2B5EF4-FFF2-40B4-BE49-F238E27FC236}">
                <a16:creationId xmlns:a16="http://schemas.microsoft.com/office/drawing/2014/main" id="{C400A4E8-9810-AABA-7E95-5314628E1DAB}"/>
              </a:ext>
            </a:extLst>
          </p:cNvPr>
          <p:cNvPicPr>
            <a:picLocks noChangeAspect="1"/>
          </p:cNvPicPr>
          <p:nvPr/>
        </p:nvPicPr>
        <p:blipFill>
          <a:blip r:embed="rId3"/>
          <a:stretch>
            <a:fillRect/>
          </a:stretch>
        </p:blipFill>
        <p:spPr>
          <a:xfrm>
            <a:off x="8489583" y="2536260"/>
            <a:ext cx="8204971" cy="2698674"/>
          </a:xfrm>
          <a:prstGeom prst="rect">
            <a:avLst/>
          </a:prstGeom>
        </p:spPr>
      </p:pic>
      <p:sp>
        <p:nvSpPr>
          <p:cNvPr id="56" name="TextBox 27">
            <a:extLst>
              <a:ext uri="{FF2B5EF4-FFF2-40B4-BE49-F238E27FC236}">
                <a16:creationId xmlns:a16="http://schemas.microsoft.com/office/drawing/2014/main" id="{EFACFC5A-B2F7-B235-E5B0-D6D5C3FD236A}"/>
              </a:ext>
            </a:extLst>
          </p:cNvPr>
          <p:cNvSpPr txBox="1"/>
          <p:nvPr/>
        </p:nvSpPr>
        <p:spPr>
          <a:xfrm>
            <a:off x="8353038" y="5632893"/>
            <a:ext cx="8478063" cy="670505"/>
          </a:xfrm>
          <a:prstGeom prst="rect">
            <a:avLst/>
          </a:prstGeom>
        </p:spPr>
        <p:txBody>
          <a:bodyPr wrap="square" lIns="0" tIns="0" rIns="0" bIns="0" rtlCol="0" anchor="t">
            <a:spAutoFit/>
          </a:bodyPr>
          <a:lstStyle/>
          <a:p>
            <a:pPr marL="518160" lvl="1" indent="-259080" algn="l">
              <a:lnSpc>
                <a:spcPct val="150000"/>
              </a:lnSpc>
              <a:buFont typeface="Arial"/>
              <a:buChar char="•"/>
            </a:pPr>
            <a:r>
              <a:rPr lang="vi-VN" sz="3300">
                <a:solidFill>
                  <a:srgbClr val="A6A6A6"/>
                </a:solidFill>
                <a:latin typeface="Times New Roman" panose="02020603050405020304" pitchFamily="18" charset="0"/>
                <a:ea typeface="Garet"/>
                <a:cs typeface="Times New Roman" panose="02020603050405020304" pitchFamily="18" charset="0"/>
                <a:sym typeface="Garet"/>
              </a:rPr>
              <a:t>Giảm nhiễu và tối ưu hóa dữ liệu</a:t>
            </a:r>
            <a:endParaRPr lang="en-US" sz="3300">
              <a:solidFill>
                <a:srgbClr val="A6A6A6"/>
              </a:solidFill>
              <a:latin typeface="Times New Roman" panose="02020603050405020304" pitchFamily="18" charset="0"/>
              <a:ea typeface="Garet"/>
              <a:cs typeface="Times New Roman" panose="02020603050405020304" pitchFamily="18" charset="0"/>
              <a:sym typeface="Garet"/>
            </a:endParaRPr>
          </a:p>
        </p:txBody>
      </p:sp>
    </p:spTree>
    <p:extLst>
      <p:ext uri="{BB962C8B-B14F-4D97-AF65-F5344CB8AC3E}">
        <p14:creationId xmlns:p14="http://schemas.microsoft.com/office/powerpoint/2010/main" val="4198507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2FA1E-499D-5FC4-54DD-324E150F2880}"/>
            </a:ext>
          </a:extLst>
        </p:cNvPr>
        <p:cNvGrpSpPr/>
        <p:nvPr/>
      </p:nvGrpSpPr>
      <p:grpSpPr>
        <a:xfrm>
          <a:off x="0" y="0"/>
          <a:ext cx="0" cy="0"/>
          <a:chOff x="0" y="0"/>
          <a:chExt cx="0" cy="0"/>
        </a:xfrm>
      </p:grpSpPr>
      <p:grpSp>
        <p:nvGrpSpPr>
          <p:cNvPr id="52" name="Group 51">
            <a:extLst>
              <a:ext uri="{FF2B5EF4-FFF2-40B4-BE49-F238E27FC236}">
                <a16:creationId xmlns:a16="http://schemas.microsoft.com/office/drawing/2014/main" id="{05067305-18A6-4ECE-8590-876FB468F35D}"/>
              </a:ext>
            </a:extLst>
          </p:cNvPr>
          <p:cNvGrpSpPr/>
          <p:nvPr/>
        </p:nvGrpSpPr>
        <p:grpSpPr>
          <a:xfrm rot="14400000">
            <a:off x="-2960767" y="2085975"/>
            <a:ext cx="5921534" cy="5922855"/>
            <a:chOff x="4566668" y="2376469"/>
            <a:chExt cx="5921534" cy="5922855"/>
          </a:xfrm>
        </p:grpSpPr>
        <p:grpSp>
          <p:nvGrpSpPr>
            <p:cNvPr id="46" name="Group 45">
              <a:extLst>
                <a:ext uri="{FF2B5EF4-FFF2-40B4-BE49-F238E27FC236}">
                  <a16:creationId xmlns:a16="http://schemas.microsoft.com/office/drawing/2014/main" id="{1A8B9A11-4257-FC47-D80A-E4B19A41840D}"/>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3598A3C4-A8A3-14E8-B435-ED0F4F4EAE0D}"/>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A417F641-AEF0-0370-929C-BF4B0F73B423}"/>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08F67FDA-C601-F1F3-2944-6824C2292E97}"/>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7ACC3B65-6FDB-DF9E-4DB4-AEBB1950D069}"/>
                    </a:ext>
                  </a:extLst>
                </p:cNvPr>
                <p:cNvSpPr/>
                <p:nvPr/>
              </p:nvSpPr>
              <p:spPr>
                <a:xfrm>
                  <a:off x="7908210" y="7711372"/>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B2A3777E-64D2-A6D4-04A2-BB2303B7AD88}"/>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AA2EC344-5117-A3C7-E270-E8B54A128EF5}"/>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322B82FD-CC20-A6E3-EB61-1F239990723E}"/>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3F1DAE40-9F7E-7805-FFB2-A202BCFB5FA4}"/>
                  </a:ext>
                </a:extLst>
              </p:cNvPr>
              <p:cNvGrpSpPr/>
              <p:nvPr/>
            </p:nvGrpSpPr>
            <p:grpSpPr>
              <a:xfrm rot="9000000">
                <a:off x="6941933" y="2376469"/>
                <a:ext cx="1171480" cy="5921534"/>
                <a:chOff x="7908210" y="2149885"/>
                <a:chExt cx="1371600" cy="6933087"/>
              </a:xfrm>
            </p:grpSpPr>
            <p:sp>
              <p:nvSpPr>
                <p:cNvPr id="41" name="Oval 40">
                  <a:extLst>
                    <a:ext uri="{FF2B5EF4-FFF2-40B4-BE49-F238E27FC236}">
                      <a16:creationId xmlns:a16="http://schemas.microsoft.com/office/drawing/2014/main" id="{96CE808D-D637-6EBD-CB98-74A0C48091EC}"/>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C393128A-4216-6B35-DDFB-89EE6E786828}"/>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48E926DB-896F-BD3B-FC44-9B139E166270}"/>
                </a:ext>
              </a:extLst>
            </p:cNvPr>
            <p:cNvSpPr txBox="1"/>
            <p:nvPr/>
          </p:nvSpPr>
          <p:spPr>
            <a:xfrm rot="7200000">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6752785D-322D-D526-F0A9-F24A0D538585}"/>
                </a:ext>
              </a:extLst>
            </p:cNvPr>
            <p:cNvSpPr txBox="1"/>
            <p:nvPr/>
          </p:nvSpPr>
          <p:spPr>
            <a:xfrm rot="7200000">
              <a:off x="8429728"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EF460D5A-7871-9D95-D544-6E709C5FAA6B}"/>
                </a:ext>
              </a:extLst>
            </p:cNvPr>
            <p:cNvSpPr txBox="1"/>
            <p:nvPr/>
          </p:nvSpPr>
          <p:spPr>
            <a:xfrm rot="7200000">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676ADB8F-9C62-F775-8593-7AB6174E8299}"/>
                </a:ext>
              </a:extLst>
            </p:cNvPr>
            <p:cNvSpPr txBox="1"/>
            <p:nvPr/>
          </p:nvSpPr>
          <p:spPr>
            <a:xfrm rot="7200000">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4BCE4002-7552-E4F4-75AA-8BADEC176F6B}"/>
                </a:ext>
              </a:extLst>
            </p:cNvPr>
            <p:cNvSpPr txBox="1"/>
            <p:nvPr/>
          </p:nvSpPr>
          <p:spPr>
            <a:xfrm rot="7200000">
              <a:off x="6054703"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18C7561B-F9BC-CD75-22E7-162053133914}"/>
                </a:ext>
              </a:extLst>
            </p:cNvPr>
            <p:cNvSpPr txBox="1"/>
            <p:nvPr/>
          </p:nvSpPr>
          <p:spPr>
            <a:xfrm rot="7200000">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a:extLst>
              <a:ext uri="{FF2B5EF4-FFF2-40B4-BE49-F238E27FC236}">
                <a16:creationId xmlns:a16="http://schemas.microsoft.com/office/drawing/2014/main" id="{D5079FED-45D0-5064-23CA-D2B7630A52A6}"/>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0B895410-F1F8-6D93-2A30-01903484DA3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26480137-3297-B254-8FAD-36E9CFAF38A7}"/>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687FB2B5-6F0C-A9FB-A783-4E77D111B7E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E5B46C09-4CCB-6CA2-7AD6-F6F88FDEA0CE}"/>
              </a:ext>
            </a:extLst>
          </p:cNvPr>
          <p:cNvGrpSpPr/>
          <p:nvPr/>
        </p:nvGrpSpPr>
        <p:grpSpPr>
          <a:xfrm>
            <a:off x="3011870" y="9113698"/>
            <a:ext cx="140028" cy="140028"/>
            <a:chOff x="0" y="0"/>
            <a:chExt cx="6350000" cy="6350000"/>
          </a:xfrm>
        </p:grpSpPr>
        <p:sp>
          <p:nvSpPr>
            <p:cNvPr id="7" name="Freeform 7">
              <a:extLst>
                <a:ext uri="{FF2B5EF4-FFF2-40B4-BE49-F238E27FC236}">
                  <a16:creationId xmlns:a16="http://schemas.microsoft.com/office/drawing/2014/main" id="{5CF7678C-5E7A-15B8-8E4E-97AB54DCF2F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4BD70866-CD6C-4414-0CC4-E5A47886B148}"/>
              </a:ext>
            </a:extLst>
          </p:cNvPr>
          <p:cNvGrpSpPr/>
          <p:nvPr/>
        </p:nvGrpSpPr>
        <p:grpSpPr>
          <a:xfrm>
            <a:off x="2350813" y="9113698"/>
            <a:ext cx="140028" cy="140028"/>
            <a:chOff x="0" y="0"/>
            <a:chExt cx="6350000" cy="6350000"/>
          </a:xfrm>
        </p:grpSpPr>
        <p:sp>
          <p:nvSpPr>
            <p:cNvPr id="9" name="Freeform 9">
              <a:extLst>
                <a:ext uri="{FF2B5EF4-FFF2-40B4-BE49-F238E27FC236}">
                  <a16:creationId xmlns:a16="http://schemas.microsoft.com/office/drawing/2014/main" id="{540F7673-0941-DDD4-5C9E-6E0EF395B00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4D19B0A4-E3B5-3690-88A2-CA0AAE3A1128}"/>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89AA19E8-BABA-25F6-17A1-AE782D69879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894A7F88-7AD8-0778-4834-EAC6FACA0866}"/>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5E4DF393-A99E-794B-4B22-AA57A219D2E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33D23937-361D-4FB8-1378-EC0E6CB11AB3}"/>
              </a:ext>
            </a:extLst>
          </p:cNvPr>
          <p:cNvGrpSpPr/>
          <p:nvPr/>
        </p:nvGrpSpPr>
        <p:grpSpPr>
          <a:xfrm>
            <a:off x="2020285" y="9113698"/>
            <a:ext cx="140028" cy="140028"/>
            <a:chOff x="0" y="0"/>
            <a:chExt cx="6350000" cy="6350000"/>
          </a:xfrm>
        </p:grpSpPr>
        <p:sp>
          <p:nvSpPr>
            <p:cNvPr id="15" name="Freeform 15">
              <a:extLst>
                <a:ext uri="{FF2B5EF4-FFF2-40B4-BE49-F238E27FC236}">
                  <a16:creationId xmlns:a16="http://schemas.microsoft.com/office/drawing/2014/main" id="{EEEA3622-77DE-FAA1-6211-8723A599FF3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4675CC29-B22B-20FC-EB1A-925BA008C0D6}"/>
              </a:ext>
            </a:extLst>
          </p:cNvPr>
          <p:cNvGrpSpPr/>
          <p:nvPr/>
        </p:nvGrpSpPr>
        <p:grpSpPr>
          <a:xfrm>
            <a:off x="2681342" y="9113698"/>
            <a:ext cx="140028" cy="140028"/>
            <a:chOff x="0" y="0"/>
            <a:chExt cx="6350000" cy="6350000"/>
          </a:xfrm>
        </p:grpSpPr>
        <p:sp>
          <p:nvSpPr>
            <p:cNvPr id="17" name="Freeform 17">
              <a:extLst>
                <a:ext uri="{FF2B5EF4-FFF2-40B4-BE49-F238E27FC236}">
                  <a16:creationId xmlns:a16="http://schemas.microsoft.com/office/drawing/2014/main" id="{1A21C044-7F54-B6C0-E634-99DF4C6EB8C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10B6E6FF-CFA4-3632-7641-3DCDAEFBB90A}"/>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D3F859A7-6667-6F31-FC15-35D0D416E90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D8D62D0F-8842-F929-7352-B2A20C90AA61}"/>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B21EDC14-B631-B53C-61BF-D2DF34DD847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DAD04544-3F53-25E0-F583-4844EFD34744}"/>
              </a:ext>
            </a:extLst>
          </p:cNvPr>
          <p:cNvGrpSpPr/>
          <p:nvPr/>
        </p:nvGrpSpPr>
        <p:grpSpPr>
          <a:xfrm>
            <a:off x="16786804" y="1028700"/>
            <a:ext cx="472496" cy="541606"/>
            <a:chOff x="0" y="0"/>
            <a:chExt cx="1243443" cy="1425315"/>
          </a:xfrm>
        </p:grpSpPr>
        <p:sp>
          <p:nvSpPr>
            <p:cNvPr id="23" name="Freeform 23">
              <a:extLst>
                <a:ext uri="{FF2B5EF4-FFF2-40B4-BE49-F238E27FC236}">
                  <a16:creationId xmlns:a16="http://schemas.microsoft.com/office/drawing/2014/main" id="{1D66754D-7C60-4B05-D9B4-6A733B30DFE3}"/>
                </a:ext>
              </a:extLst>
            </p:cNvPr>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F4AA31DE-9E56-9D62-3AFF-20782D48CDB1}"/>
                </a:ext>
              </a:extLst>
            </p:cNvPr>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a:extLst>
              <a:ext uri="{FF2B5EF4-FFF2-40B4-BE49-F238E27FC236}">
                <a16:creationId xmlns:a16="http://schemas.microsoft.com/office/drawing/2014/main" id="{F4126808-03AA-2076-106F-BF1025DACC54}"/>
              </a:ext>
            </a:extLst>
          </p:cNvPr>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a:extLst>
              <a:ext uri="{FF2B5EF4-FFF2-40B4-BE49-F238E27FC236}">
                <a16:creationId xmlns:a16="http://schemas.microsoft.com/office/drawing/2014/main" id="{0BAFD9B5-BC9D-D452-04A0-4ED28832E05D}"/>
              </a:ext>
            </a:extLst>
          </p:cNvPr>
          <p:cNvGrpSpPr/>
          <p:nvPr/>
        </p:nvGrpSpPr>
        <p:grpSpPr>
          <a:xfrm>
            <a:off x="4333983" y="9118272"/>
            <a:ext cx="140028" cy="140028"/>
            <a:chOff x="0" y="0"/>
            <a:chExt cx="6350000" cy="6350000"/>
          </a:xfrm>
        </p:grpSpPr>
        <p:sp>
          <p:nvSpPr>
            <p:cNvPr id="28" name="Freeform 28">
              <a:extLst>
                <a:ext uri="{FF2B5EF4-FFF2-40B4-BE49-F238E27FC236}">
                  <a16:creationId xmlns:a16="http://schemas.microsoft.com/office/drawing/2014/main" id="{4BC50278-64D3-4094-C1F1-5AB8D5D95D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a:extLst>
              <a:ext uri="{FF2B5EF4-FFF2-40B4-BE49-F238E27FC236}">
                <a16:creationId xmlns:a16="http://schemas.microsoft.com/office/drawing/2014/main" id="{800CF302-B1E6-A6EB-875F-DAE68FAB64A3}"/>
              </a:ext>
            </a:extLst>
          </p:cNvPr>
          <p:cNvGrpSpPr/>
          <p:nvPr/>
        </p:nvGrpSpPr>
        <p:grpSpPr>
          <a:xfrm>
            <a:off x="4664512" y="9122846"/>
            <a:ext cx="140028" cy="140028"/>
            <a:chOff x="0" y="0"/>
            <a:chExt cx="6350000" cy="6350000"/>
          </a:xfrm>
        </p:grpSpPr>
        <p:sp>
          <p:nvSpPr>
            <p:cNvPr id="30" name="Freeform 30">
              <a:extLst>
                <a:ext uri="{FF2B5EF4-FFF2-40B4-BE49-F238E27FC236}">
                  <a16:creationId xmlns:a16="http://schemas.microsoft.com/office/drawing/2014/main" id="{79493655-95BD-0DB0-D8FC-8D07E930761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a:extLst>
              <a:ext uri="{FF2B5EF4-FFF2-40B4-BE49-F238E27FC236}">
                <a16:creationId xmlns:a16="http://schemas.microsoft.com/office/drawing/2014/main" id="{837511E6-E322-A698-4546-D2E90F9753B7}"/>
              </a:ext>
            </a:extLst>
          </p:cNvPr>
          <p:cNvGrpSpPr/>
          <p:nvPr/>
        </p:nvGrpSpPr>
        <p:grpSpPr>
          <a:xfrm>
            <a:off x="4995040" y="9127420"/>
            <a:ext cx="140028" cy="140028"/>
            <a:chOff x="0" y="0"/>
            <a:chExt cx="6350000" cy="6350000"/>
          </a:xfrm>
        </p:grpSpPr>
        <p:sp>
          <p:nvSpPr>
            <p:cNvPr id="32" name="Freeform 32">
              <a:extLst>
                <a:ext uri="{FF2B5EF4-FFF2-40B4-BE49-F238E27FC236}">
                  <a16:creationId xmlns:a16="http://schemas.microsoft.com/office/drawing/2014/main" id="{137A8788-CFCF-6951-7473-C35EB146796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26" name="Rectangle 25">
            <a:extLst>
              <a:ext uri="{FF2B5EF4-FFF2-40B4-BE49-F238E27FC236}">
                <a16:creationId xmlns:a16="http://schemas.microsoft.com/office/drawing/2014/main" id="{B89AB848-21C3-62D0-D32E-2DCF83286DD3}"/>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4" name="TextBox 25">
            <a:extLst>
              <a:ext uri="{FF2B5EF4-FFF2-40B4-BE49-F238E27FC236}">
                <a16:creationId xmlns:a16="http://schemas.microsoft.com/office/drawing/2014/main" id="{3FBD95C7-FDF3-E900-1728-20DB7557A6DB}"/>
              </a:ext>
            </a:extLst>
          </p:cNvPr>
          <p:cNvSpPr txBox="1"/>
          <p:nvPr/>
        </p:nvSpPr>
        <p:spPr>
          <a:xfrm>
            <a:off x="3331609" y="3523184"/>
            <a:ext cx="4052819" cy="3240631"/>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Chuẩn hóa viết tắt &amp; teencode</a:t>
            </a:r>
          </a:p>
        </p:txBody>
      </p:sp>
      <p:pic>
        <p:nvPicPr>
          <p:cNvPr id="45" name="Picture 44" descr="A screenshot of a computer code&#10;&#10;AI-generated content may be incorrect.">
            <a:extLst>
              <a:ext uri="{FF2B5EF4-FFF2-40B4-BE49-F238E27FC236}">
                <a16:creationId xmlns:a16="http://schemas.microsoft.com/office/drawing/2014/main" id="{50A8B1FD-9370-B982-EEB2-55F40B05C836}"/>
              </a:ext>
            </a:extLst>
          </p:cNvPr>
          <p:cNvPicPr>
            <a:picLocks noChangeAspect="1"/>
          </p:cNvPicPr>
          <p:nvPr/>
        </p:nvPicPr>
        <p:blipFill>
          <a:blip r:embed="rId3"/>
          <a:stretch>
            <a:fillRect/>
          </a:stretch>
        </p:blipFill>
        <p:spPr>
          <a:xfrm>
            <a:off x="8118949" y="2672024"/>
            <a:ext cx="9123094" cy="2372787"/>
          </a:xfrm>
          <a:prstGeom prst="rect">
            <a:avLst/>
          </a:prstGeom>
        </p:spPr>
      </p:pic>
      <p:sp>
        <p:nvSpPr>
          <p:cNvPr id="55" name="TextBox 27">
            <a:extLst>
              <a:ext uri="{FF2B5EF4-FFF2-40B4-BE49-F238E27FC236}">
                <a16:creationId xmlns:a16="http://schemas.microsoft.com/office/drawing/2014/main" id="{E84C1684-CA2F-CB4D-C9C3-C0D5C2576709}"/>
              </a:ext>
            </a:extLst>
          </p:cNvPr>
          <p:cNvSpPr txBox="1"/>
          <p:nvPr/>
        </p:nvSpPr>
        <p:spPr>
          <a:xfrm>
            <a:off x="8353038" y="5632893"/>
            <a:ext cx="8478063" cy="670505"/>
          </a:xfrm>
          <a:prstGeom prst="rect">
            <a:avLst/>
          </a:prstGeom>
        </p:spPr>
        <p:txBody>
          <a:bodyPr wrap="square"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Đảm bảo nhất quán và giảm nhiễu</a:t>
            </a:r>
          </a:p>
        </p:txBody>
      </p:sp>
    </p:spTree>
    <p:extLst>
      <p:ext uri="{BB962C8B-B14F-4D97-AF65-F5344CB8AC3E}">
        <p14:creationId xmlns:p14="http://schemas.microsoft.com/office/powerpoint/2010/main" val="22790851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9492-D95A-D65A-3EB8-22840A559A32}"/>
            </a:ext>
          </a:extLst>
        </p:cNvPr>
        <p:cNvGrpSpPr/>
        <p:nvPr/>
      </p:nvGrpSpPr>
      <p:grpSpPr>
        <a:xfrm>
          <a:off x="0" y="0"/>
          <a:ext cx="0" cy="0"/>
          <a:chOff x="0" y="0"/>
          <a:chExt cx="0" cy="0"/>
        </a:xfrm>
      </p:grpSpPr>
      <p:grpSp>
        <p:nvGrpSpPr>
          <p:cNvPr id="52" name="Group 51">
            <a:extLst>
              <a:ext uri="{FF2B5EF4-FFF2-40B4-BE49-F238E27FC236}">
                <a16:creationId xmlns:a16="http://schemas.microsoft.com/office/drawing/2014/main" id="{AC38A117-3D38-18C2-834A-8F14C21E66F2}"/>
              </a:ext>
            </a:extLst>
          </p:cNvPr>
          <p:cNvGrpSpPr/>
          <p:nvPr/>
        </p:nvGrpSpPr>
        <p:grpSpPr>
          <a:xfrm rot="10800000">
            <a:off x="-2960767" y="2085975"/>
            <a:ext cx="5921534" cy="5922855"/>
            <a:chOff x="4566668" y="2376469"/>
            <a:chExt cx="5921534" cy="5922855"/>
          </a:xfrm>
        </p:grpSpPr>
        <p:grpSp>
          <p:nvGrpSpPr>
            <p:cNvPr id="46" name="Group 45">
              <a:extLst>
                <a:ext uri="{FF2B5EF4-FFF2-40B4-BE49-F238E27FC236}">
                  <a16:creationId xmlns:a16="http://schemas.microsoft.com/office/drawing/2014/main" id="{1C7302B1-8336-A8FE-9DAB-57F6645A4817}"/>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8DA14C66-6A9D-7974-CE0A-ACCFD4028080}"/>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B1963FC0-BD08-DE12-1C05-966902B5E1BF}"/>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9D3FABD8-3CB9-B5D1-C7B9-CA763D7D4879}"/>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9DB11EBE-2CA0-BDFF-E3BB-B1F5FBEDFD99}"/>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3079FC3E-52DB-CBD2-E726-DD7F039514F7}"/>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159E9088-7DAF-90B1-D094-00E588A9E882}"/>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E1B0CA8B-B462-7253-134C-6062CE4B0921}"/>
                    </a:ext>
                  </a:extLst>
                </p:cNvPr>
                <p:cNvSpPr/>
                <p:nvPr/>
              </p:nvSpPr>
              <p:spPr>
                <a:xfrm>
                  <a:off x="7908210" y="7711372"/>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0C2A2CE6-C612-50A8-F639-E97014BF3A9D}"/>
                  </a:ext>
                </a:extLst>
              </p:cNvPr>
              <p:cNvGrpSpPr/>
              <p:nvPr/>
            </p:nvGrpSpPr>
            <p:grpSpPr>
              <a:xfrm rot="9000000">
                <a:off x="6941933" y="2376469"/>
                <a:ext cx="1171480" cy="5921534"/>
                <a:chOff x="7908210" y="2149885"/>
                <a:chExt cx="1371600" cy="6933087"/>
              </a:xfrm>
            </p:grpSpPr>
            <p:sp>
              <p:nvSpPr>
                <p:cNvPr id="41" name="Oval 40">
                  <a:extLst>
                    <a:ext uri="{FF2B5EF4-FFF2-40B4-BE49-F238E27FC236}">
                      <a16:creationId xmlns:a16="http://schemas.microsoft.com/office/drawing/2014/main" id="{B2CAE8B7-3765-8BC1-44F6-3EDD3BF958A8}"/>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28C9361C-7B05-A167-38A3-D2D9442353DD}"/>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49D81A26-8B3D-EE24-BB04-0AB33786E40D}"/>
                </a:ext>
              </a:extLst>
            </p:cNvPr>
            <p:cNvSpPr txBox="1"/>
            <p:nvPr/>
          </p:nvSpPr>
          <p:spPr>
            <a:xfrm flipV="1">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2E0C4FC8-782F-DFD1-8FD5-2D99FDE41CB3}"/>
                </a:ext>
              </a:extLst>
            </p:cNvPr>
            <p:cNvSpPr txBox="1"/>
            <p:nvPr/>
          </p:nvSpPr>
          <p:spPr>
            <a:xfrm flipV="1">
              <a:off x="8429728"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59E3FE88-85BB-B12C-F2AE-78499462F501}"/>
                </a:ext>
              </a:extLst>
            </p:cNvPr>
            <p:cNvSpPr txBox="1"/>
            <p:nvPr/>
          </p:nvSpPr>
          <p:spPr>
            <a:xfrm flipV="1">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6D851BFE-B516-E95C-6EE1-15A117ED8ED0}"/>
                </a:ext>
              </a:extLst>
            </p:cNvPr>
            <p:cNvSpPr txBox="1"/>
            <p:nvPr/>
          </p:nvSpPr>
          <p:spPr>
            <a:xfrm flipV="1">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DDECE8FE-77F9-334F-A9B6-57E5C7406FFE}"/>
                </a:ext>
              </a:extLst>
            </p:cNvPr>
            <p:cNvSpPr txBox="1"/>
            <p:nvPr/>
          </p:nvSpPr>
          <p:spPr>
            <a:xfrm flipV="1">
              <a:off x="6054703"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6D04FE0E-5295-A0B5-02B5-8A3AB7D2A6E2}"/>
                </a:ext>
              </a:extLst>
            </p:cNvPr>
            <p:cNvSpPr txBox="1"/>
            <p:nvPr/>
          </p:nvSpPr>
          <p:spPr>
            <a:xfrm flipV="1">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a:extLst>
              <a:ext uri="{FF2B5EF4-FFF2-40B4-BE49-F238E27FC236}">
                <a16:creationId xmlns:a16="http://schemas.microsoft.com/office/drawing/2014/main" id="{5C88EA9E-2F9F-6EE7-F5D2-6CE96F5111D5}"/>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B8C1CDB4-74F1-AFB7-50C7-855040170A3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7AF87802-C8ED-6C56-D08F-C41E6DD234A0}"/>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18090367-E32B-20F2-A654-E747AF63D2F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28D85CE9-C8D2-0651-FA74-E56D0DF52C58}"/>
              </a:ext>
            </a:extLst>
          </p:cNvPr>
          <p:cNvGrpSpPr/>
          <p:nvPr/>
        </p:nvGrpSpPr>
        <p:grpSpPr>
          <a:xfrm>
            <a:off x="3011870" y="9113698"/>
            <a:ext cx="140028" cy="140028"/>
            <a:chOff x="0" y="0"/>
            <a:chExt cx="6350000" cy="6350000"/>
          </a:xfrm>
        </p:grpSpPr>
        <p:sp>
          <p:nvSpPr>
            <p:cNvPr id="7" name="Freeform 7">
              <a:extLst>
                <a:ext uri="{FF2B5EF4-FFF2-40B4-BE49-F238E27FC236}">
                  <a16:creationId xmlns:a16="http://schemas.microsoft.com/office/drawing/2014/main" id="{88D6C56C-A218-5ACA-F4D3-18AEE76BEC8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842D014B-D8B1-771D-B77F-E97D498A47B9}"/>
              </a:ext>
            </a:extLst>
          </p:cNvPr>
          <p:cNvGrpSpPr/>
          <p:nvPr/>
        </p:nvGrpSpPr>
        <p:grpSpPr>
          <a:xfrm>
            <a:off x="2350813" y="9113698"/>
            <a:ext cx="140028" cy="140028"/>
            <a:chOff x="0" y="0"/>
            <a:chExt cx="6350000" cy="6350000"/>
          </a:xfrm>
        </p:grpSpPr>
        <p:sp>
          <p:nvSpPr>
            <p:cNvPr id="9" name="Freeform 9">
              <a:extLst>
                <a:ext uri="{FF2B5EF4-FFF2-40B4-BE49-F238E27FC236}">
                  <a16:creationId xmlns:a16="http://schemas.microsoft.com/office/drawing/2014/main" id="{D3D6E622-BBB3-BED3-78FA-30F896E409F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2E5C9583-2C43-55F5-27DD-BCD8B2EF4E14}"/>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9BF448E5-04CC-C4A9-CD2E-99DE87F4BFF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35B914E0-E81F-7256-3CC8-7D38E5F197D7}"/>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BD623A6E-8AC9-A503-7B9E-D325BA7EA0F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C5E1714F-E292-1F6C-37D8-0D7AD64D06B7}"/>
              </a:ext>
            </a:extLst>
          </p:cNvPr>
          <p:cNvGrpSpPr/>
          <p:nvPr/>
        </p:nvGrpSpPr>
        <p:grpSpPr>
          <a:xfrm>
            <a:off x="2020285" y="9113698"/>
            <a:ext cx="140028" cy="140028"/>
            <a:chOff x="0" y="0"/>
            <a:chExt cx="6350000" cy="6350000"/>
          </a:xfrm>
        </p:grpSpPr>
        <p:sp>
          <p:nvSpPr>
            <p:cNvPr id="15" name="Freeform 15">
              <a:extLst>
                <a:ext uri="{FF2B5EF4-FFF2-40B4-BE49-F238E27FC236}">
                  <a16:creationId xmlns:a16="http://schemas.microsoft.com/office/drawing/2014/main" id="{7015E3B2-4826-D921-5839-4407D70D974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95003C35-2624-9A36-0496-23C055BFCD90}"/>
              </a:ext>
            </a:extLst>
          </p:cNvPr>
          <p:cNvGrpSpPr/>
          <p:nvPr/>
        </p:nvGrpSpPr>
        <p:grpSpPr>
          <a:xfrm>
            <a:off x="2681342" y="9113698"/>
            <a:ext cx="140028" cy="140028"/>
            <a:chOff x="0" y="0"/>
            <a:chExt cx="6350000" cy="6350000"/>
          </a:xfrm>
        </p:grpSpPr>
        <p:sp>
          <p:nvSpPr>
            <p:cNvPr id="17" name="Freeform 17">
              <a:extLst>
                <a:ext uri="{FF2B5EF4-FFF2-40B4-BE49-F238E27FC236}">
                  <a16:creationId xmlns:a16="http://schemas.microsoft.com/office/drawing/2014/main" id="{0CD0EB0E-27B3-198B-66EF-1BD1DB76350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03C8C36F-C04F-E492-6E75-6614D49FBA64}"/>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498D062D-DE6F-5D03-7EA6-1C5FD2CD62D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13A9DEF7-CBCD-D527-BD95-A6F4EC086157}"/>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8922A722-E915-664C-A1D2-6826C287E8D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8C76981F-4370-EBF2-D37A-39BF3F23CE7D}"/>
              </a:ext>
            </a:extLst>
          </p:cNvPr>
          <p:cNvGrpSpPr/>
          <p:nvPr/>
        </p:nvGrpSpPr>
        <p:grpSpPr>
          <a:xfrm>
            <a:off x="16786804" y="1028700"/>
            <a:ext cx="472496" cy="541606"/>
            <a:chOff x="0" y="0"/>
            <a:chExt cx="1243443" cy="1425315"/>
          </a:xfrm>
        </p:grpSpPr>
        <p:sp>
          <p:nvSpPr>
            <p:cNvPr id="23" name="Freeform 23">
              <a:extLst>
                <a:ext uri="{FF2B5EF4-FFF2-40B4-BE49-F238E27FC236}">
                  <a16:creationId xmlns:a16="http://schemas.microsoft.com/office/drawing/2014/main" id="{00BC9BC7-D8A6-3123-BD85-0CD602E5DCD2}"/>
                </a:ext>
              </a:extLst>
            </p:cNvPr>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BC901495-D1FE-966A-A614-52F9D96E1A35}"/>
                </a:ext>
              </a:extLst>
            </p:cNvPr>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a:extLst>
              <a:ext uri="{FF2B5EF4-FFF2-40B4-BE49-F238E27FC236}">
                <a16:creationId xmlns:a16="http://schemas.microsoft.com/office/drawing/2014/main" id="{15353A18-8D1B-EBE0-6E9F-D36C83AF1548}"/>
              </a:ext>
            </a:extLst>
          </p:cNvPr>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a:extLst>
              <a:ext uri="{FF2B5EF4-FFF2-40B4-BE49-F238E27FC236}">
                <a16:creationId xmlns:a16="http://schemas.microsoft.com/office/drawing/2014/main" id="{42AA0611-C54F-2D40-4ED9-45C2F1D25915}"/>
              </a:ext>
            </a:extLst>
          </p:cNvPr>
          <p:cNvGrpSpPr/>
          <p:nvPr/>
        </p:nvGrpSpPr>
        <p:grpSpPr>
          <a:xfrm>
            <a:off x="4333983" y="9118272"/>
            <a:ext cx="140028" cy="140028"/>
            <a:chOff x="0" y="0"/>
            <a:chExt cx="6350000" cy="6350000"/>
          </a:xfrm>
        </p:grpSpPr>
        <p:sp>
          <p:nvSpPr>
            <p:cNvPr id="28" name="Freeform 28">
              <a:extLst>
                <a:ext uri="{FF2B5EF4-FFF2-40B4-BE49-F238E27FC236}">
                  <a16:creationId xmlns:a16="http://schemas.microsoft.com/office/drawing/2014/main" id="{9E8C7459-C0B9-4B02-139B-BEA6C703EA0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a:extLst>
              <a:ext uri="{FF2B5EF4-FFF2-40B4-BE49-F238E27FC236}">
                <a16:creationId xmlns:a16="http://schemas.microsoft.com/office/drawing/2014/main" id="{17B27825-1452-E438-E625-E05A7954C5A2}"/>
              </a:ext>
            </a:extLst>
          </p:cNvPr>
          <p:cNvGrpSpPr/>
          <p:nvPr/>
        </p:nvGrpSpPr>
        <p:grpSpPr>
          <a:xfrm>
            <a:off x="4664512" y="9122846"/>
            <a:ext cx="140028" cy="140028"/>
            <a:chOff x="0" y="0"/>
            <a:chExt cx="6350000" cy="6350000"/>
          </a:xfrm>
        </p:grpSpPr>
        <p:sp>
          <p:nvSpPr>
            <p:cNvPr id="30" name="Freeform 30">
              <a:extLst>
                <a:ext uri="{FF2B5EF4-FFF2-40B4-BE49-F238E27FC236}">
                  <a16:creationId xmlns:a16="http://schemas.microsoft.com/office/drawing/2014/main" id="{91C105C4-3235-0652-1B77-FFE7E9F561A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a:extLst>
              <a:ext uri="{FF2B5EF4-FFF2-40B4-BE49-F238E27FC236}">
                <a16:creationId xmlns:a16="http://schemas.microsoft.com/office/drawing/2014/main" id="{FF588E08-D0A3-7DA6-3628-20BADE96C458}"/>
              </a:ext>
            </a:extLst>
          </p:cNvPr>
          <p:cNvGrpSpPr/>
          <p:nvPr/>
        </p:nvGrpSpPr>
        <p:grpSpPr>
          <a:xfrm>
            <a:off x="4995040" y="9127420"/>
            <a:ext cx="140028" cy="140028"/>
            <a:chOff x="0" y="0"/>
            <a:chExt cx="6350000" cy="6350000"/>
          </a:xfrm>
        </p:grpSpPr>
        <p:sp>
          <p:nvSpPr>
            <p:cNvPr id="32" name="Freeform 32">
              <a:extLst>
                <a:ext uri="{FF2B5EF4-FFF2-40B4-BE49-F238E27FC236}">
                  <a16:creationId xmlns:a16="http://schemas.microsoft.com/office/drawing/2014/main" id="{96EC4692-3C20-7250-F2BE-3090BB5AA23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26" name="Rectangle 25">
            <a:extLst>
              <a:ext uri="{FF2B5EF4-FFF2-40B4-BE49-F238E27FC236}">
                <a16:creationId xmlns:a16="http://schemas.microsoft.com/office/drawing/2014/main" id="{40FAD8EC-2F18-ADFB-FEC6-76E3CC379A99}"/>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4" name="TextBox 25">
            <a:extLst>
              <a:ext uri="{FF2B5EF4-FFF2-40B4-BE49-F238E27FC236}">
                <a16:creationId xmlns:a16="http://schemas.microsoft.com/office/drawing/2014/main" id="{278F1DAA-6BD2-E993-259F-2BF3237394F7}"/>
              </a:ext>
            </a:extLst>
          </p:cNvPr>
          <p:cNvSpPr txBox="1"/>
          <p:nvPr/>
        </p:nvSpPr>
        <p:spPr>
          <a:xfrm>
            <a:off x="3342398" y="3426836"/>
            <a:ext cx="4052819" cy="3240631"/>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Loại bỏ các dữ liệu chứa link</a:t>
            </a:r>
          </a:p>
        </p:txBody>
      </p:sp>
      <p:pic>
        <p:nvPicPr>
          <p:cNvPr id="45" name="Picture 44" descr="A screen shot of a computer code&#10;&#10;AI-generated content may be incorrect.">
            <a:extLst>
              <a:ext uri="{FF2B5EF4-FFF2-40B4-BE49-F238E27FC236}">
                <a16:creationId xmlns:a16="http://schemas.microsoft.com/office/drawing/2014/main" id="{02F767D8-491F-36DA-7CF6-4341B9017345}"/>
              </a:ext>
            </a:extLst>
          </p:cNvPr>
          <p:cNvPicPr>
            <a:picLocks noChangeAspect="1"/>
          </p:cNvPicPr>
          <p:nvPr/>
        </p:nvPicPr>
        <p:blipFill>
          <a:blip r:embed="rId3"/>
          <a:stretch>
            <a:fillRect/>
          </a:stretch>
        </p:blipFill>
        <p:spPr>
          <a:xfrm>
            <a:off x="8196016" y="2773438"/>
            <a:ext cx="9425293" cy="2033212"/>
          </a:xfrm>
          <a:prstGeom prst="rect">
            <a:avLst/>
          </a:prstGeom>
        </p:spPr>
      </p:pic>
      <p:sp>
        <p:nvSpPr>
          <p:cNvPr id="55" name="TextBox 27">
            <a:extLst>
              <a:ext uri="{FF2B5EF4-FFF2-40B4-BE49-F238E27FC236}">
                <a16:creationId xmlns:a16="http://schemas.microsoft.com/office/drawing/2014/main" id="{B497BF71-77CF-94DA-A78D-3E0180437B24}"/>
              </a:ext>
            </a:extLst>
          </p:cNvPr>
          <p:cNvSpPr txBox="1"/>
          <p:nvPr/>
        </p:nvSpPr>
        <p:spPr>
          <a:xfrm>
            <a:off x="8353038" y="5632893"/>
            <a:ext cx="8478063" cy="2193999"/>
          </a:xfrm>
          <a:prstGeom prst="rect">
            <a:avLst/>
          </a:prstGeom>
        </p:spPr>
        <p:txBody>
          <a:bodyPr wrap="square"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Các bình luận có link không mang ý nghĩa</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L</a:t>
            </a:r>
            <a:r>
              <a:rPr lang="vi-VN" sz="3300">
                <a:solidFill>
                  <a:srgbClr val="A6A6A6"/>
                </a:solidFill>
                <a:latin typeface="Times New Roman" panose="02020603050405020304" pitchFamily="18" charset="0"/>
                <a:ea typeface="Garet"/>
                <a:cs typeface="Times New Roman" panose="02020603050405020304" pitchFamily="18" charset="0"/>
                <a:sym typeface="Garet"/>
              </a:rPr>
              <a:t>oại bỏ bình luận có chứa đường dẫn</a:t>
            </a:r>
            <a:endParaRPr lang="en-US" sz="3300">
              <a:solidFill>
                <a:srgbClr val="A6A6A6"/>
              </a:solidFill>
              <a:latin typeface="Times New Roman" panose="02020603050405020304" pitchFamily="18" charset="0"/>
              <a:ea typeface="Garet"/>
              <a:cs typeface="Times New Roman" panose="02020603050405020304" pitchFamily="18" charset="0"/>
              <a:sym typeface="Garet"/>
            </a:endParaRP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Tập trung vào nội dung thực sự mang cảm xúc</a:t>
            </a:r>
          </a:p>
        </p:txBody>
      </p:sp>
    </p:spTree>
    <p:extLst>
      <p:ext uri="{BB962C8B-B14F-4D97-AF65-F5344CB8AC3E}">
        <p14:creationId xmlns:p14="http://schemas.microsoft.com/office/powerpoint/2010/main" val="4165642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FFFDB-12D4-7217-500D-51FFEED76D1D}"/>
            </a:ext>
          </a:extLst>
        </p:cNvPr>
        <p:cNvGrpSpPr/>
        <p:nvPr/>
      </p:nvGrpSpPr>
      <p:grpSpPr>
        <a:xfrm>
          <a:off x="0" y="0"/>
          <a:ext cx="0" cy="0"/>
          <a:chOff x="0" y="0"/>
          <a:chExt cx="0" cy="0"/>
        </a:xfrm>
      </p:grpSpPr>
      <p:grpSp>
        <p:nvGrpSpPr>
          <p:cNvPr id="52" name="Group 51">
            <a:extLst>
              <a:ext uri="{FF2B5EF4-FFF2-40B4-BE49-F238E27FC236}">
                <a16:creationId xmlns:a16="http://schemas.microsoft.com/office/drawing/2014/main" id="{CEF21A29-3033-CC19-D059-CAD23A76C8B8}"/>
              </a:ext>
            </a:extLst>
          </p:cNvPr>
          <p:cNvGrpSpPr/>
          <p:nvPr/>
        </p:nvGrpSpPr>
        <p:grpSpPr>
          <a:xfrm rot="7200000">
            <a:off x="-2960767" y="2085975"/>
            <a:ext cx="5921534" cy="5922855"/>
            <a:chOff x="4566668" y="2376469"/>
            <a:chExt cx="5921534" cy="5922855"/>
          </a:xfrm>
        </p:grpSpPr>
        <p:grpSp>
          <p:nvGrpSpPr>
            <p:cNvPr id="46" name="Group 45">
              <a:extLst>
                <a:ext uri="{FF2B5EF4-FFF2-40B4-BE49-F238E27FC236}">
                  <a16:creationId xmlns:a16="http://schemas.microsoft.com/office/drawing/2014/main" id="{CD1B4C26-71BC-D7DF-F893-51EC80FD7E03}"/>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0E349D8E-8060-C25D-F1D2-24D6E7922A3A}"/>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E75A21C0-E554-3768-CAEA-EF0FA1CF9F3F}"/>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681A9298-5135-B8FE-8696-E03729CF1AB4}"/>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B69ECE7-45DB-121C-2C26-1F111AEEA382}"/>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A565ABF7-A7A6-CAAD-016C-3259120DECE4}"/>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457EC271-5B28-D9EA-97A2-FBE5BBFF2BCE}"/>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9B0BC6F7-4454-BA9E-C3B9-EC8A0A6DE82D}"/>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33267497-7106-90B1-1219-28ECE7500EC5}"/>
                  </a:ext>
                </a:extLst>
              </p:cNvPr>
              <p:cNvGrpSpPr/>
              <p:nvPr/>
            </p:nvGrpSpPr>
            <p:grpSpPr>
              <a:xfrm rot="9000000">
                <a:off x="6941933" y="2376469"/>
                <a:ext cx="1171480" cy="5921534"/>
                <a:chOff x="7908210" y="2149885"/>
                <a:chExt cx="1371600" cy="6933087"/>
              </a:xfrm>
            </p:grpSpPr>
            <p:sp>
              <p:nvSpPr>
                <p:cNvPr id="41" name="Oval 40">
                  <a:extLst>
                    <a:ext uri="{FF2B5EF4-FFF2-40B4-BE49-F238E27FC236}">
                      <a16:creationId xmlns:a16="http://schemas.microsoft.com/office/drawing/2014/main" id="{877A2087-B32E-3F45-BB3E-2035887EC8C2}"/>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E09899A4-1460-F969-BBD3-117476CF0314}"/>
                    </a:ext>
                  </a:extLst>
                </p:cNvPr>
                <p:cNvSpPr/>
                <p:nvPr/>
              </p:nvSpPr>
              <p:spPr>
                <a:xfrm>
                  <a:off x="7908210" y="7711372"/>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0E5F5771-3466-7180-AEFE-9A8A57BA320D}"/>
                </a:ext>
              </a:extLst>
            </p:cNvPr>
            <p:cNvSpPr txBox="1"/>
            <p:nvPr/>
          </p:nvSpPr>
          <p:spPr>
            <a:xfrm rot="14400000">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D9FAE7FB-E430-E493-04A9-F8DBBB113506}"/>
                </a:ext>
              </a:extLst>
            </p:cNvPr>
            <p:cNvSpPr txBox="1"/>
            <p:nvPr/>
          </p:nvSpPr>
          <p:spPr>
            <a:xfrm rot="14400000">
              <a:off x="8429727"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DC0E2079-F45D-F612-2BE6-0904BCD1DC5A}"/>
                </a:ext>
              </a:extLst>
            </p:cNvPr>
            <p:cNvSpPr txBox="1"/>
            <p:nvPr/>
          </p:nvSpPr>
          <p:spPr>
            <a:xfrm rot="14400000">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ECD93B5A-772D-82E3-6C72-B3BB44CB8EA4}"/>
                </a:ext>
              </a:extLst>
            </p:cNvPr>
            <p:cNvSpPr txBox="1"/>
            <p:nvPr/>
          </p:nvSpPr>
          <p:spPr>
            <a:xfrm rot="14400000">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B79E14A6-E6F7-F448-5EA3-83F33A7A2083}"/>
                </a:ext>
              </a:extLst>
            </p:cNvPr>
            <p:cNvSpPr txBox="1"/>
            <p:nvPr/>
          </p:nvSpPr>
          <p:spPr>
            <a:xfrm rot="14400000">
              <a:off x="6054702"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E64CC937-1C74-B9DA-6B39-15F6F2EEEAC4}"/>
                </a:ext>
              </a:extLst>
            </p:cNvPr>
            <p:cNvSpPr txBox="1"/>
            <p:nvPr/>
          </p:nvSpPr>
          <p:spPr>
            <a:xfrm rot="14400000">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a:extLst>
              <a:ext uri="{FF2B5EF4-FFF2-40B4-BE49-F238E27FC236}">
                <a16:creationId xmlns:a16="http://schemas.microsoft.com/office/drawing/2014/main" id="{6107ECFF-0DCB-C44C-FB83-15E6987CBDF0}"/>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24055012-1EE8-6C9B-B20C-3B261E6AEFB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7393DF45-12CE-6259-13E0-C00DD9AFD254}"/>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C19A4073-B07A-3224-FAD2-76A2B3F9FA2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A8D1D8EA-5E7F-B224-876A-492EF3A5E9E8}"/>
              </a:ext>
            </a:extLst>
          </p:cNvPr>
          <p:cNvGrpSpPr/>
          <p:nvPr/>
        </p:nvGrpSpPr>
        <p:grpSpPr>
          <a:xfrm>
            <a:off x="3011870" y="9113698"/>
            <a:ext cx="140028" cy="140028"/>
            <a:chOff x="0" y="0"/>
            <a:chExt cx="6350000" cy="6350000"/>
          </a:xfrm>
        </p:grpSpPr>
        <p:sp>
          <p:nvSpPr>
            <p:cNvPr id="7" name="Freeform 7">
              <a:extLst>
                <a:ext uri="{FF2B5EF4-FFF2-40B4-BE49-F238E27FC236}">
                  <a16:creationId xmlns:a16="http://schemas.microsoft.com/office/drawing/2014/main" id="{763BB874-BC6C-95A2-6D4A-C37DC27F727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928EA6BC-85E5-371E-42DD-BA6B45762FA9}"/>
              </a:ext>
            </a:extLst>
          </p:cNvPr>
          <p:cNvGrpSpPr/>
          <p:nvPr/>
        </p:nvGrpSpPr>
        <p:grpSpPr>
          <a:xfrm>
            <a:off x="2350813" y="9113698"/>
            <a:ext cx="140028" cy="140028"/>
            <a:chOff x="0" y="0"/>
            <a:chExt cx="6350000" cy="6350000"/>
          </a:xfrm>
        </p:grpSpPr>
        <p:sp>
          <p:nvSpPr>
            <p:cNvPr id="9" name="Freeform 9">
              <a:extLst>
                <a:ext uri="{FF2B5EF4-FFF2-40B4-BE49-F238E27FC236}">
                  <a16:creationId xmlns:a16="http://schemas.microsoft.com/office/drawing/2014/main" id="{5805CFEE-F9C7-E93C-06E8-EC63970F806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F16BA08D-0A1F-0E7A-8047-4864FAA41BF0}"/>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1714A46A-D489-111F-169F-16F5E9F6D2C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7F839E5A-80D6-056C-F330-58860E88800D}"/>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652A8A51-F250-0A56-71FF-7B032781174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879C3183-EB9F-D6A4-7C06-A05ECD39FC38}"/>
              </a:ext>
            </a:extLst>
          </p:cNvPr>
          <p:cNvGrpSpPr/>
          <p:nvPr/>
        </p:nvGrpSpPr>
        <p:grpSpPr>
          <a:xfrm>
            <a:off x="2020285" y="9113698"/>
            <a:ext cx="140028" cy="140028"/>
            <a:chOff x="0" y="0"/>
            <a:chExt cx="6350000" cy="6350000"/>
          </a:xfrm>
        </p:grpSpPr>
        <p:sp>
          <p:nvSpPr>
            <p:cNvPr id="15" name="Freeform 15">
              <a:extLst>
                <a:ext uri="{FF2B5EF4-FFF2-40B4-BE49-F238E27FC236}">
                  <a16:creationId xmlns:a16="http://schemas.microsoft.com/office/drawing/2014/main" id="{0484FDF3-7506-50D2-26ED-9BB2215549D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D7B4DBD9-F9DB-BA79-1E5F-E3C7CCBC4ACA}"/>
              </a:ext>
            </a:extLst>
          </p:cNvPr>
          <p:cNvGrpSpPr/>
          <p:nvPr/>
        </p:nvGrpSpPr>
        <p:grpSpPr>
          <a:xfrm>
            <a:off x="2681342" y="9113698"/>
            <a:ext cx="140028" cy="140028"/>
            <a:chOff x="0" y="0"/>
            <a:chExt cx="6350000" cy="6350000"/>
          </a:xfrm>
        </p:grpSpPr>
        <p:sp>
          <p:nvSpPr>
            <p:cNvPr id="17" name="Freeform 17">
              <a:extLst>
                <a:ext uri="{FF2B5EF4-FFF2-40B4-BE49-F238E27FC236}">
                  <a16:creationId xmlns:a16="http://schemas.microsoft.com/office/drawing/2014/main" id="{B2B14387-FF6E-3FD0-EEB9-9919CC68F02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C8C83612-3767-9DE4-8DD1-71B2FE4A4D61}"/>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26B7773D-F2A0-1D14-6BD1-B73635B188F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ADEF0522-65D3-2AE3-DC69-34718BF14995}"/>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4C9B8A8D-17A0-8A35-0E41-89BD9FDEE10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7CE6B316-DA5E-FDF5-AD78-45F64D24ABF1}"/>
              </a:ext>
            </a:extLst>
          </p:cNvPr>
          <p:cNvGrpSpPr/>
          <p:nvPr/>
        </p:nvGrpSpPr>
        <p:grpSpPr>
          <a:xfrm>
            <a:off x="16786804" y="1028700"/>
            <a:ext cx="472496" cy="541606"/>
            <a:chOff x="0" y="0"/>
            <a:chExt cx="1243443" cy="1425315"/>
          </a:xfrm>
        </p:grpSpPr>
        <p:sp>
          <p:nvSpPr>
            <p:cNvPr id="23" name="Freeform 23">
              <a:extLst>
                <a:ext uri="{FF2B5EF4-FFF2-40B4-BE49-F238E27FC236}">
                  <a16:creationId xmlns:a16="http://schemas.microsoft.com/office/drawing/2014/main" id="{D65EA87A-515B-E8C0-D13C-9AF67415F603}"/>
                </a:ext>
              </a:extLst>
            </p:cNvPr>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11194AB3-1848-77AA-A717-6C41797BD94C}"/>
                </a:ext>
              </a:extLst>
            </p:cNvPr>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a:extLst>
              <a:ext uri="{FF2B5EF4-FFF2-40B4-BE49-F238E27FC236}">
                <a16:creationId xmlns:a16="http://schemas.microsoft.com/office/drawing/2014/main" id="{63906D67-D2C6-168F-40E0-4888276FC62C}"/>
              </a:ext>
            </a:extLst>
          </p:cNvPr>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a:extLst>
              <a:ext uri="{FF2B5EF4-FFF2-40B4-BE49-F238E27FC236}">
                <a16:creationId xmlns:a16="http://schemas.microsoft.com/office/drawing/2014/main" id="{1A0447C8-2684-F154-4770-15D6E6DD646B}"/>
              </a:ext>
            </a:extLst>
          </p:cNvPr>
          <p:cNvGrpSpPr/>
          <p:nvPr/>
        </p:nvGrpSpPr>
        <p:grpSpPr>
          <a:xfrm>
            <a:off x="4333983" y="9118272"/>
            <a:ext cx="140028" cy="140028"/>
            <a:chOff x="0" y="0"/>
            <a:chExt cx="6350000" cy="6350000"/>
          </a:xfrm>
        </p:grpSpPr>
        <p:sp>
          <p:nvSpPr>
            <p:cNvPr id="28" name="Freeform 28">
              <a:extLst>
                <a:ext uri="{FF2B5EF4-FFF2-40B4-BE49-F238E27FC236}">
                  <a16:creationId xmlns:a16="http://schemas.microsoft.com/office/drawing/2014/main" id="{DD1CC73C-D358-388E-C665-BFDD9B53DA6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a:extLst>
              <a:ext uri="{FF2B5EF4-FFF2-40B4-BE49-F238E27FC236}">
                <a16:creationId xmlns:a16="http://schemas.microsoft.com/office/drawing/2014/main" id="{7B0A9B4E-249F-85BA-4EF5-7AFC6C4B170B}"/>
              </a:ext>
            </a:extLst>
          </p:cNvPr>
          <p:cNvGrpSpPr/>
          <p:nvPr/>
        </p:nvGrpSpPr>
        <p:grpSpPr>
          <a:xfrm>
            <a:off x="4664512" y="9122846"/>
            <a:ext cx="140028" cy="140028"/>
            <a:chOff x="0" y="0"/>
            <a:chExt cx="6350000" cy="6350000"/>
          </a:xfrm>
        </p:grpSpPr>
        <p:sp>
          <p:nvSpPr>
            <p:cNvPr id="30" name="Freeform 30">
              <a:extLst>
                <a:ext uri="{FF2B5EF4-FFF2-40B4-BE49-F238E27FC236}">
                  <a16:creationId xmlns:a16="http://schemas.microsoft.com/office/drawing/2014/main" id="{089D2BCA-4495-34F5-DBF0-5C77DABF35A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a:extLst>
              <a:ext uri="{FF2B5EF4-FFF2-40B4-BE49-F238E27FC236}">
                <a16:creationId xmlns:a16="http://schemas.microsoft.com/office/drawing/2014/main" id="{B5291F38-37AD-1DA1-938C-5CEABC497F86}"/>
              </a:ext>
            </a:extLst>
          </p:cNvPr>
          <p:cNvGrpSpPr/>
          <p:nvPr/>
        </p:nvGrpSpPr>
        <p:grpSpPr>
          <a:xfrm>
            <a:off x="4995040" y="9127420"/>
            <a:ext cx="140028" cy="140028"/>
            <a:chOff x="0" y="0"/>
            <a:chExt cx="6350000" cy="6350000"/>
          </a:xfrm>
        </p:grpSpPr>
        <p:sp>
          <p:nvSpPr>
            <p:cNvPr id="32" name="Freeform 32">
              <a:extLst>
                <a:ext uri="{FF2B5EF4-FFF2-40B4-BE49-F238E27FC236}">
                  <a16:creationId xmlns:a16="http://schemas.microsoft.com/office/drawing/2014/main" id="{9F1B44D8-7B42-5311-6077-579C9449376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26" name="Rectangle 25">
            <a:extLst>
              <a:ext uri="{FF2B5EF4-FFF2-40B4-BE49-F238E27FC236}">
                <a16:creationId xmlns:a16="http://schemas.microsoft.com/office/drawing/2014/main" id="{11D07B7A-D831-CB6E-2D55-26FD26500C8C}"/>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4" name="TextBox 25">
            <a:extLst>
              <a:ext uri="{FF2B5EF4-FFF2-40B4-BE49-F238E27FC236}">
                <a16:creationId xmlns:a16="http://schemas.microsoft.com/office/drawing/2014/main" id="{E96FDCD1-AEC3-0728-A633-DE6BE4DE8CA7}"/>
              </a:ext>
            </a:extLst>
          </p:cNvPr>
          <p:cNvSpPr txBox="1"/>
          <p:nvPr/>
        </p:nvSpPr>
        <p:spPr>
          <a:xfrm>
            <a:off x="3342399" y="3426836"/>
            <a:ext cx="3197394" cy="2137765"/>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Sửa lỗi đánh máy</a:t>
            </a:r>
          </a:p>
        </p:txBody>
      </p:sp>
      <p:pic>
        <p:nvPicPr>
          <p:cNvPr id="45" name="Picture 44" descr="A screenshot of a computer code&#10;&#10;AI-generated content may be incorrect.">
            <a:extLst>
              <a:ext uri="{FF2B5EF4-FFF2-40B4-BE49-F238E27FC236}">
                <a16:creationId xmlns:a16="http://schemas.microsoft.com/office/drawing/2014/main" id="{DFB6B1C1-0938-5B5F-95CB-FE4536A7AD3D}"/>
              </a:ext>
            </a:extLst>
          </p:cNvPr>
          <p:cNvPicPr>
            <a:picLocks noChangeAspect="1"/>
          </p:cNvPicPr>
          <p:nvPr/>
        </p:nvPicPr>
        <p:blipFill>
          <a:blip r:embed="rId3"/>
          <a:stretch>
            <a:fillRect/>
          </a:stretch>
        </p:blipFill>
        <p:spPr>
          <a:xfrm>
            <a:off x="8404841" y="2189648"/>
            <a:ext cx="8426260" cy="3202387"/>
          </a:xfrm>
          <a:prstGeom prst="rect">
            <a:avLst/>
          </a:prstGeom>
        </p:spPr>
      </p:pic>
      <p:sp>
        <p:nvSpPr>
          <p:cNvPr id="55" name="TextBox 27">
            <a:extLst>
              <a:ext uri="{FF2B5EF4-FFF2-40B4-BE49-F238E27FC236}">
                <a16:creationId xmlns:a16="http://schemas.microsoft.com/office/drawing/2014/main" id="{3925C1DF-733A-AA5A-0964-69B2DC6BEE97}"/>
              </a:ext>
            </a:extLst>
          </p:cNvPr>
          <p:cNvSpPr txBox="1"/>
          <p:nvPr/>
        </p:nvSpPr>
        <p:spPr>
          <a:xfrm>
            <a:off x="8353038" y="5632893"/>
            <a:ext cx="8478063" cy="2955746"/>
          </a:xfrm>
          <a:prstGeom prst="rect">
            <a:avLst/>
          </a:prstGeom>
        </p:spPr>
        <p:txBody>
          <a:bodyPr wrap="square"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Áp dụng mô hình sửa lỗi chính tả</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Giúp dữ liệu sạch và tăng độ chính xác vector đặc trưng</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Sử dụng công cụ vietnamese-correction-v2</a:t>
            </a:r>
          </a:p>
        </p:txBody>
      </p:sp>
    </p:spTree>
    <p:extLst>
      <p:ext uri="{BB962C8B-B14F-4D97-AF65-F5344CB8AC3E}">
        <p14:creationId xmlns:p14="http://schemas.microsoft.com/office/powerpoint/2010/main" val="40547393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C4994-1D95-70DD-7F1F-DF60FD011F82}"/>
            </a:ext>
          </a:extLst>
        </p:cNvPr>
        <p:cNvGrpSpPr/>
        <p:nvPr/>
      </p:nvGrpSpPr>
      <p:grpSpPr>
        <a:xfrm>
          <a:off x="0" y="0"/>
          <a:ext cx="0" cy="0"/>
          <a:chOff x="0" y="0"/>
          <a:chExt cx="0" cy="0"/>
        </a:xfrm>
      </p:grpSpPr>
      <p:grpSp>
        <p:nvGrpSpPr>
          <p:cNvPr id="52" name="Group 51">
            <a:extLst>
              <a:ext uri="{FF2B5EF4-FFF2-40B4-BE49-F238E27FC236}">
                <a16:creationId xmlns:a16="http://schemas.microsoft.com/office/drawing/2014/main" id="{DEDA228A-4A71-EB6D-CD73-02BE9074F7C7}"/>
              </a:ext>
            </a:extLst>
          </p:cNvPr>
          <p:cNvGrpSpPr/>
          <p:nvPr/>
        </p:nvGrpSpPr>
        <p:grpSpPr>
          <a:xfrm rot="3600000">
            <a:off x="-2960767" y="2085975"/>
            <a:ext cx="5921534" cy="5922855"/>
            <a:chOff x="4566668" y="2376469"/>
            <a:chExt cx="5921534" cy="5922855"/>
          </a:xfrm>
        </p:grpSpPr>
        <p:grpSp>
          <p:nvGrpSpPr>
            <p:cNvPr id="46" name="Group 45">
              <a:extLst>
                <a:ext uri="{FF2B5EF4-FFF2-40B4-BE49-F238E27FC236}">
                  <a16:creationId xmlns:a16="http://schemas.microsoft.com/office/drawing/2014/main" id="{CBBC1774-05D2-C5BB-8F38-E1F1A12CDB02}"/>
                </a:ext>
              </a:extLst>
            </p:cNvPr>
            <p:cNvGrpSpPr/>
            <p:nvPr/>
          </p:nvGrpSpPr>
          <p:grpSpPr>
            <a:xfrm>
              <a:off x="4566668" y="2376469"/>
              <a:ext cx="5921534" cy="5922855"/>
              <a:chOff x="4566668" y="2376469"/>
              <a:chExt cx="5921534" cy="5922855"/>
            </a:xfrm>
          </p:grpSpPr>
          <p:sp>
            <p:nvSpPr>
              <p:cNvPr id="33" name="Circle: Hollow 32">
                <a:extLst>
                  <a:ext uri="{FF2B5EF4-FFF2-40B4-BE49-F238E27FC236}">
                    <a16:creationId xmlns:a16="http://schemas.microsoft.com/office/drawing/2014/main" id="{5AB2A597-0EE5-161F-73DB-2F7FA33F5526}"/>
                  </a:ext>
                </a:extLst>
              </p:cNvPr>
              <p:cNvSpPr/>
              <p:nvPr/>
            </p:nvSpPr>
            <p:spPr>
              <a:xfrm rot="1800000">
                <a:off x="5151933" y="2962146"/>
                <a:ext cx="4751004" cy="4751004"/>
              </a:xfrm>
              <a:prstGeom prst="donut">
                <a:avLst>
                  <a:gd name="adj" fmla="val 349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Times New Roman" panose="02020603050405020304" pitchFamily="18" charset="0"/>
                  <a:cs typeface="Times New Roman" panose="02020603050405020304" pitchFamily="18" charset="0"/>
                </a:endParaRPr>
              </a:p>
            </p:txBody>
          </p:sp>
          <p:grpSp>
            <p:nvGrpSpPr>
              <p:cNvPr id="36" name="Group 35">
                <a:extLst>
                  <a:ext uri="{FF2B5EF4-FFF2-40B4-BE49-F238E27FC236}">
                    <a16:creationId xmlns:a16="http://schemas.microsoft.com/office/drawing/2014/main" id="{04124DDB-A003-1BD8-25AE-833FD612B33E}"/>
                  </a:ext>
                </a:extLst>
              </p:cNvPr>
              <p:cNvGrpSpPr/>
              <p:nvPr/>
            </p:nvGrpSpPr>
            <p:grpSpPr>
              <a:xfrm rot="1800000">
                <a:off x="6941170" y="2377790"/>
                <a:ext cx="1171481" cy="5921534"/>
                <a:chOff x="7908210" y="2149885"/>
                <a:chExt cx="1371600" cy="6933087"/>
              </a:xfrm>
            </p:grpSpPr>
            <p:sp>
              <p:nvSpPr>
                <p:cNvPr id="34" name="Oval 33">
                  <a:extLst>
                    <a:ext uri="{FF2B5EF4-FFF2-40B4-BE49-F238E27FC236}">
                      <a16:creationId xmlns:a16="http://schemas.microsoft.com/office/drawing/2014/main" id="{CE66914A-BDA8-1D93-2737-41E18E922832}"/>
                    </a:ext>
                  </a:extLst>
                </p:cNvPr>
                <p:cNvSpPr/>
                <p:nvPr/>
              </p:nvSpPr>
              <p:spPr>
                <a:xfrm>
                  <a:off x="7908210" y="2149885"/>
                  <a:ext cx="1371600" cy="1371600"/>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C95FE8DE-46A5-BCFB-0D53-BE32292E812F}"/>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37" name="Group 36">
                <a:extLst>
                  <a:ext uri="{FF2B5EF4-FFF2-40B4-BE49-F238E27FC236}">
                    <a16:creationId xmlns:a16="http://schemas.microsoft.com/office/drawing/2014/main" id="{5FF8B617-AF43-8CBE-A42D-ED583AF53C89}"/>
                  </a:ext>
                </a:extLst>
              </p:cNvPr>
              <p:cNvGrpSpPr/>
              <p:nvPr/>
            </p:nvGrpSpPr>
            <p:grpSpPr>
              <a:xfrm rot="5400000">
                <a:off x="6941695" y="2376880"/>
                <a:ext cx="1171480" cy="5921534"/>
                <a:chOff x="7908210" y="2149885"/>
                <a:chExt cx="1371600" cy="6933087"/>
              </a:xfrm>
            </p:grpSpPr>
            <p:sp>
              <p:nvSpPr>
                <p:cNvPr id="38" name="Oval 37">
                  <a:extLst>
                    <a:ext uri="{FF2B5EF4-FFF2-40B4-BE49-F238E27FC236}">
                      <a16:creationId xmlns:a16="http://schemas.microsoft.com/office/drawing/2014/main" id="{B1A95C3B-7B23-C2EA-3EE0-513ED4E8B917}"/>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D711B0BB-60B9-9183-51B7-C855135C28ED}"/>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nvGrpSpPr>
              <p:cNvPr id="40" name="Group 39">
                <a:extLst>
                  <a:ext uri="{FF2B5EF4-FFF2-40B4-BE49-F238E27FC236}">
                    <a16:creationId xmlns:a16="http://schemas.microsoft.com/office/drawing/2014/main" id="{733D1DA7-F36A-6290-E7F9-6BEED4E5B13E}"/>
                  </a:ext>
                </a:extLst>
              </p:cNvPr>
              <p:cNvGrpSpPr/>
              <p:nvPr/>
            </p:nvGrpSpPr>
            <p:grpSpPr>
              <a:xfrm rot="9000000">
                <a:off x="6941933" y="2376469"/>
                <a:ext cx="1171480" cy="5921534"/>
                <a:chOff x="7908210" y="2149885"/>
                <a:chExt cx="1371600" cy="6933087"/>
              </a:xfrm>
            </p:grpSpPr>
            <p:sp>
              <p:nvSpPr>
                <p:cNvPr id="41" name="Oval 40">
                  <a:extLst>
                    <a:ext uri="{FF2B5EF4-FFF2-40B4-BE49-F238E27FC236}">
                      <a16:creationId xmlns:a16="http://schemas.microsoft.com/office/drawing/2014/main" id="{CB2F2D7B-CDA7-EDB0-3F0A-C7333B279C52}"/>
                    </a:ext>
                  </a:extLst>
                </p:cNvPr>
                <p:cNvSpPr/>
                <p:nvPr/>
              </p:nvSpPr>
              <p:spPr>
                <a:xfrm>
                  <a:off x="7908210" y="2149885"/>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E362784-485D-D0A9-B8F9-BDCB99786A53}"/>
                    </a:ext>
                  </a:extLst>
                </p:cNvPr>
                <p:cNvSpPr/>
                <p:nvPr/>
              </p:nvSpPr>
              <p:spPr>
                <a:xfrm>
                  <a:off x="7908210" y="7711372"/>
                  <a:ext cx="1371600" cy="13716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grpSp>
        </p:grpSp>
        <p:sp>
          <p:nvSpPr>
            <p:cNvPr id="43" name="TextBox 42">
              <a:extLst>
                <a:ext uri="{FF2B5EF4-FFF2-40B4-BE49-F238E27FC236}">
                  <a16:creationId xmlns:a16="http://schemas.microsoft.com/office/drawing/2014/main" id="{B9313C8E-9C76-D7E8-0EDC-F295149E9E7F}"/>
                </a:ext>
              </a:extLst>
            </p:cNvPr>
            <p:cNvSpPr txBox="1"/>
            <p:nvPr/>
          </p:nvSpPr>
          <p:spPr>
            <a:xfrm rot="18000000">
              <a:off x="9617768" y="4829815"/>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1</a:t>
              </a:r>
            </a:p>
          </p:txBody>
        </p:sp>
        <p:sp>
          <p:nvSpPr>
            <p:cNvPr id="47" name="TextBox 46">
              <a:extLst>
                <a:ext uri="{FF2B5EF4-FFF2-40B4-BE49-F238E27FC236}">
                  <a16:creationId xmlns:a16="http://schemas.microsoft.com/office/drawing/2014/main" id="{7E1D35E8-0D56-B2AC-978C-DAA016847012}"/>
                </a:ext>
              </a:extLst>
            </p:cNvPr>
            <p:cNvSpPr txBox="1"/>
            <p:nvPr/>
          </p:nvSpPr>
          <p:spPr>
            <a:xfrm rot="18000000">
              <a:off x="8429728"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2</a:t>
              </a:r>
            </a:p>
          </p:txBody>
        </p:sp>
        <p:sp>
          <p:nvSpPr>
            <p:cNvPr id="48" name="TextBox 47">
              <a:extLst>
                <a:ext uri="{FF2B5EF4-FFF2-40B4-BE49-F238E27FC236}">
                  <a16:creationId xmlns:a16="http://schemas.microsoft.com/office/drawing/2014/main" id="{A4120400-0AF1-50EC-1853-4B687C146413}"/>
                </a:ext>
              </a:extLst>
            </p:cNvPr>
            <p:cNvSpPr txBox="1"/>
            <p:nvPr/>
          </p:nvSpPr>
          <p:spPr>
            <a:xfrm rot="18000000">
              <a:off x="6042019" y="6864931"/>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3</a:t>
              </a:r>
            </a:p>
          </p:txBody>
        </p:sp>
        <p:sp>
          <p:nvSpPr>
            <p:cNvPr id="49" name="TextBox 48">
              <a:extLst>
                <a:ext uri="{FF2B5EF4-FFF2-40B4-BE49-F238E27FC236}">
                  <a16:creationId xmlns:a16="http://schemas.microsoft.com/office/drawing/2014/main" id="{2230F68D-A3FE-558A-008E-F03EC37FAB06}"/>
                </a:ext>
              </a:extLst>
            </p:cNvPr>
            <p:cNvSpPr txBox="1"/>
            <p:nvPr/>
          </p:nvSpPr>
          <p:spPr>
            <a:xfrm rot="18000000">
              <a:off x="4850374" y="4780854"/>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4</a:t>
              </a:r>
            </a:p>
          </p:txBody>
        </p:sp>
        <p:sp>
          <p:nvSpPr>
            <p:cNvPr id="50" name="TextBox 49">
              <a:extLst>
                <a:ext uri="{FF2B5EF4-FFF2-40B4-BE49-F238E27FC236}">
                  <a16:creationId xmlns:a16="http://schemas.microsoft.com/office/drawing/2014/main" id="{3F132D91-BBE2-1D7C-8DDB-5923E415C84D}"/>
                </a:ext>
              </a:extLst>
            </p:cNvPr>
            <p:cNvSpPr txBox="1"/>
            <p:nvPr/>
          </p:nvSpPr>
          <p:spPr>
            <a:xfrm rot="18000000">
              <a:off x="6054703" y="2772569"/>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5</a:t>
              </a:r>
            </a:p>
          </p:txBody>
        </p:sp>
        <p:sp>
          <p:nvSpPr>
            <p:cNvPr id="51" name="TextBox 50">
              <a:extLst>
                <a:ext uri="{FF2B5EF4-FFF2-40B4-BE49-F238E27FC236}">
                  <a16:creationId xmlns:a16="http://schemas.microsoft.com/office/drawing/2014/main" id="{7E38BCA6-02BC-5AC0-A09E-2B4FB11D90CE}"/>
                </a:ext>
              </a:extLst>
            </p:cNvPr>
            <p:cNvSpPr txBox="1"/>
            <p:nvPr/>
          </p:nvSpPr>
          <p:spPr>
            <a:xfrm rot="18000000">
              <a:off x="8429729" y="2772570"/>
              <a:ext cx="569387" cy="1015663"/>
            </a:xfrm>
            <a:prstGeom prst="rect">
              <a:avLst/>
            </a:prstGeom>
            <a:noFill/>
          </p:spPr>
          <p:txBody>
            <a:bodyPr wrap="none" rtlCol="0">
              <a:spAutoFit/>
            </a:bodyPr>
            <a:lstStyle/>
            <a:p>
              <a:r>
                <a:rPr lang="en-US" sz="6000">
                  <a:latin typeface="Times New Roman" panose="02020603050405020304" pitchFamily="18" charset="0"/>
                  <a:cs typeface="Times New Roman" panose="02020603050405020304" pitchFamily="18" charset="0"/>
                </a:rPr>
                <a:t>6</a:t>
              </a:r>
            </a:p>
          </p:txBody>
        </p:sp>
      </p:grpSp>
      <p:grpSp>
        <p:nvGrpSpPr>
          <p:cNvPr id="2" name="Group 2">
            <a:extLst>
              <a:ext uri="{FF2B5EF4-FFF2-40B4-BE49-F238E27FC236}">
                <a16:creationId xmlns:a16="http://schemas.microsoft.com/office/drawing/2014/main" id="{256C5734-BCCF-C391-A1AF-6A2691E94387}"/>
              </a:ext>
            </a:extLst>
          </p:cNvPr>
          <p:cNvGrpSpPr/>
          <p:nvPr/>
        </p:nvGrpSpPr>
        <p:grpSpPr>
          <a:xfrm>
            <a:off x="1028700" y="9113698"/>
            <a:ext cx="140028" cy="140028"/>
            <a:chOff x="0" y="0"/>
            <a:chExt cx="6350000" cy="6350000"/>
          </a:xfrm>
        </p:grpSpPr>
        <p:sp>
          <p:nvSpPr>
            <p:cNvPr id="3" name="Freeform 3">
              <a:extLst>
                <a:ext uri="{FF2B5EF4-FFF2-40B4-BE49-F238E27FC236}">
                  <a16:creationId xmlns:a16="http://schemas.microsoft.com/office/drawing/2014/main" id="{CB8CBE85-EFB0-4AA1-692A-22B92F586C4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a:extLst>
              <a:ext uri="{FF2B5EF4-FFF2-40B4-BE49-F238E27FC236}">
                <a16:creationId xmlns:a16="http://schemas.microsoft.com/office/drawing/2014/main" id="{8F075AE2-95A5-06F5-3A10-77C0F62D88FC}"/>
              </a:ext>
            </a:extLst>
          </p:cNvPr>
          <p:cNvGrpSpPr/>
          <p:nvPr/>
        </p:nvGrpSpPr>
        <p:grpSpPr>
          <a:xfrm>
            <a:off x="1359228" y="9113698"/>
            <a:ext cx="140028" cy="140028"/>
            <a:chOff x="0" y="0"/>
            <a:chExt cx="6350000" cy="6350000"/>
          </a:xfrm>
        </p:grpSpPr>
        <p:sp>
          <p:nvSpPr>
            <p:cNvPr id="5" name="Freeform 5">
              <a:extLst>
                <a:ext uri="{FF2B5EF4-FFF2-40B4-BE49-F238E27FC236}">
                  <a16:creationId xmlns:a16="http://schemas.microsoft.com/office/drawing/2014/main" id="{6D8A07BF-3213-4935-6673-66E63ACBC3B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a:extLst>
              <a:ext uri="{FF2B5EF4-FFF2-40B4-BE49-F238E27FC236}">
                <a16:creationId xmlns:a16="http://schemas.microsoft.com/office/drawing/2014/main" id="{A2BC024D-8264-0D27-E0C7-DD7A36D26BDA}"/>
              </a:ext>
            </a:extLst>
          </p:cNvPr>
          <p:cNvGrpSpPr/>
          <p:nvPr/>
        </p:nvGrpSpPr>
        <p:grpSpPr>
          <a:xfrm>
            <a:off x="3011870" y="9113698"/>
            <a:ext cx="140028" cy="140028"/>
            <a:chOff x="0" y="0"/>
            <a:chExt cx="6350000" cy="6350000"/>
          </a:xfrm>
        </p:grpSpPr>
        <p:sp>
          <p:nvSpPr>
            <p:cNvPr id="7" name="Freeform 7">
              <a:extLst>
                <a:ext uri="{FF2B5EF4-FFF2-40B4-BE49-F238E27FC236}">
                  <a16:creationId xmlns:a16="http://schemas.microsoft.com/office/drawing/2014/main" id="{C0E2BFE1-7EA7-584E-5198-F83BC08A9A2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a:extLst>
              <a:ext uri="{FF2B5EF4-FFF2-40B4-BE49-F238E27FC236}">
                <a16:creationId xmlns:a16="http://schemas.microsoft.com/office/drawing/2014/main" id="{30184A3D-D164-8C06-E146-B14911DC0F20}"/>
              </a:ext>
            </a:extLst>
          </p:cNvPr>
          <p:cNvGrpSpPr/>
          <p:nvPr/>
        </p:nvGrpSpPr>
        <p:grpSpPr>
          <a:xfrm>
            <a:off x="2350813" y="9113698"/>
            <a:ext cx="140028" cy="140028"/>
            <a:chOff x="0" y="0"/>
            <a:chExt cx="6350000" cy="6350000"/>
          </a:xfrm>
        </p:grpSpPr>
        <p:sp>
          <p:nvSpPr>
            <p:cNvPr id="9" name="Freeform 9">
              <a:extLst>
                <a:ext uri="{FF2B5EF4-FFF2-40B4-BE49-F238E27FC236}">
                  <a16:creationId xmlns:a16="http://schemas.microsoft.com/office/drawing/2014/main" id="{1F0C5CA5-A374-884B-30F4-0BB9F743855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a:extLst>
              <a:ext uri="{FF2B5EF4-FFF2-40B4-BE49-F238E27FC236}">
                <a16:creationId xmlns:a16="http://schemas.microsoft.com/office/drawing/2014/main" id="{52415105-6417-45A5-B649-DF36A9922E55}"/>
              </a:ext>
            </a:extLst>
          </p:cNvPr>
          <p:cNvGrpSpPr/>
          <p:nvPr/>
        </p:nvGrpSpPr>
        <p:grpSpPr>
          <a:xfrm>
            <a:off x="3342398" y="9113698"/>
            <a:ext cx="140028" cy="140028"/>
            <a:chOff x="0" y="0"/>
            <a:chExt cx="6350000" cy="6350000"/>
          </a:xfrm>
        </p:grpSpPr>
        <p:sp>
          <p:nvSpPr>
            <p:cNvPr id="11" name="Freeform 11">
              <a:extLst>
                <a:ext uri="{FF2B5EF4-FFF2-40B4-BE49-F238E27FC236}">
                  <a16:creationId xmlns:a16="http://schemas.microsoft.com/office/drawing/2014/main" id="{CD10DB4F-93FE-2E0E-D623-2830F000D29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a:extLst>
              <a:ext uri="{FF2B5EF4-FFF2-40B4-BE49-F238E27FC236}">
                <a16:creationId xmlns:a16="http://schemas.microsoft.com/office/drawing/2014/main" id="{E46649D3-4FC0-E208-60A6-DF83E44176CF}"/>
              </a:ext>
            </a:extLst>
          </p:cNvPr>
          <p:cNvGrpSpPr/>
          <p:nvPr/>
        </p:nvGrpSpPr>
        <p:grpSpPr>
          <a:xfrm>
            <a:off x="1689757" y="9113698"/>
            <a:ext cx="140028" cy="140028"/>
            <a:chOff x="0" y="0"/>
            <a:chExt cx="6350000" cy="6350000"/>
          </a:xfrm>
        </p:grpSpPr>
        <p:sp>
          <p:nvSpPr>
            <p:cNvPr id="13" name="Freeform 13">
              <a:extLst>
                <a:ext uri="{FF2B5EF4-FFF2-40B4-BE49-F238E27FC236}">
                  <a16:creationId xmlns:a16="http://schemas.microsoft.com/office/drawing/2014/main" id="{DA9413FE-1360-CB34-5E25-BB61C94E5F0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a:extLst>
              <a:ext uri="{FF2B5EF4-FFF2-40B4-BE49-F238E27FC236}">
                <a16:creationId xmlns:a16="http://schemas.microsoft.com/office/drawing/2014/main" id="{1B024627-A3C4-7250-CF53-070A97C5FEBD}"/>
              </a:ext>
            </a:extLst>
          </p:cNvPr>
          <p:cNvGrpSpPr/>
          <p:nvPr/>
        </p:nvGrpSpPr>
        <p:grpSpPr>
          <a:xfrm>
            <a:off x="2020285" y="9113698"/>
            <a:ext cx="140028" cy="140028"/>
            <a:chOff x="0" y="0"/>
            <a:chExt cx="6350000" cy="6350000"/>
          </a:xfrm>
        </p:grpSpPr>
        <p:sp>
          <p:nvSpPr>
            <p:cNvPr id="15" name="Freeform 15">
              <a:extLst>
                <a:ext uri="{FF2B5EF4-FFF2-40B4-BE49-F238E27FC236}">
                  <a16:creationId xmlns:a16="http://schemas.microsoft.com/office/drawing/2014/main" id="{C109FF94-B876-31F4-523B-A7062B93AC6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a:extLst>
              <a:ext uri="{FF2B5EF4-FFF2-40B4-BE49-F238E27FC236}">
                <a16:creationId xmlns:a16="http://schemas.microsoft.com/office/drawing/2014/main" id="{E584A089-10B2-E5AF-0935-D5CB4DE6734C}"/>
              </a:ext>
            </a:extLst>
          </p:cNvPr>
          <p:cNvGrpSpPr/>
          <p:nvPr/>
        </p:nvGrpSpPr>
        <p:grpSpPr>
          <a:xfrm>
            <a:off x="2681342" y="9113698"/>
            <a:ext cx="140028" cy="140028"/>
            <a:chOff x="0" y="0"/>
            <a:chExt cx="6350000" cy="6350000"/>
          </a:xfrm>
        </p:grpSpPr>
        <p:sp>
          <p:nvSpPr>
            <p:cNvPr id="17" name="Freeform 17">
              <a:extLst>
                <a:ext uri="{FF2B5EF4-FFF2-40B4-BE49-F238E27FC236}">
                  <a16:creationId xmlns:a16="http://schemas.microsoft.com/office/drawing/2014/main" id="{E114360B-04B5-D547-4F5F-710DA2F79D1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a:extLst>
              <a:ext uri="{FF2B5EF4-FFF2-40B4-BE49-F238E27FC236}">
                <a16:creationId xmlns:a16="http://schemas.microsoft.com/office/drawing/2014/main" id="{A13374CC-44E8-075A-32BD-33F15A1960F6}"/>
              </a:ext>
            </a:extLst>
          </p:cNvPr>
          <p:cNvGrpSpPr/>
          <p:nvPr/>
        </p:nvGrpSpPr>
        <p:grpSpPr>
          <a:xfrm>
            <a:off x="3672927" y="9113698"/>
            <a:ext cx="140028" cy="140028"/>
            <a:chOff x="0" y="0"/>
            <a:chExt cx="6350000" cy="6350000"/>
          </a:xfrm>
        </p:grpSpPr>
        <p:sp>
          <p:nvSpPr>
            <p:cNvPr id="19" name="Freeform 19">
              <a:extLst>
                <a:ext uri="{FF2B5EF4-FFF2-40B4-BE49-F238E27FC236}">
                  <a16:creationId xmlns:a16="http://schemas.microsoft.com/office/drawing/2014/main" id="{F0555ECB-7261-F77F-D0A8-5A83E3658CE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a:extLst>
              <a:ext uri="{FF2B5EF4-FFF2-40B4-BE49-F238E27FC236}">
                <a16:creationId xmlns:a16="http://schemas.microsoft.com/office/drawing/2014/main" id="{798010B4-DF20-E5C0-47D5-2F7C0667767D}"/>
              </a:ext>
            </a:extLst>
          </p:cNvPr>
          <p:cNvGrpSpPr/>
          <p:nvPr/>
        </p:nvGrpSpPr>
        <p:grpSpPr>
          <a:xfrm>
            <a:off x="4003455" y="9113698"/>
            <a:ext cx="140028" cy="140028"/>
            <a:chOff x="0" y="0"/>
            <a:chExt cx="6350000" cy="6350000"/>
          </a:xfrm>
        </p:grpSpPr>
        <p:sp>
          <p:nvSpPr>
            <p:cNvPr id="21" name="Freeform 21">
              <a:extLst>
                <a:ext uri="{FF2B5EF4-FFF2-40B4-BE49-F238E27FC236}">
                  <a16:creationId xmlns:a16="http://schemas.microsoft.com/office/drawing/2014/main" id="{574CB999-D8C3-93B9-8655-BE035ED83B0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a:extLst>
              <a:ext uri="{FF2B5EF4-FFF2-40B4-BE49-F238E27FC236}">
                <a16:creationId xmlns:a16="http://schemas.microsoft.com/office/drawing/2014/main" id="{C17DDD36-3F38-F9C3-D04C-03EE2EC8804A}"/>
              </a:ext>
            </a:extLst>
          </p:cNvPr>
          <p:cNvGrpSpPr/>
          <p:nvPr/>
        </p:nvGrpSpPr>
        <p:grpSpPr>
          <a:xfrm>
            <a:off x="16786804" y="1028700"/>
            <a:ext cx="472496" cy="541606"/>
            <a:chOff x="0" y="0"/>
            <a:chExt cx="1243443" cy="1425315"/>
          </a:xfrm>
        </p:grpSpPr>
        <p:sp>
          <p:nvSpPr>
            <p:cNvPr id="23" name="Freeform 23">
              <a:extLst>
                <a:ext uri="{FF2B5EF4-FFF2-40B4-BE49-F238E27FC236}">
                  <a16:creationId xmlns:a16="http://schemas.microsoft.com/office/drawing/2014/main" id="{9D4507EB-ECCA-12B6-2099-47CE717108BB}"/>
                </a:ext>
              </a:extLst>
            </p:cNvPr>
            <p:cNvSpPr/>
            <p:nvPr/>
          </p:nvSpPr>
          <p:spPr>
            <a:xfrm>
              <a:off x="0" y="0"/>
              <a:ext cx="1243443" cy="1425315"/>
            </a:xfrm>
            <a:custGeom>
              <a:avLst/>
              <a:gdLst/>
              <a:ahLst/>
              <a:cxnLst/>
              <a:rect l="l" t="t" r="r" b="b"/>
              <a:pathLst>
                <a:path w="1243443" h="1425315">
                  <a:moveTo>
                    <a:pt x="621722" y="0"/>
                  </a:moveTo>
                  <a:cubicBezTo>
                    <a:pt x="278354" y="0"/>
                    <a:pt x="0" y="319068"/>
                    <a:pt x="0" y="712658"/>
                  </a:cubicBezTo>
                  <a:cubicBezTo>
                    <a:pt x="0" y="1106247"/>
                    <a:pt x="278354" y="1425315"/>
                    <a:pt x="621722" y="1425315"/>
                  </a:cubicBezTo>
                  <a:cubicBezTo>
                    <a:pt x="965089" y="1425315"/>
                    <a:pt x="1243443" y="1106247"/>
                    <a:pt x="1243443" y="712658"/>
                  </a:cubicBezTo>
                  <a:cubicBezTo>
                    <a:pt x="1243443" y="319068"/>
                    <a:pt x="965089" y="0"/>
                    <a:pt x="621722"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a:extLst>
                <a:ext uri="{FF2B5EF4-FFF2-40B4-BE49-F238E27FC236}">
                  <a16:creationId xmlns:a16="http://schemas.microsoft.com/office/drawing/2014/main" id="{B43BD7AB-F445-8117-9CC3-0E7403CC4A4B}"/>
                </a:ext>
              </a:extLst>
            </p:cNvPr>
            <p:cNvSpPr txBox="1"/>
            <p:nvPr/>
          </p:nvSpPr>
          <p:spPr>
            <a:xfrm>
              <a:off x="116573" y="105048"/>
              <a:ext cx="1010298" cy="1186644"/>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7</a:t>
              </a:r>
            </a:p>
          </p:txBody>
        </p:sp>
      </p:grpSp>
      <p:sp>
        <p:nvSpPr>
          <p:cNvPr id="25" name="TextBox 25">
            <a:extLst>
              <a:ext uri="{FF2B5EF4-FFF2-40B4-BE49-F238E27FC236}">
                <a16:creationId xmlns:a16="http://schemas.microsoft.com/office/drawing/2014/main" id="{663EE2A7-5FF3-CB50-0D25-F1F1C619785C}"/>
              </a:ext>
            </a:extLst>
          </p:cNvPr>
          <p:cNvSpPr txBox="1"/>
          <p:nvPr/>
        </p:nvSpPr>
        <p:spPr>
          <a:xfrm>
            <a:off x="1028700" y="1028700"/>
            <a:ext cx="9568021" cy="1095375"/>
          </a:xfrm>
          <a:prstGeom prst="rect">
            <a:avLst/>
          </a:prstGeom>
        </p:spPr>
        <p:txBody>
          <a:bodyPr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Làm sạch dữ liệu</a:t>
            </a:r>
          </a:p>
        </p:txBody>
      </p:sp>
      <p:grpSp>
        <p:nvGrpSpPr>
          <p:cNvPr id="27" name="Group 27">
            <a:extLst>
              <a:ext uri="{FF2B5EF4-FFF2-40B4-BE49-F238E27FC236}">
                <a16:creationId xmlns:a16="http://schemas.microsoft.com/office/drawing/2014/main" id="{B8F5B082-892B-9C51-3F72-E2B91AB903D9}"/>
              </a:ext>
            </a:extLst>
          </p:cNvPr>
          <p:cNvGrpSpPr/>
          <p:nvPr/>
        </p:nvGrpSpPr>
        <p:grpSpPr>
          <a:xfrm>
            <a:off x="4333983" y="9118272"/>
            <a:ext cx="140028" cy="140028"/>
            <a:chOff x="0" y="0"/>
            <a:chExt cx="6350000" cy="6350000"/>
          </a:xfrm>
        </p:grpSpPr>
        <p:sp>
          <p:nvSpPr>
            <p:cNvPr id="28" name="Freeform 28">
              <a:extLst>
                <a:ext uri="{FF2B5EF4-FFF2-40B4-BE49-F238E27FC236}">
                  <a16:creationId xmlns:a16="http://schemas.microsoft.com/office/drawing/2014/main" id="{9613CB4C-4D13-93DF-E5FC-1DB0C3BFEDF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a:extLst>
              <a:ext uri="{FF2B5EF4-FFF2-40B4-BE49-F238E27FC236}">
                <a16:creationId xmlns:a16="http://schemas.microsoft.com/office/drawing/2014/main" id="{0F50DB4A-5C13-96A4-1F54-568DDC7BD153}"/>
              </a:ext>
            </a:extLst>
          </p:cNvPr>
          <p:cNvGrpSpPr/>
          <p:nvPr/>
        </p:nvGrpSpPr>
        <p:grpSpPr>
          <a:xfrm>
            <a:off x="4664512" y="9122846"/>
            <a:ext cx="140028" cy="140028"/>
            <a:chOff x="0" y="0"/>
            <a:chExt cx="6350000" cy="6350000"/>
          </a:xfrm>
        </p:grpSpPr>
        <p:sp>
          <p:nvSpPr>
            <p:cNvPr id="30" name="Freeform 30">
              <a:extLst>
                <a:ext uri="{FF2B5EF4-FFF2-40B4-BE49-F238E27FC236}">
                  <a16:creationId xmlns:a16="http://schemas.microsoft.com/office/drawing/2014/main" id="{45546A08-F193-807D-CEF0-726E5BFBB2F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a:extLst>
              <a:ext uri="{FF2B5EF4-FFF2-40B4-BE49-F238E27FC236}">
                <a16:creationId xmlns:a16="http://schemas.microsoft.com/office/drawing/2014/main" id="{58EE5AD6-EBEE-5E03-AE6A-FAF5C87EB67C}"/>
              </a:ext>
            </a:extLst>
          </p:cNvPr>
          <p:cNvGrpSpPr/>
          <p:nvPr/>
        </p:nvGrpSpPr>
        <p:grpSpPr>
          <a:xfrm>
            <a:off x="4995040" y="9127420"/>
            <a:ext cx="140028" cy="140028"/>
            <a:chOff x="0" y="0"/>
            <a:chExt cx="6350000" cy="6350000"/>
          </a:xfrm>
        </p:grpSpPr>
        <p:sp>
          <p:nvSpPr>
            <p:cNvPr id="32" name="Freeform 32">
              <a:extLst>
                <a:ext uri="{FF2B5EF4-FFF2-40B4-BE49-F238E27FC236}">
                  <a16:creationId xmlns:a16="http://schemas.microsoft.com/office/drawing/2014/main" id="{FE5886D4-2002-3E00-1E93-92F63077FCB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26" name="Rectangle 25">
            <a:extLst>
              <a:ext uri="{FF2B5EF4-FFF2-40B4-BE49-F238E27FC236}">
                <a16:creationId xmlns:a16="http://schemas.microsoft.com/office/drawing/2014/main" id="{E86BC8FC-8D76-1FD4-9720-821EFE496BD9}"/>
              </a:ext>
            </a:extLst>
          </p:cNvPr>
          <p:cNvSpPr/>
          <p:nvPr/>
        </p:nvSpPr>
        <p:spPr>
          <a:xfrm>
            <a:off x="7772757" y="2387896"/>
            <a:ext cx="45719" cy="64899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4" name="TextBox 25">
            <a:extLst>
              <a:ext uri="{FF2B5EF4-FFF2-40B4-BE49-F238E27FC236}">
                <a16:creationId xmlns:a16="http://schemas.microsoft.com/office/drawing/2014/main" id="{61BB6E1C-9BB5-5720-B038-1CB8292120C3}"/>
              </a:ext>
            </a:extLst>
          </p:cNvPr>
          <p:cNvSpPr txBox="1"/>
          <p:nvPr/>
        </p:nvSpPr>
        <p:spPr>
          <a:xfrm>
            <a:off x="3342398" y="3426836"/>
            <a:ext cx="4052819" cy="2137765"/>
          </a:xfrm>
          <a:prstGeom prst="rect">
            <a:avLst/>
          </a:prstGeom>
        </p:spPr>
        <p:txBody>
          <a:bodyPr wrap="square" lIns="0" tIns="0" rIns="0" bIns="0" rtlCol="0" anchor="t">
            <a:spAutoFit/>
          </a:bodyPr>
          <a:lstStyle/>
          <a:p>
            <a:pPr marL="0" lvl="0" indent="0" algn="l">
              <a:lnSpc>
                <a:spcPts val="8640"/>
              </a:lnSpc>
              <a:spcBef>
                <a:spcPct val="0"/>
              </a:spcBef>
            </a:pPr>
            <a:r>
              <a:rPr lang="en-US" sz="5400" b="1" spc="-144">
                <a:solidFill>
                  <a:srgbClr val="000000"/>
                </a:solidFill>
                <a:latin typeface="Times New Roman" panose="02020603050405020304" pitchFamily="18" charset="0"/>
                <a:ea typeface="Garet Bold"/>
                <a:cs typeface="Times New Roman" panose="02020603050405020304" pitchFamily="18" charset="0"/>
                <a:sym typeface="Garet Bold"/>
              </a:rPr>
              <a:t>Chuẩn hóa emoji</a:t>
            </a:r>
          </a:p>
        </p:txBody>
      </p:sp>
      <p:sp>
        <p:nvSpPr>
          <p:cNvPr id="54" name="TextBox 27">
            <a:extLst>
              <a:ext uri="{FF2B5EF4-FFF2-40B4-BE49-F238E27FC236}">
                <a16:creationId xmlns:a16="http://schemas.microsoft.com/office/drawing/2014/main" id="{060C07D2-275F-B868-7B77-9B3992053D13}"/>
              </a:ext>
            </a:extLst>
          </p:cNvPr>
          <p:cNvSpPr txBox="1"/>
          <p:nvPr/>
        </p:nvSpPr>
        <p:spPr>
          <a:xfrm>
            <a:off x="8353038" y="5632893"/>
            <a:ext cx="9031926" cy="2955746"/>
          </a:xfrm>
          <a:prstGeom prst="rect">
            <a:avLst/>
          </a:prstGeom>
        </p:spPr>
        <p:txBody>
          <a:bodyPr wrap="square" lIns="0" tIns="0" rIns="0" bIns="0" rtlCol="0" anchor="t">
            <a:spAutoFit/>
          </a:bodyPr>
          <a:lstStyle/>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Ánh xạ emoji thành từ mô tả cảm xúc</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T</a:t>
            </a:r>
            <a:r>
              <a:rPr lang="vi-VN" sz="3300">
                <a:solidFill>
                  <a:srgbClr val="A6A6A6"/>
                </a:solidFill>
                <a:latin typeface="Times New Roman" panose="02020603050405020304" pitchFamily="18" charset="0"/>
                <a:ea typeface="Garet"/>
                <a:cs typeface="Times New Roman" panose="02020603050405020304" pitchFamily="18" charset="0"/>
                <a:sym typeface="Garet"/>
              </a:rPr>
              <a:t>hay</a:t>
            </a:r>
            <a:r>
              <a:rPr lang="en-US" sz="3300">
                <a:solidFill>
                  <a:srgbClr val="A6A6A6"/>
                </a:solidFill>
                <a:latin typeface="Times New Roman" panose="02020603050405020304" pitchFamily="18" charset="0"/>
                <a:ea typeface="Garet"/>
                <a:cs typeface="Times New Roman" panose="02020603050405020304" pitchFamily="18" charset="0"/>
                <a:sym typeface="Garet"/>
              </a:rPr>
              <a:t> emoji</a:t>
            </a:r>
            <a:r>
              <a:rPr lang="vi-VN" sz="3300">
                <a:solidFill>
                  <a:srgbClr val="A6A6A6"/>
                </a:solidFill>
                <a:latin typeface="Times New Roman" panose="02020603050405020304" pitchFamily="18" charset="0"/>
                <a:ea typeface="Garet"/>
                <a:cs typeface="Times New Roman" panose="02020603050405020304" pitchFamily="18" charset="0"/>
                <a:sym typeface="Garet"/>
              </a:rPr>
              <a:t> bằng cụm từ cảm xúc tương ứng</a:t>
            </a:r>
            <a:endParaRPr lang="en-US" sz="3300">
              <a:solidFill>
                <a:srgbClr val="A6A6A6"/>
              </a:solidFill>
              <a:latin typeface="Times New Roman" panose="02020603050405020304" pitchFamily="18" charset="0"/>
              <a:ea typeface="Garet"/>
              <a:cs typeface="Times New Roman" panose="02020603050405020304" pitchFamily="18" charset="0"/>
              <a:sym typeface="Garet"/>
            </a:endParaRP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Giữ nguyên ý nghĩa cảm xúc emoji</a:t>
            </a:r>
          </a:p>
          <a:p>
            <a:pPr marL="518160" lvl="1" indent="-259080" algn="l">
              <a:lnSpc>
                <a:spcPct val="1500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Tăng hiệu quả phân loại các bình luận chứa emoji</a:t>
            </a:r>
          </a:p>
        </p:txBody>
      </p:sp>
      <p:sp>
        <p:nvSpPr>
          <p:cNvPr id="56" name="TextBox 55">
            <a:extLst>
              <a:ext uri="{FF2B5EF4-FFF2-40B4-BE49-F238E27FC236}">
                <a16:creationId xmlns:a16="http://schemas.microsoft.com/office/drawing/2014/main" id="{B38D9E39-A6A0-6284-AF06-8BA3BDAA00E3}"/>
              </a:ext>
            </a:extLst>
          </p:cNvPr>
          <p:cNvSpPr txBox="1"/>
          <p:nvPr/>
        </p:nvSpPr>
        <p:spPr>
          <a:xfrm>
            <a:off x="8744350" y="2555045"/>
            <a:ext cx="2804162" cy="2646878"/>
          </a:xfrm>
          <a:prstGeom prst="rect">
            <a:avLst/>
          </a:prstGeom>
          <a:noFill/>
        </p:spPr>
        <p:txBody>
          <a:bodyPr wrap="square">
            <a:spAutoFit/>
          </a:bodyPr>
          <a:lstStyle/>
          <a:p>
            <a:r>
              <a:rPr lang="en-US" sz="16600" b="0" i="0">
                <a:solidFill>
                  <a:srgbClr val="1F2328"/>
                </a:solidFill>
                <a:effectLst/>
                <a:latin typeface="Times New Roman" panose="02020603050405020304" pitchFamily="18" charset="0"/>
                <a:cs typeface="Times New Roman" panose="02020603050405020304" pitchFamily="18" charset="0"/>
              </a:rPr>
              <a:t>😊</a:t>
            </a:r>
            <a:endParaRPr lang="en-US" sz="16600">
              <a:latin typeface="Times New Roman" panose="02020603050405020304" pitchFamily="18" charset="0"/>
              <a:cs typeface="Times New Roman" panose="02020603050405020304" pitchFamily="18" charset="0"/>
            </a:endParaRPr>
          </a:p>
        </p:txBody>
      </p:sp>
      <p:sp>
        <p:nvSpPr>
          <p:cNvPr id="57" name="Arrow: Right 56">
            <a:extLst>
              <a:ext uri="{FF2B5EF4-FFF2-40B4-BE49-F238E27FC236}">
                <a16:creationId xmlns:a16="http://schemas.microsoft.com/office/drawing/2014/main" id="{DB632EF9-5934-BCCD-062C-72F59590ED2D}"/>
              </a:ext>
            </a:extLst>
          </p:cNvPr>
          <p:cNvSpPr/>
          <p:nvPr/>
        </p:nvSpPr>
        <p:spPr>
          <a:xfrm>
            <a:off x="11771577" y="3569163"/>
            <a:ext cx="1443939" cy="61864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D30C2552-16ED-7C7F-3813-16D18E98B599}"/>
              </a:ext>
            </a:extLst>
          </p:cNvPr>
          <p:cNvSpPr txBox="1"/>
          <p:nvPr/>
        </p:nvSpPr>
        <p:spPr>
          <a:xfrm>
            <a:off x="13561385" y="3332553"/>
            <a:ext cx="4338547" cy="1015663"/>
          </a:xfrm>
          <a:prstGeom prst="rect">
            <a:avLst/>
          </a:prstGeom>
          <a:noFill/>
        </p:spPr>
        <p:txBody>
          <a:bodyPr wrap="square">
            <a:spAutoFit/>
          </a:bodyPr>
          <a:lstStyle/>
          <a:p>
            <a:r>
              <a:rPr lang="en-US" sz="6000" b="1" i="0">
                <a:solidFill>
                  <a:srgbClr val="1F2328"/>
                </a:solidFill>
                <a:effectLst/>
                <a:latin typeface="Times New Roman" panose="02020603050405020304" pitchFamily="18" charset="0"/>
                <a:cs typeface="Times New Roman" panose="02020603050405020304" pitchFamily="18" charset="0"/>
              </a:rPr>
              <a:t>rất_tích_cực</a:t>
            </a:r>
            <a:endParaRPr lang="en-US" sz="60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4797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3342398"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011870"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3815" y="1028700"/>
            <a:ext cx="475485" cy="541606"/>
            <a:chOff x="0" y="0"/>
            <a:chExt cx="1431928" cy="1631052"/>
          </a:xfrm>
        </p:grpSpPr>
        <p:sp>
          <p:nvSpPr>
            <p:cNvPr id="23" name="Freeform 23"/>
            <p:cNvSpPr/>
            <p:nvPr/>
          </p:nvSpPr>
          <p:spPr>
            <a:xfrm>
              <a:off x="0" y="0"/>
              <a:ext cx="1431928" cy="1631052"/>
            </a:xfrm>
            <a:custGeom>
              <a:avLst/>
              <a:gdLst/>
              <a:ahLst/>
              <a:cxnLst/>
              <a:rect l="l" t="t" r="r" b="b"/>
              <a:pathLst>
                <a:path w="1431928" h="1631052">
                  <a:moveTo>
                    <a:pt x="715964" y="0"/>
                  </a:moveTo>
                  <a:cubicBezTo>
                    <a:pt x="320548" y="0"/>
                    <a:pt x="0" y="365123"/>
                    <a:pt x="0" y="815526"/>
                  </a:cubicBezTo>
                  <a:cubicBezTo>
                    <a:pt x="0" y="1265928"/>
                    <a:pt x="320548" y="1631052"/>
                    <a:pt x="715964" y="1631052"/>
                  </a:cubicBezTo>
                  <a:cubicBezTo>
                    <a:pt x="1111380" y="1631052"/>
                    <a:pt x="1431928" y="1265928"/>
                    <a:pt x="1431928" y="815526"/>
                  </a:cubicBezTo>
                  <a:cubicBezTo>
                    <a:pt x="1431928" y="365123"/>
                    <a:pt x="1111380" y="0"/>
                    <a:pt x="715964"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34243" y="124336"/>
              <a:ext cx="1163441" cy="1353805"/>
            </a:xfrm>
            <a:prstGeom prst="rect">
              <a:avLst/>
            </a:prstGeom>
          </p:spPr>
          <p:txBody>
            <a:bodyPr lIns="50800" tIns="50800" rIns="50800" bIns="50800" rtlCol="0" anchor="ctr"/>
            <a:lstStyle/>
            <a:p>
              <a:pPr algn="ctr">
                <a:lnSpc>
                  <a:spcPts val="2399"/>
                </a:lnSpc>
              </a:pPr>
              <a:r>
                <a:rPr lang="en-US" sz="1599">
                  <a:solidFill>
                    <a:srgbClr val="000000"/>
                  </a:solidFill>
                  <a:latin typeface="Times New Roman" panose="02020603050405020304" pitchFamily="18" charset="0"/>
                  <a:ea typeface="Garet"/>
                  <a:cs typeface="Times New Roman" panose="02020603050405020304" pitchFamily="18" charset="0"/>
                  <a:sym typeface="Garet"/>
                </a:rPr>
                <a:t>8</a:t>
              </a:r>
            </a:p>
          </p:txBody>
        </p:sp>
      </p:grpSp>
      <p:sp>
        <p:nvSpPr>
          <p:cNvPr id="25" name="Freeform 25"/>
          <p:cNvSpPr/>
          <p:nvPr/>
        </p:nvSpPr>
        <p:spPr>
          <a:xfrm>
            <a:off x="1499256" y="1801564"/>
            <a:ext cx="7429500" cy="6172200"/>
          </a:xfrm>
          <a:custGeom>
            <a:avLst/>
            <a:gdLst/>
            <a:ahLst/>
            <a:cxnLst/>
            <a:rect l="l" t="t" r="r" b="b"/>
            <a:pathLst>
              <a:path w="9797032" h="7862118">
                <a:moveTo>
                  <a:pt x="0" y="0"/>
                </a:moveTo>
                <a:lnTo>
                  <a:pt x="9797032" y="0"/>
                </a:lnTo>
                <a:lnTo>
                  <a:pt x="9797032" y="7862118"/>
                </a:lnTo>
                <a:lnTo>
                  <a:pt x="0" y="7862118"/>
                </a:lnTo>
                <a:lnTo>
                  <a:pt x="0" y="0"/>
                </a:lnTo>
                <a:close/>
              </a:path>
            </a:pathLst>
          </a:custGeom>
          <a:blipFill>
            <a:blip r:embed="rId3"/>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26" name="TextBox 26"/>
          <p:cNvSpPr txBox="1"/>
          <p:nvPr/>
        </p:nvSpPr>
        <p:spPr>
          <a:xfrm>
            <a:off x="8631441" y="1028700"/>
            <a:ext cx="7429500" cy="2205732"/>
          </a:xfrm>
          <a:prstGeom prst="rect">
            <a:avLst/>
          </a:prstGeom>
        </p:spPr>
        <p:txBody>
          <a:bodyPr wrap="square" lIns="0" tIns="0" rIns="0" bIns="0" rtlCol="0" anchor="t">
            <a:spAutoFit/>
          </a:bodyPr>
          <a:lstStyle/>
          <a:p>
            <a:pPr marL="0" lvl="0" indent="0"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Biểu diễn đặc trưng văn bản</a:t>
            </a:r>
          </a:p>
        </p:txBody>
      </p:sp>
      <p:sp>
        <p:nvSpPr>
          <p:cNvPr id="27" name="TextBox 27"/>
          <p:cNvSpPr txBox="1"/>
          <p:nvPr/>
        </p:nvSpPr>
        <p:spPr>
          <a:xfrm>
            <a:off x="8631441" y="3427387"/>
            <a:ext cx="9252909" cy="560859"/>
          </a:xfrm>
          <a:prstGeom prst="rect">
            <a:avLst/>
          </a:prstGeom>
        </p:spPr>
        <p:txBody>
          <a:bodyPr wrap="square" lIns="0" tIns="0" rIns="0" bIns="0" rtlCol="0" anchor="t">
            <a:spAutoFit/>
          </a:bodyPr>
          <a:lstStyle/>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Sử dụng phương pháp TF-IDF kết hợp N-gram</a:t>
            </a:r>
          </a:p>
        </p:txBody>
      </p:sp>
      <p:grpSp>
        <p:nvGrpSpPr>
          <p:cNvPr id="28" name="Group 28"/>
          <p:cNvGrpSpPr/>
          <p:nvPr/>
        </p:nvGrpSpPr>
        <p:grpSpPr>
          <a:xfrm>
            <a:off x="4333983" y="9118272"/>
            <a:ext cx="140028" cy="140028"/>
            <a:chOff x="0" y="0"/>
            <a:chExt cx="6350000" cy="6350000"/>
          </a:xfrm>
        </p:grpSpPr>
        <p:sp>
          <p:nvSpPr>
            <p:cNvPr id="29" name="Freeform 2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0" name="Group 30"/>
          <p:cNvGrpSpPr/>
          <p:nvPr/>
        </p:nvGrpSpPr>
        <p:grpSpPr>
          <a:xfrm>
            <a:off x="4664512" y="9122846"/>
            <a:ext cx="140028" cy="140028"/>
            <a:chOff x="0" y="0"/>
            <a:chExt cx="6350000" cy="6350000"/>
          </a:xfrm>
        </p:grpSpPr>
        <p:sp>
          <p:nvSpPr>
            <p:cNvPr id="31" name="Freeform 3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2" name="Group 32"/>
          <p:cNvGrpSpPr/>
          <p:nvPr/>
        </p:nvGrpSpPr>
        <p:grpSpPr>
          <a:xfrm>
            <a:off x="4995040" y="9127420"/>
            <a:ext cx="140028" cy="140028"/>
            <a:chOff x="0" y="0"/>
            <a:chExt cx="6350000" cy="6350000"/>
          </a:xfrm>
        </p:grpSpPr>
        <p:sp>
          <p:nvSpPr>
            <p:cNvPr id="33" name="Freeform 3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pic>
        <p:nvPicPr>
          <p:cNvPr id="35" name="Picture 34" descr="A computer screen with text and numbers&#10;&#10;AI-generated content may be incorrect.">
            <a:extLst>
              <a:ext uri="{FF2B5EF4-FFF2-40B4-BE49-F238E27FC236}">
                <a16:creationId xmlns:a16="http://schemas.microsoft.com/office/drawing/2014/main" id="{9C0D33D4-625B-C0D4-40B8-8FC41941A9E9}"/>
              </a:ext>
            </a:extLst>
          </p:cNvPr>
          <p:cNvPicPr>
            <a:picLocks noChangeAspect="1"/>
          </p:cNvPicPr>
          <p:nvPr/>
        </p:nvPicPr>
        <p:blipFill>
          <a:blip r:embed="rId4"/>
          <a:stretch>
            <a:fillRect/>
          </a:stretch>
        </p:blipFill>
        <p:spPr>
          <a:xfrm>
            <a:off x="9144000" y="4639900"/>
            <a:ext cx="6172200" cy="3544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3672927" y="9113698"/>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011870"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6201" y="1028700"/>
            <a:ext cx="473099" cy="541606"/>
            <a:chOff x="0" y="0"/>
            <a:chExt cx="1656507" cy="1896376"/>
          </a:xfrm>
        </p:grpSpPr>
        <p:sp>
          <p:nvSpPr>
            <p:cNvPr id="23" name="Freeform 23"/>
            <p:cNvSpPr/>
            <p:nvPr/>
          </p:nvSpPr>
          <p:spPr>
            <a:xfrm>
              <a:off x="0" y="0"/>
              <a:ext cx="1656507" cy="1896376"/>
            </a:xfrm>
            <a:custGeom>
              <a:avLst/>
              <a:gdLst/>
              <a:ahLst/>
              <a:cxnLst/>
              <a:rect l="l" t="t" r="r" b="b"/>
              <a:pathLst>
                <a:path w="1656507" h="1896376">
                  <a:moveTo>
                    <a:pt x="828254" y="0"/>
                  </a:moveTo>
                  <a:cubicBezTo>
                    <a:pt x="370822" y="0"/>
                    <a:pt x="0" y="424518"/>
                    <a:pt x="0" y="948188"/>
                  </a:cubicBezTo>
                  <a:cubicBezTo>
                    <a:pt x="0" y="1471858"/>
                    <a:pt x="370822" y="1896376"/>
                    <a:pt x="828254" y="1896376"/>
                  </a:cubicBezTo>
                  <a:cubicBezTo>
                    <a:pt x="1285685" y="1896376"/>
                    <a:pt x="1656507" y="1471858"/>
                    <a:pt x="1656507" y="948188"/>
                  </a:cubicBezTo>
                  <a:cubicBezTo>
                    <a:pt x="1656507" y="424518"/>
                    <a:pt x="1285685" y="0"/>
                    <a:pt x="828254"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55298" y="149210"/>
              <a:ext cx="1345912" cy="1569381"/>
            </a:xfrm>
            <a:prstGeom prst="rect">
              <a:avLst/>
            </a:prstGeom>
          </p:spPr>
          <p:txBody>
            <a:bodyPr lIns="50800" tIns="50800" rIns="50800" bIns="50800" rtlCol="0" anchor="ctr"/>
            <a:lstStyle/>
            <a:p>
              <a:pPr algn="ctr">
                <a:lnSpc>
                  <a:spcPts val="2399"/>
                </a:lnSpc>
              </a:pPr>
              <a:r>
                <a:rPr lang="en-US" sz="1599">
                  <a:solidFill>
                    <a:srgbClr val="365B6D"/>
                  </a:solidFill>
                  <a:latin typeface="Times New Roman" panose="02020603050405020304" pitchFamily="18" charset="0"/>
                  <a:ea typeface="Garet"/>
                  <a:cs typeface="Times New Roman" panose="02020603050405020304" pitchFamily="18" charset="0"/>
                  <a:sym typeface="Garet"/>
                </a:rPr>
                <a:t>9</a:t>
              </a:r>
            </a:p>
          </p:txBody>
        </p:sp>
      </p:grpSp>
      <p:sp>
        <p:nvSpPr>
          <p:cNvPr id="25" name="TextBox 25"/>
          <p:cNvSpPr txBox="1"/>
          <p:nvPr/>
        </p:nvSpPr>
        <p:spPr>
          <a:xfrm>
            <a:off x="1028700" y="1028700"/>
            <a:ext cx="9738025" cy="1095375"/>
          </a:xfrm>
          <a:prstGeom prst="rect">
            <a:avLst/>
          </a:prstGeom>
        </p:spPr>
        <p:txBody>
          <a:bodyPr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Xây dựng mô hình</a:t>
            </a:r>
          </a:p>
        </p:txBody>
      </p:sp>
      <p:sp>
        <p:nvSpPr>
          <p:cNvPr id="26" name="TextBox 26"/>
          <p:cNvSpPr txBox="1"/>
          <p:nvPr/>
        </p:nvSpPr>
        <p:spPr>
          <a:xfrm>
            <a:off x="1028700" y="2770027"/>
            <a:ext cx="11276822" cy="3638625"/>
          </a:xfrm>
          <a:prstGeom prst="rect">
            <a:avLst/>
          </a:prstGeom>
        </p:spPr>
        <p:txBody>
          <a:bodyPr lIns="0" tIns="0" rIns="0" bIns="0" rtlCol="0" anchor="t">
            <a:spAutoFit/>
          </a:bodyPr>
          <a:lstStyle/>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Dữ liệu được chia theo tỉ lệ 80/20 cho huấn luyện / kiểm thử</a:t>
            </a:r>
          </a:p>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Sử dụng Logistic Regression, vì:</a:t>
            </a:r>
          </a:p>
          <a:p>
            <a:pPr marL="1036320" lvl="2" indent="-34544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đơn giản</a:t>
            </a:r>
          </a:p>
          <a:p>
            <a:pPr marL="1036320" lvl="2" indent="-34544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hiệu quả với các dữ liệu thưa</a:t>
            </a:r>
          </a:p>
          <a:p>
            <a:pPr marL="1036320" lvl="2" indent="-34544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tốn ít tài nguyên phần cứng</a:t>
            </a:r>
          </a:p>
          <a:p>
            <a:pPr marL="1036320" lvl="2" indent="-34544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giúp hiểu được trọng số từng đặc trưng</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pic>
        <p:nvPicPr>
          <p:cNvPr id="34" name="Picture 33" descr="A computer screen with text&#10;&#10;AI-generated content may be incorrect.">
            <a:extLst>
              <a:ext uri="{FF2B5EF4-FFF2-40B4-BE49-F238E27FC236}">
                <a16:creationId xmlns:a16="http://schemas.microsoft.com/office/drawing/2014/main" id="{01302CAB-A81C-F4E8-EA4A-1C656F1E8CD1}"/>
              </a:ext>
            </a:extLst>
          </p:cNvPr>
          <p:cNvPicPr>
            <a:picLocks noChangeAspect="1"/>
          </p:cNvPicPr>
          <p:nvPr/>
        </p:nvPicPr>
        <p:blipFill>
          <a:blip r:embed="rId3"/>
          <a:stretch>
            <a:fillRect/>
          </a:stretch>
        </p:blipFill>
        <p:spPr>
          <a:xfrm>
            <a:off x="9296279" y="3771900"/>
            <a:ext cx="8256740" cy="3810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4003455" y="9118272"/>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011870"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3670080"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6201" y="1028700"/>
            <a:ext cx="473099" cy="541606"/>
            <a:chOff x="0" y="0"/>
            <a:chExt cx="1656507" cy="1896376"/>
          </a:xfrm>
        </p:grpSpPr>
        <p:sp>
          <p:nvSpPr>
            <p:cNvPr id="23" name="Freeform 23"/>
            <p:cNvSpPr/>
            <p:nvPr/>
          </p:nvSpPr>
          <p:spPr>
            <a:xfrm>
              <a:off x="0" y="0"/>
              <a:ext cx="1656507" cy="1896376"/>
            </a:xfrm>
            <a:custGeom>
              <a:avLst/>
              <a:gdLst/>
              <a:ahLst/>
              <a:cxnLst/>
              <a:rect l="l" t="t" r="r" b="b"/>
              <a:pathLst>
                <a:path w="1656507" h="1896376">
                  <a:moveTo>
                    <a:pt x="828254" y="0"/>
                  </a:moveTo>
                  <a:cubicBezTo>
                    <a:pt x="370822" y="0"/>
                    <a:pt x="0" y="424518"/>
                    <a:pt x="0" y="948188"/>
                  </a:cubicBezTo>
                  <a:cubicBezTo>
                    <a:pt x="0" y="1471858"/>
                    <a:pt x="370822" y="1896376"/>
                    <a:pt x="828254" y="1896376"/>
                  </a:cubicBezTo>
                  <a:cubicBezTo>
                    <a:pt x="1285685" y="1896376"/>
                    <a:pt x="1656507" y="1471858"/>
                    <a:pt x="1656507" y="948188"/>
                  </a:cubicBezTo>
                  <a:cubicBezTo>
                    <a:pt x="1656507" y="424518"/>
                    <a:pt x="1285685" y="0"/>
                    <a:pt x="828254"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55298" y="149210"/>
              <a:ext cx="1345912" cy="1569381"/>
            </a:xfrm>
            <a:prstGeom prst="rect">
              <a:avLst/>
            </a:prstGeom>
          </p:spPr>
          <p:txBody>
            <a:bodyPr lIns="50800" tIns="50800" rIns="50800" bIns="50800" rtlCol="0" anchor="ctr"/>
            <a:lstStyle/>
            <a:p>
              <a:pPr algn="ctr">
                <a:lnSpc>
                  <a:spcPts val="2399"/>
                </a:lnSpc>
              </a:pPr>
              <a:r>
                <a:rPr lang="en-US" sz="1599">
                  <a:solidFill>
                    <a:srgbClr val="365B6D"/>
                  </a:solidFill>
                  <a:latin typeface="Garet"/>
                  <a:ea typeface="Garet"/>
                  <a:cs typeface="Garet"/>
                  <a:sym typeface="Garet"/>
                </a:rPr>
                <a:t>9</a:t>
              </a:r>
            </a:p>
          </p:txBody>
        </p:sp>
      </p:grpSp>
      <p:sp>
        <p:nvSpPr>
          <p:cNvPr id="25" name="Freeform 25"/>
          <p:cNvSpPr/>
          <p:nvPr/>
        </p:nvSpPr>
        <p:spPr>
          <a:xfrm>
            <a:off x="2732167" y="2546237"/>
            <a:ext cx="12823666" cy="5911243"/>
          </a:xfrm>
          <a:custGeom>
            <a:avLst/>
            <a:gdLst/>
            <a:ahLst/>
            <a:cxnLst/>
            <a:rect l="l" t="t" r="r" b="b"/>
            <a:pathLst>
              <a:path w="12823666" h="5911243">
                <a:moveTo>
                  <a:pt x="0" y="0"/>
                </a:moveTo>
                <a:lnTo>
                  <a:pt x="12823666" y="0"/>
                </a:lnTo>
                <a:lnTo>
                  <a:pt x="12823666" y="5911244"/>
                </a:lnTo>
                <a:lnTo>
                  <a:pt x="0" y="5911244"/>
                </a:lnTo>
                <a:lnTo>
                  <a:pt x="0" y="0"/>
                </a:lnTo>
                <a:close/>
              </a:path>
            </a:pathLst>
          </a:custGeom>
          <a:blipFill>
            <a:blip r:embed="rId3"/>
            <a:stretch>
              <a:fillRect t="-25410"/>
            </a:stretch>
          </a:blipFill>
        </p:spPr>
        <p:txBody>
          <a:bodyPr/>
          <a:lstStyle/>
          <a:p>
            <a:endParaRPr lang="en-US"/>
          </a:p>
        </p:txBody>
      </p:sp>
      <p:sp>
        <p:nvSpPr>
          <p:cNvPr id="26" name="TextBox 26"/>
          <p:cNvSpPr txBox="1"/>
          <p:nvPr/>
        </p:nvSpPr>
        <p:spPr>
          <a:xfrm>
            <a:off x="1028700" y="1028700"/>
            <a:ext cx="10858500" cy="1102866"/>
          </a:xfrm>
          <a:prstGeom prst="rect">
            <a:avLst/>
          </a:prstGeom>
        </p:spPr>
        <p:txBody>
          <a:bodyPr wrap="square"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Kết quả thực nghiệm</a:t>
            </a:r>
          </a:p>
        </p:txBody>
      </p:sp>
      <p:grpSp>
        <p:nvGrpSpPr>
          <p:cNvPr id="27" name="Group 27"/>
          <p:cNvGrpSpPr/>
          <p:nvPr/>
        </p:nvGrpSpPr>
        <p:grpSpPr>
          <a:xfrm>
            <a:off x="4333983" y="9118272"/>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9" name="Group 29"/>
          <p:cNvGrpSpPr/>
          <p:nvPr/>
        </p:nvGrpSpPr>
        <p:grpSpPr>
          <a:xfrm>
            <a:off x="4664512" y="9122846"/>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1" name="Group 31"/>
          <p:cNvGrpSpPr/>
          <p:nvPr/>
        </p:nvGrpSpPr>
        <p:grpSpPr>
          <a:xfrm>
            <a:off x="4995040" y="9127420"/>
            <a:ext cx="140028" cy="140028"/>
            <a:chOff x="0" y="0"/>
            <a:chExt cx="6350000" cy="6350000"/>
          </a:xfrm>
        </p:grpSpPr>
        <p:sp>
          <p:nvSpPr>
            <p:cNvPr id="32" name="Freeform 3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4333983" y="9127420"/>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011870"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6201" y="1028700"/>
            <a:ext cx="473099" cy="541606"/>
            <a:chOff x="0" y="0"/>
            <a:chExt cx="1656507" cy="1896376"/>
          </a:xfrm>
        </p:grpSpPr>
        <p:sp>
          <p:nvSpPr>
            <p:cNvPr id="23" name="Freeform 23"/>
            <p:cNvSpPr/>
            <p:nvPr/>
          </p:nvSpPr>
          <p:spPr>
            <a:xfrm>
              <a:off x="0" y="0"/>
              <a:ext cx="1656507" cy="1896376"/>
            </a:xfrm>
            <a:custGeom>
              <a:avLst/>
              <a:gdLst/>
              <a:ahLst/>
              <a:cxnLst/>
              <a:rect l="l" t="t" r="r" b="b"/>
              <a:pathLst>
                <a:path w="1656507" h="1896376">
                  <a:moveTo>
                    <a:pt x="828254" y="0"/>
                  </a:moveTo>
                  <a:cubicBezTo>
                    <a:pt x="370822" y="0"/>
                    <a:pt x="0" y="424518"/>
                    <a:pt x="0" y="948188"/>
                  </a:cubicBezTo>
                  <a:cubicBezTo>
                    <a:pt x="0" y="1471858"/>
                    <a:pt x="370822" y="1896376"/>
                    <a:pt x="828254" y="1896376"/>
                  </a:cubicBezTo>
                  <a:cubicBezTo>
                    <a:pt x="1285685" y="1896376"/>
                    <a:pt x="1656507" y="1471858"/>
                    <a:pt x="1656507" y="948188"/>
                  </a:cubicBezTo>
                  <a:cubicBezTo>
                    <a:pt x="1656507" y="424518"/>
                    <a:pt x="1285685" y="0"/>
                    <a:pt x="828254"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55298" y="149210"/>
              <a:ext cx="1345912" cy="1569381"/>
            </a:xfrm>
            <a:prstGeom prst="rect">
              <a:avLst/>
            </a:prstGeom>
          </p:spPr>
          <p:txBody>
            <a:bodyPr lIns="50800" tIns="50800" rIns="50800" bIns="50800" rtlCol="0" anchor="ctr"/>
            <a:lstStyle/>
            <a:p>
              <a:pPr algn="ctr">
                <a:lnSpc>
                  <a:spcPts val="2399"/>
                </a:lnSpc>
              </a:pPr>
              <a:r>
                <a:rPr lang="en-US" sz="1599">
                  <a:solidFill>
                    <a:srgbClr val="365B6D"/>
                  </a:solidFill>
                  <a:latin typeface="Garet"/>
                  <a:ea typeface="Garet"/>
                  <a:cs typeface="Garet"/>
                  <a:sym typeface="Garet"/>
                </a:rPr>
                <a:t>9</a:t>
              </a:r>
            </a:p>
          </p:txBody>
        </p:sp>
      </p:grpSp>
      <p:sp>
        <p:nvSpPr>
          <p:cNvPr id="25" name="TextBox 25"/>
          <p:cNvSpPr txBox="1"/>
          <p:nvPr/>
        </p:nvSpPr>
        <p:spPr>
          <a:xfrm>
            <a:off x="6248989" y="4010025"/>
            <a:ext cx="5181012" cy="2169440"/>
          </a:xfrm>
          <a:prstGeom prst="rect">
            <a:avLst/>
          </a:prstGeom>
        </p:spPr>
        <p:txBody>
          <a:bodyPr wrap="square" lIns="0" tIns="0" rIns="0" bIns="0" rtlCol="0" anchor="t">
            <a:spAutoFit/>
          </a:bodyPr>
          <a:lstStyle/>
          <a:p>
            <a:pPr algn="l">
              <a:lnSpc>
                <a:spcPts val="17877"/>
              </a:lnSpc>
              <a:spcBef>
                <a:spcPct val="0"/>
              </a:spcBef>
            </a:pPr>
            <a:r>
              <a:rPr lang="en-US" sz="14898" b="1" spc="-297">
                <a:solidFill>
                  <a:srgbClr val="000000"/>
                </a:solidFill>
                <a:latin typeface="Times New Roman" panose="02020603050405020304" pitchFamily="18" charset="0"/>
                <a:ea typeface="Garet Bold"/>
                <a:cs typeface="Times New Roman" panose="02020603050405020304" pitchFamily="18" charset="0"/>
                <a:sym typeface="Garet Bold"/>
              </a:rPr>
              <a:t>Demo</a:t>
            </a:r>
          </a:p>
        </p:txBody>
      </p:sp>
      <p:grpSp>
        <p:nvGrpSpPr>
          <p:cNvPr id="26" name="Group 26"/>
          <p:cNvGrpSpPr/>
          <p:nvPr/>
        </p:nvGrpSpPr>
        <p:grpSpPr>
          <a:xfrm>
            <a:off x="3672927" y="9127420"/>
            <a:ext cx="140028" cy="140028"/>
            <a:chOff x="0" y="0"/>
            <a:chExt cx="6350000" cy="6350000"/>
          </a:xfrm>
        </p:grpSpPr>
        <p:sp>
          <p:nvSpPr>
            <p:cNvPr id="27" name="Freeform 2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8" name="Group 28"/>
          <p:cNvGrpSpPr/>
          <p:nvPr/>
        </p:nvGrpSpPr>
        <p:grpSpPr>
          <a:xfrm>
            <a:off x="4664512" y="9122846"/>
            <a:ext cx="140028" cy="140028"/>
            <a:chOff x="0" y="0"/>
            <a:chExt cx="6350000" cy="6350000"/>
          </a:xfrm>
        </p:grpSpPr>
        <p:sp>
          <p:nvSpPr>
            <p:cNvPr id="29" name="Freeform 2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0" name="Group 30"/>
          <p:cNvGrpSpPr/>
          <p:nvPr/>
        </p:nvGrpSpPr>
        <p:grpSpPr>
          <a:xfrm>
            <a:off x="4995040" y="9127420"/>
            <a:ext cx="140028" cy="140028"/>
            <a:chOff x="0" y="0"/>
            <a:chExt cx="6350000" cy="6350000"/>
          </a:xfrm>
        </p:grpSpPr>
        <p:sp>
          <p:nvSpPr>
            <p:cNvPr id="31" name="Freeform 3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6" name="Group 6"/>
          <p:cNvGrpSpPr/>
          <p:nvPr/>
        </p:nvGrpSpPr>
        <p:grpSpPr>
          <a:xfrm>
            <a:off x="4664512" y="9127420"/>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18" name="Group 18"/>
          <p:cNvGrpSpPr/>
          <p:nvPr/>
        </p:nvGrpSpPr>
        <p:grpSpPr>
          <a:xfrm>
            <a:off x="3011870"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0" name="Group 20"/>
          <p:cNvGrpSpPr/>
          <p:nvPr/>
        </p:nvGrpSpPr>
        <p:grpSpPr>
          <a:xfrm>
            <a:off x="4003455"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16786201" y="1028700"/>
            <a:ext cx="473099" cy="541606"/>
            <a:chOff x="0" y="0"/>
            <a:chExt cx="1656507" cy="1896376"/>
          </a:xfrm>
        </p:grpSpPr>
        <p:sp>
          <p:nvSpPr>
            <p:cNvPr id="23" name="Freeform 23"/>
            <p:cNvSpPr/>
            <p:nvPr/>
          </p:nvSpPr>
          <p:spPr>
            <a:xfrm>
              <a:off x="0" y="0"/>
              <a:ext cx="1656507" cy="1896376"/>
            </a:xfrm>
            <a:custGeom>
              <a:avLst/>
              <a:gdLst/>
              <a:ahLst/>
              <a:cxnLst/>
              <a:rect l="l" t="t" r="r" b="b"/>
              <a:pathLst>
                <a:path w="1656507" h="1896376">
                  <a:moveTo>
                    <a:pt x="828254" y="0"/>
                  </a:moveTo>
                  <a:cubicBezTo>
                    <a:pt x="370822" y="0"/>
                    <a:pt x="0" y="424518"/>
                    <a:pt x="0" y="948188"/>
                  </a:cubicBezTo>
                  <a:cubicBezTo>
                    <a:pt x="0" y="1471858"/>
                    <a:pt x="370822" y="1896376"/>
                    <a:pt x="828254" y="1896376"/>
                  </a:cubicBezTo>
                  <a:cubicBezTo>
                    <a:pt x="1285685" y="1896376"/>
                    <a:pt x="1656507" y="1471858"/>
                    <a:pt x="1656507" y="948188"/>
                  </a:cubicBezTo>
                  <a:cubicBezTo>
                    <a:pt x="1656507" y="424518"/>
                    <a:pt x="1285685" y="0"/>
                    <a:pt x="828254" y="0"/>
                  </a:cubicBezTo>
                  <a:close/>
                </a:path>
              </a:pathLst>
            </a:custGeom>
            <a:solidFill>
              <a:srgbClr val="000000">
                <a:alpha val="0"/>
              </a:srgbClr>
            </a:solidFill>
            <a:ln w="19050" cap="sq">
              <a:solidFill>
                <a:srgbClr val="000000"/>
              </a:solidFill>
              <a:prstDash val="solid"/>
              <a:miter/>
            </a:ln>
          </p:spPr>
          <p:txBody>
            <a:bodyPr/>
            <a:lstStyle/>
            <a:p>
              <a:endParaRPr lang="en-US">
                <a:latin typeface="Times New Roman" panose="02020603050405020304" pitchFamily="18" charset="0"/>
                <a:cs typeface="Times New Roman" panose="02020603050405020304" pitchFamily="18" charset="0"/>
              </a:endParaRPr>
            </a:p>
          </p:txBody>
        </p:sp>
        <p:sp>
          <p:nvSpPr>
            <p:cNvPr id="24" name="TextBox 24"/>
            <p:cNvSpPr txBox="1"/>
            <p:nvPr/>
          </p:nvSpPr>
          <p:spPr>
            <a:xfrm>
              <a:off x="155298" y="149210"/>
              <a:ext cx="1345912" cy="1569381"/>
            </a:xfrm>
            <a:prstGeom prst="rect">
              <a:avLst/>
            </a:prstGeom>
          </p:spPr>
          <p:txBody>
            <a:bodyPr lIns="50800" tIns="50800" rIns="50800" bIns="50800" rtlCol="0" anchor="ctr"/>
            <a:lstStyle/>
            <a:p>
              <a:pPr algn="ctr">
                <a:lnSpc>
                  <a:spcPts val="2399"/>
                </a:lnSpc>
              </a:pPr>
              <a:r>
                <a:rPr lang="en-US" sz="1599">
                  <a:solidFill>
                    <a:srgbClr val="365B6D"/>
                  </a:solidFill>
                  <a:latin typeface="Times New Roman" panose="02020603050405020304" pitchFamily="18" charset="0"/>
                  <a:ea typeface="Garet"/>
                  <a:cs typeface="Times New Roman" panose="02020603050405020304" pitchFamily="18" charset="0"/>
                  <a:sym typeface="Garet"/>
                </a:rPr>
                <a:t>9</a:t>
              </a:r>
            </a:p>
          </p:txBody>
        </p:sp>
      </p:grpSp>
      <p:grpSp>
        <p:nvGrpSpPr>
          <p:cNvPr id="25" name="Group 25"/>
          <p:cNvGrpSpPr/>
          <p:nvPr/>
        </p:nvGrpSpPr>
        <p:grpSpPr>
          <a:xfrm>
            <a:off x="4333983" y="9118272"/>
            <a:ext cx="140028" cy="140028"/>
            <a:chOff x="0" y="0"/>
            <a:chExt cx="6350000" cy="6350000"/>
          </a:xfrm>
        </p:grpSpPr>
        <p:sp>
          <p:nvSpPr>
            <p:cNvPr id="26" name="Freeform 26"/>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7" name="Group 27"/>
          <p:cNvGrpSpPr/>
          <p:nvPr/>
        </p:nvGrpSpPr>
        <p:grpSpPr>
          <a:xfrm>
            <a:off x="3672927" y="9127420"/>
            <a:ext cx="140028" cy="140028"/>
            <a:chOff x="0" y="0"/>
            <a:chExt cx="6350000" cy="6350000"/>
          </a:xfrm>
        </p:grpSpPr>
        <p:sp>
          <p:nvSpPr>
            <p:cNvPr id="28" name="Freeform 2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grpSp>
        <p:nvGrpSpPr>
          <p:cNvPr id="29" name="Group 29"/>
          <p:cNvGrpSpPr/>
          <p:nvPr/>
        </p:nvGrpSpPr>
        <p:grpSpPr>
          <a:xfrm>
            <a:off x="4995040" y="9127420"/>
            <a:ext cx="140028" cy="140028"/>
            <a:chOff x="0" y="0"/>
            <a:chExt cx="6350000" cy="6350000"/>
          </a:xfrm>
        </p:grpSpPr>
        <p:sp>
          <p:nvSpPr>
            <p:cNvPr id="30" name="Freeform 30"/>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latin typeface="Times New Roman" panose="02020603050405020304" pitchFamily="18" charset="0"/>
                <a:cs typeface="Times New Roman" panose="02020603050405020304" pitchFamily="18" charset="0"/>
              </a:endParaRPr>
            </a:p>
          </p:txBody>
        </p:sp>
      </p:grpSp>
      <p:sp>
        <p:nvSpPr>
          <p:cNvPr id="31" name="Freeform 31"/>
          <p:cNvSpPr/>
          <p:nvPr/>
        </p:nvSpPr>
        <p:spPr>
          <a:xfrm>
            <a:off x="11074509" y="3052114"/>
            <a:ext cx="7213491" cy="6215334"/>
          </a:xfrm>
          <a:custGeom>
            <a:avLst/>
            <a:gdLst/>
            <a:ahLst/>
            <a:cxnLst/>
            <a:rect l="l" t="t" r="r" b="b"/>
            <a:pathLst>
              <a:path w="7213491" h="6215334">
                <a:moveTo>
                  <a:pt x="0" y="0"/>
                </a:moveTo>
                <a:lnTo>
                  <a:pt x="7213491" y="0"/>
                </a:lnTo>
                <a:lnTo>
                  <a:pt x="7213491" y="6215334"/>
                </a:lnTo>
                <a:lnTo>
                  <a:pt x="0" y="6215334"/>
                </a:lnTo>
                <a:lnTo>
                  <a:pt x="0" y="0"/>
                </a:lnTo>
                <a:close/>
              </a:path>
            </a:pathLst>
          </a:custGeom>
          <a:blipFill>
            <a:blip r:embed="rId3"/>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32" name="TextBox 32"/>
          <p:cNvSpPr txBox="1"/>
          <p:nvPr/>
        </p:nvSpPr>
        <p:spPr>
          <a:xfrm>
            <a:off x="1028700" y="1028700"/>
            <a:ext cx="9738025" cy="2190750"/>
          </a:xfrm>
          <a:prstGeom prst="rect">
            <a:avLst/>
          </a:prstGeom>
        </p:spPr>
        <p:txBody>
          <a:bodyPr lIns="0" tIns="0" rIns="0" bIns="0" rtlCol="0" anchor="t">
            <a:spAutoFit/>
          </a:bodyPr>
          <a:lstStyle/>
          <a:p>
            <a:pPr algn="l">
              <a:lnSpc>
                <a:spcPts val="8640"/>
              </a:lnSpc>
              <a:spcBef>
                <a:spcPct val="0"/>
              </a:spcBef>
            </a:pPr>
            <a:r>
              <a:rPr lang="en-US" sz="9000" b="1" spc="-144">
                <a:solidFill>
                  <a:srgbClr val="000000"/>
                </a:solidFill>
                <a:latin typeface="Times New Roman" panose="02020603050405020304" pitchFamily="18" charset="0"/>
                <a:ea typeface="Garet Bold"/>
                <a:cs typeface="Times New Roman" panose="02020603050405020304" pitchFamily="18" charset="0"/>
                <a:sym typeface="Garet Bold"/>
              </a:rPr>
              <a:t>Tổng kết &amp; Định hướng phát triển</a:t>
            </a:r>
          </a:p>
        </p:txBody>
      </p:sp>
      <p:sp>
        <p:nvSpPr>
          <p:cNvPr id="33" name="TextBox 33"/>
          <p:cNvSpPr txBox="1"/>
          <p:nvPr/>
        </p:nvSpPr>
        <p:spPr>
          <a:xfrm>
            <a:off x="1028700" y="3975789"/>
            <a:ext cx="8390827" cy="4254178"/>
          </a:xfrm>
          <a:prstGeom prst="rect">
            <a:avLst/>
          </a:prstGeom>
        </p:spPr>
        <p:txBody>
          <a:bodyPr lIns="0" tIns="0" rIns="0" bIns="0" rtlCol="0" anchor="t">
            <a:spAutoFit/>
          </a:bodyPr>
          <a:lstStyle/>
          <a:p>
            <a:pPr algn="l">
              <a:lnSpc>
                <a:spcPts val="4800"/>
              </a:lnSpc>
            </a:pPr>
            <a:r>
              <a:rPr lang="en-US" sz="3300">
                <a:solidFill>
                  <a:srgbClr val="A6A6A6"/>
                </a:solidFill>
                <a:latin typeface="Times New Roman" panose="02020603050405020304" pitchFamily="18" charset="0"/>
                <a:ea typeface="Garet"/>
                <a:cs typeface="Times New Roman" panose="02020603050405020304" pitchFamily="18" charset="0"/>
                <a:sym typeface="Garet"/>
              </a:rPr>
              <a:t>Tổng kết:</a:t>
            </a:r>
          </a:p>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xây dựng thành công hệ thống phân loại cảm xúc</a:t>
            </a:r>
          </a:p>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tiền xử lý kỹ lưỡng</a:t>
            </a:r>
          </a:p>
          <a:p>
            <a:pPr algn="l">
              <a:lnSpc>
                <a:spcPts val="4800"/>
              </a:lnSpc>
            </a:pPr>
            <a:r>
              <a:rPr lang="en-US" sz="3300">
                <a:solidFill>
                  <a:srgbClr val="A6A6A6"/>
                </a:solidFill>
                <a:latin typeface="Times New Roman" panose="02020603050405020304" pitchFamily="18" charset="0"/>
                <a:ea typeface="Garet"/>
                <a:cs typeface="Times New Roman" panose="02020603050405020304" pitchFamily="18" charset="0"/>
                <a:sym typeface="Garet"/>
              </a:rPr>
              <a:t>Định hướng:</a:t>
            </a:r>
          </a:p>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mở rộng dữ liệu</a:t>
            </a:r>
          </a:p>
          <a:p>
            <a:pPr marL="518160" lvl="1" indent="-259080" algn="l">
              <a:lnSpc>
                <a:spcPts val="4800"/>
              </a:lnSpc>
              <a:buFont typeface="Arial"/>
              <a:buChar char="•"/>
            </a:pPr>
            <a:r>
              <a:rPr lang="en-US" sz="3300">
                <a:solidFill>
                  <a:srgbClr val="A6A6A6"/>
                </a:solidFill>
                <a:latin typeface="Times New Roman" panose="02020603050405020304" pitchFamily="18" charset="0"/>
                <a:ea typeface="Garet"/>
                <a:cs typeface="Times New Roman" panose="02020603050405020304" pitchFamily="18" charset="0"/>
                <a:sym typeface="Garet"/>
              </a:rPr>
              <a:t>sử dụng các mô hình hiện đại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9113698"/>
            <a:ext cx="140028" cy="140028"/>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4" name="Group 4"/>
          <p:cNvGrpSpPr/>
          <p:nvPr/>
        </p:nvGrpSpPr>
        <p:grpSpPr>
          <a:xfrm>
            <a:off x="1359228" y="9113698"/>
            <a:ext cx="140028" cy="140028"/>
            <a:chOff x="0" y="0"/>
            <a:chExt cx="6350000" cy="6350000"/>
          </a:xfrm>
        </p:grpSpPr>
        <p:sp>
          <p:nvSpPr>
            <p:cNvPr id="5" name="Freeform 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6" name="Group 6"/>
          <p:cNvGrpSpPr/>
          <p:nvPr/>
        </p:nvGrpSpPr>
        <p:grpSpPr>
          <a:xfrm>
            <a:off x="4995040" y="9122846"/>
            <a:ext cx="140028" cy="140028"/>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solidFill>
          </p:spPr>
          <p:txBody>
            <a:bodyPr/>
            <a:lstStyle/>
            <a:p>
              <a:endParaRPr lang="en-US"/>
            </a:p>
          </p:txBody>
        </p:sp>
      </p:grpSp>
      <p:grpSp>
        <p:nvGrpSpPr>
          <p:cNvPr id="8" name="Group 8"/>
          <p:cNvGrpSpPr/>
          <p:nvPr/>
        </p:nvGrpSpPr>
        <p:grpSpPr>
          <a:xfrm>
            <a:off x="2350813" y="9113698"/>
            <a:ext cx="140028" cy="140028"/>
            <a:chOff x="0" y="0"/>
            <a:chExt cx="6350000" cy="6350000"/>
          </a:xfrm>
        </p:grpSpPr>
        <p:sp>
          <p:nvSpPr>
            <p:cNvPr id="9" name="Freeform 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0" name="Group 10"/>
          <p:cNvGrpSpPr/>
          <p:nvPr/>
        </p:nvGrpSpPr>
        <p:grpSpPr>
          <a:xfrm>
            <a:off x="3342398" y="9113698"/>
            <a:ext cx="140028" cy="140028"/>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2" name="Group 12"/>
          <p:cNvGrpSpPr/>
          <p:nvPr/>
        </p:nvGrpSpPr>
        <p:grpSpPr>
          <a:xfrm>
            <a:off x="1689757" y="9113698"/>
            <a:ext cx="140028" cy="140028"/>
            <a:chOff x="0" y="0"/>
            <a:chExt cx="6350000" cy="6350000"/>
          </a:xfrm>
        </p:grpSpPr>
        <p:sp>
          <p:nvSpPr>
            <p:cNvPr id="13" name="Freeform 1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4" name="Group 14"/>
          <p:cNvGrpSpPr/>
          <p:nvPr/>
        </p:nvGrpSpPr>
        <p:grpSpPr>
          <a:xfrm>
            <a:off x="2020285" y="9113698"/>
            <a:ext cx="140028" cy="140028"/>
            <a:chOff x="0" y="0"/>
            <a:chExt cx="6350000" cy="6350000"/>
          </a:xfrm>
        </p:grpSpPr>
        <p:sp>
          <p:nvSpPr>
            <p:cNvPr id="15" name="Freeform 15"/>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6" name="Group 16"/>
          <p:cNvGrpSpPr/>
          <p:nvPr/>
        </p:nvGrpSpPr>
        <p:grpSpPr>
          <a:xfrm>
            <a:off x="2681342" y="9113698"/>
            <a:ext cx="140028" cy="140028"/>
            <a:chOff x="0" y="0"/>
            <a:chExt cx="6350000" cy="6350000"/>
          </a:xfrm>
        </p:grpSpPr>
        <p:sp>
          <p:nvSpPr>
            <p:cNvPr id="17" name="Freeform 1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18" name="Group 18"/>
          <p:cNvGrpSpPr/>
          <p:nvPr/>
        </p:nvGrpSpPr>
        <p:grpSpPr>
          <a:xfrm>
            <a:off x="3672927" y="9113698"/>
            <a:ext cx="140028" cy="140028"/>
            <a:chOff x="0" y="0"/>
            <a:chExt cx="6350000" cy="6350000"/>
          </a:xfrm>
        </p:grpSpPr>
        <p:sp>
          <p:nvSpPr>
            <p:cNvPr id="19" name="Freeform 1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0" name="Group 20"/>
          <p:cNvGrpSpPr/>
          <p:nvPr/>
        </p:nvGrpSpPr>
        <p:grpSpPr>
          <a:xfrm>
            <a:off x="3011870" y="9113698"/>
            <a:ext cx="140028" cy="140028"/>
            <a:chOff x="0" y="0"/>
            <a:chExt cx="6350000" cy="6350000"/>
          </a:xfrm>
        </p:grpSpPr>
        <p:sp>
          <p:nvSpPr>
            <p:cNvPr id="21" name="Freeform 2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2" name="Group 22"/>
          <p:cNvGrpSpPr/>
          <p:nvPr/>
        </p:nvGrpSpPr>
        <p:grpSpPr>
          <a:xfrm>
            <a:off x="16785803" y="1028700"/>
            <a:ext cx="473497" cy="541606"/>
            <a:chOff x="0" y="0"/>
            <a:chExt cx="1408785" cy="1611429"/>
          </a:xfrm>
        </p:grpSpPr>
        <p:sp>
          <p:nvSpPr>
            <p:cNvPr id="23" name="Freeform 23"/>
            <p:cNvSpPr/>
            <p:nvPr/>
          </p:nvSpPr>
          <p:spPr>
            <a:xfrm>
              <a:off x="0" y="0"/>
              <a:ext cx="1408785" cy="1611429"/>
            </a:xfrm>
            <a:custGeom>
              <a:avLst/>
              <a:gdLst/>
              <a:ahLst/>
              <a:cxnLst/>
              <a:rect l="l" t="t" r="r" b="b"/>
              <a:pathLst>
                <a:path w="1408785" h="1611429">
                  <a:moveTo>
                    <a:pt x="704393" y="0"/>
                  </a:moveTo>
                  <a:cubicBezTo>
                    <a:pt x="315367" y="0"/>
                    <a:pt x="0" y="360731"/>
                    <a:pt x="0" y="805715"/>
                  </a:cubicBezTo>
                  <a:cubicBezTo>
                    <a:pt x="0" y="1250699"/>
                    <a:pt x="315367" y="1611429"/>
                    <a:pt x="704393" y="1611429"/>
                  </a:cubicBezTo>
                  <a:cubicBezTo>
                    <a:pt x="1093418" y="1611429"/>
                    <a:pt x="1408785" y="1250699"/>
                    <a:pt x="1408785" y="805715"/>
                  </a:cubicBezTo>
                  <a:cubicBezTo>
                    <a:pt x="1408785" y="360731"/>
                    <a:pt x="1093418" y="0"/>
                    <a:pt x="704393" y="0"/>
                  </a:cubicBezTo>
                  <a:close/>
                </a:path>
              </a:pathLst>
            </a:custGeom>
            <a:solidFill>
              <a:srgbClr val="000000">
                <a:alpha val="0"/>
              </a:srgbClr>
            </a:solidFill>
            <a:ln w="19050" cap="sq">
              <a:solidFill>
                <a:srgbClr val="000000"/>
              </a:solidFill>
              <a:prstDash val="solid"/>
              <a:miter/>
            </a:ln>
          </p:spPr>
          <p:txBody>
            <a:bodyPr/>
            <a:lstStyle/>
            <a:p>
              <a:endParaRPr lang="en-US"/>
            </a:p>
          </p:txBody>
        </p:sp>
        <p:sp>
          <p:nvSpPr>
            <p:cNvPr id="24" name="TextBox 24"/>
            <p:cNvSpPr txBox="1"/>
            <p:nvPr/>
          </p:nvSpPr>
          <p:spPr>
            <a:xfrm>
              <a:off x="132074" y="122497"/>
              <a:ext cx="1144638" cy="1337861"/>
            </a:xfrm>
            <a:prstGeom prst="rect">
              <a:avLst/>
            </a:prstGeom>
          </p:spPr>
          <p:txBody>
            <a:bodyPr lIns="50800" tIns="50800" rIns="50800" bIns="50800" rtlCol="0" anchor="ctr"/>
            <a:lstStyle/>
            <a:p>
              <a:pPr algn="ctr">
                <a:lnSpc>
                  <a:spcPts val="2399"/>
                </a:lnSpc>
              </a:pPr>
              <a:r>
                <a:rPr lang="en-US" sz="1599">
                  <a:solidFill>
                    <a:srgbClr val="000000"/>
                  </a:solidFill>
                  <a:latin typeface="Garet"/>
                  <a:ea typeface="Garet"/>
                  <a:cs typeface="Garet"/>
                  <a:sym typeface="Garet"/>
                </a:rPr>
                <a:t>10</a:t>
              </a:r>
            </a:p>
          </p:txBody>
        </p:sp>
      </p:grpSp>
      <p:sp>
        <p:nvSpPr>
          <p:cNvPr id="25" name="TextBox 25"/>
          <p:cNvSpPr txBox="1"/>
          <p:nvPr/>
        </p:nvSpPr>
        <p:spPr>
          <a:xfrm>
            <a:off x="4856809" y="3819525"/>
            <a:ext cx="8574383" cy="2725105"/>
          </a:xfrm>
          <a:prstGeom prst="rect">
            <a:avLst/>
          </a:prstGeom>
        </p:spPr>
        <p:txBody>
          <a:bodyPr lIns="0" tIns="0" rIns="0" bIns="0" rtlCol="0" anchor="t">
            <a:spAutoFit/>
          </a:bodyPr>
          <a:lstStyle/>
          <a:p>
            <a:pPr marL="0" lvl="0" indent="0" algn="l">
              <a:lnSpc>
                <a:spcPts val="10559"/>
              </a:lnSpc>
              <a:spcBef>
                <a:spcPct val="0"/>
              </a:spcBef>
            </a:pPr>
            <a:r>
              <a:rPr lang="en-US" sz="9000" b="1" u="none" strike="noStrike" spc="-175">
                <a:solidFill>
                  <a:srgbClr val="000000"/>
                </a:solidFill>
                <a:latin typeface="Garet Bold"/>
                <a:ea typeface="Garet Bold"/>
                <a:cs typeface="Garet Bold"/>
                <a:sym typeface="Garet Bold"/>
              </a:rPr>
              <a:t>Thank you for your attention</a:t>
            </a:r>
          </a:p>
        </p:txBody>
      </p:sp>
      <p:grpSp>
        <p:nvGrpSpPr>
          <p:cNvPr id="26" name="Group 26"/>
          <p:cNvGrpSpPr/>
          <p:nvPr/>
        </p:nvGrpSpPr>
        <p:grpSpPr>
          <a:xfrm>
            <a:off x="4333983" y="9118272"/>
            <a:ext cx="140028" cy="140028"/>
            <a:chOff x="0" y="0"/>
            <a:chExt cx="6350000" cy="6350000"/>
          </a:xfrm>
        </p:grpSpPr>
        <p:sp>
          <p:nvSpPr>
            <p:cNvPr id="27" name="Freeform 2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28" name="Group 28"/>
          <p:cNvGrpSpPr/>
          <p:nvPr/>
        </p:nvGrpSpPr>
        <p:grpSpPr>
          <a:xfrm>
            <a:off x="4664512" y="9122846"/>
            <a:ext cx="140028" cy="140028"/>
            <a:chOff x="0" y="0"/>
            <a:chExt cx="6350000" cy="6350000"/>
          </a:xfrm>
        </p:grpSpPr>
        <p:sp>
          <p:nvSpPr>
            <p:cNvPr id="29" name="Freeform 29"/>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grpSp>
        <p:nvGrpSpPr>
          <p:cNvPr id="30" name="Group 30"/>
          <p:cNvGrpSpPr/>
          <p:nvPr/>
        </p:nvGrpSpPr>
        <p:grpSpPr>
          <a:xfrm>
            <a:off x="4003455" y="9122846"/>
            <a:ext cx="140028" cy="140028"/>
            <a:chOff x="0" y="0"/>
            <a:chExt cx="6350000" cy="6350000"/>
          </a:xfrm>
        </p:grpSpPr>
        <p:sp>
          <p:nvSpPr>
            <p:cNvPr id="31" name="Freeform 3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D9D9D9">
                <a:alpha val="49804"/>
              </a:srgbClr>
            </a:solidFill>
          </p:spPr>
          <p:txBody>
            <a:bodyPr/>
            <a:lstStyle/>
            <a:p>
              <a:endParaRPr lang="en-US"/>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758</TotalTime>
  <Words>2057</Words>
  <Application>Microsoft Office PowerPoint</Application>
  <PresentationFormat>Custom</PresentationFormat>
  <Paragraphs>268</Paragraphs>
  <Slides>19</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Garet Bold</vt:lpstr>
      <vt:lpstr>Times New Roman</vt:lpstr>
      <vt:lpstr>Calibri</vt:lpstr>
      <vt:lpstr>Arial</vt:lpstr>
      <vt:lpstr>Garet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Xây dựng hệ thống phân loại cảm xúc</dc:title>
  <cp:lastModifiedBy>VŨ VĂN TỈNH</cp:lastModifiedBy>
  <cp:revision>8</cp:revision>
  <dcterms:created xsi:type="dcterms:W3CDTF">2006-08-16T00:00:00Z</dcterms:created>
  <dcterms:modified xsi:type="dcterms:W3CDTF">2025-12-26T05:30:03Z</dcterms:modified>
  <dc:identifier>DAG7tgLj7Lw</dc:identifier>
</cp:coreProperties>
</file>